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Say what LogicClass is in one line, then move straight to the school day it replaces.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short. The audience already lives this; you are showing that you know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that the parent and student portals exist from day one - this is not a back-office-only system.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answers "can the head of school see everything?" - yes, including who changed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division boundary is enforced in the database rules, not just hidden in the UI - worth saying out 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Branding is what makes the printed ID cards and the Form 137 look like the school's own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Admin is the operator role - the person who keeps the school configured week to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Registration issues a sequential student number the client cannot forge - S-2026-000001.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 follow-up list. Two families who enquired three weeks ago and were never rung back is the number a school loses its year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balance is server-owned: only a recorded payment or refund moves it, never a stray 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grade can be corrected but never silently reassigned to a different student - the rule refuses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Auto-marking is the demo moment: paste a key, watch the marks appear.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Grades arrive by hand or from a spreadsheet, and the class record shows the arithmetic. The rescaling point is the one teachers react to: every other system they have used counts a missing exam as a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guidance-record privacy asymmetry is a question a school WILL ask. Answer it before they 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not issued a login still exist as records - the school decides who gets an account.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banner is deliberate: a push notification can be missed, so the app tells them anyway.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"server decides late" point kills the obvious cheat - changing the phone clock.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one a subject teacher asks for in the first ten minutes. Pair it with the grades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 steps, one screen each. Walk it live if there 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Vouchers are the slide a Philippine private school leans forward for - nobody else models the PEAC receivable.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differentiator for smaller schools: no merchant account, no gateway fees.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concurrency point out loud: no two receipts can carry the same serial, ever.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"not even the principal" point is the one that gets a reaction. It is also what makes the channel worth having.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sheet payroll is run from - the next slide is the run itself.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refusal to ship rate tables is the credibility line. A wrong bracket looks entirely plausible on a payslip, and it is somebody short every payday.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room who currently has the LCD projector. Nobody will know, and that is the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inbox is the part competitors skip. Push alone means the school cannot prove it told anybody.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release log is the part registrars react to - it is the question they get asked years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how long last April took. The answer is usually days, and always at least one argument about who decided what.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school for their worst timetable clash story, then show it being refused.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Enrolment ignores the date range on purpose - it is a head count, not a period figure.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slide slow. It is the one that gets remembered.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blank template removes the "what columns do you want?" phone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they have an IT person in the room, this is the slide they will ask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competitors cannot answer this. Lead with it if the DPO is in the room.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app store account needed on the school side for Android - the APK is handed over directly.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test-mode database looks perfect until the day one school reads another's records. This catches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asking for their data, then hand them the laptop. Do not talk over the first thing they tap.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image" Target="../media/image-7-9.png"/><Relationship Id="rId10" Type="http://schemas.openxmlformats.org/officeDocument/2006/relationships/image" Target="../media/image-7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image" Target="../media/image-15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image" Target="../media/image-1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image" Target="../media/image-2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image" Target="../media/image-30-3.png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image" Target="../media/image-31-3.png"/><Relationship Id="rId4" Type="http://schemas.openxmlformats.org/officeDocument/2006/relationships/image" Target="../media/image-31-4.png"/><Relationship Id="rId5" Type="http://schemas.openxmlformats.org/officeDocument/2006/relationships/image" Target="../media/image-31-5.png"/><Relationship Id="rId6" Type="http://schemas.openxmlformats.org/officeDocument/2006/relationships/image" Target="../media/image-3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image" Target="../media/image-3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image" Target="../media/image-33-3.png"/><Relationship Id="rId4" Type="http://schemas.openxmlformats.org/officeDocument/2006/relationships/image" Target="../media/image-33-4.png"/><Relationship Id="rId5" Type="http://schemas.openxmlformats.org/officeDocument/2006/relationships/image" Target="../media/image-33-5.png"/><Relationship Id="rId6" Type="http://schemas.openxmlformats.org/officeDocument/2006/relationships/image" Target="../media/image-33-6.png"/><Relationship Id="rId7" Type="http://schemas.openxmlformats.org/officeDocument/2006/relationships/image" Target="../media/image-3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image" Target="../media/image-35-4.png"/><Relationship Id="rId5" Type="http://schemas.openxmlformats.org/officeDocument/2006/relationships/image" Target="../media/image-35-5.png"/><Relationship Id="rId6" Type="http://schemas.openxmlformats.org/officeDocument/2006/relationships/image" Target="../media/image-35-6.png"/><Relationship Id="rId7" Type="http://schemas.openxmlformats.org/officeDocument/2006/relationships/image" Target="../media/image-3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image" Target="../media/image-36-2.png"/><Relationship Id="rId3" Type="http://schemas.openxmlformats.org/officeDocument/2006/relationships/image" Target="../media/image-36-3.png"/><Relationship Id="rId4" Type="http://schemas.openxmlformats.org/officeDocument/2006/relationships/image" Target="../media/image-3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image" Target="../media/image-37-3.png"/><Relationship Id="rId4" Type="http://schemas.openxmlformats.org/officeDocument/2006/relationships/image" Target="../media/image-37-4.png"/><Relationship Id="rId5" Type="http://schemas.openxmlformats.org/officeDocument/2006/relationships/image" Target="../media/image-37-5.png"/><Relationship Id="rId6" Type="http://schemas.openxmlformats.org/officeDocument/2006/relationships/image" Target="../media/image-37-6.png"/><Relationship Id="rId7" Type="http://schemas.openxmlformats.org/officeDocument/2006/relationships/image" Target="../media/image-37-7.png"/><Relationship Id="rId8" Type="http://schemas.openxmlformats.org/officeDocument/2006/relationships/image" Target="../media/image-37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737360"/>
            <a:ext cx="5669280" cy="566928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332720" y="4206240"/>
            <a:ext cx="3108960" cy="3108960"/>
          </a:xfrm>
          <a:prstGeom prst="ellipse">
            <a:avLst/>
          </a:prstGeom>
          <a:solidFill>
            <a:srgbClr val="2530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87452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292608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 for the whole school day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3520440"/>
            <a:ext cx="7406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Admissions, enrolment, attendance, grades, fees, payroll, records, schedules, reports and safety - in one app your Director, Principal, Admin, Registrar, Faculty, Guidance, Staff, Students and Parents each sign in to and see only their own part of.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role portals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1546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1546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. Windows . Web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669280" y="4892040"/>
            <a:ext cx="2331720" cy="475488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A478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669280" y="4892040"/>
            <a:ext cx="2331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online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8978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150" kern="0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demo walkthrough for schools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SCHOOLS ASK FOR THIS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paperwork a school day leaves behind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below is somebody in the school building copying the same fact into a second place.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2082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in five books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record, the registrar's ledger, the cashier's receipt book, the guidance file and the adviser's notebook - each holding part of one student.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46448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84192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8492" y="22082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584192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copied twice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4584192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Called in the morning, written on a slip, then typed into a spreadsheet at the end of the week - if anyone gets to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52816" y="187452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90560" y="209397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04860" y="22082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290560" y="266090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Balances nobody agrees 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290560" y="294436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has one figure, the parent remembers another, and the only way to settle it is to find the receipts.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40080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77824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" y="45857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877824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137 takes days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877824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request comes in, somebody pulls the folder, copies the grades by hand, and nothing records that it was released.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4346448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4584192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98492" y="4585716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4584192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told last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4584192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fever, a suspension, a summons to the guidance office - the family finds out when the child gets home.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8052816" y="4251960"/>
            <a:ext cx="3496056" cy="2148840"/>
          </a:xfrm>
          <a:prstGeom prst="roundRect">
            <a:avLst>
              <a:gd name="adj" fmla="val 4255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8290560" y="44714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04860" y="4585716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8290560" y="5038344"/>
            <a:ext cx="3020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answer "who changed this?"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8290560" y="5321808"/>
            <a:ext cx="302056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grade moves, a balance is edited, a record disappears. Nothing in the school can say who, or when.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ORGANISED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portals, one school, one login each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in once and the app opens on the portal for your role. Nobody chooses a mode, and nobody sees a screen that is not theirs.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School-wide oversight, approvals, money and audit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leadership for one division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People, branding, catalogues, schedules, reports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/ Cashier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records, fees, receipts, forms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grades, attendance, materials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records and student summons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checklist, work log, material requests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Subjects, timetable, marks, balance, ID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linked child in one place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account sees one portal. No shared screen, no shared password, no "admin mode".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button on the Director's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on four live figures for today: attendance rate, collections, pending approvals and upcoming meetings.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everyone or pick the roles; pin one to the top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77520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Title, description, location, start and end; cancel a meeting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44271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inbox for every request in the school. Every decision records who made it, when, and what they were deciding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week's timetable for every section, with clash detection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4777740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readiness checks before a school goes live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40080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236" y="5445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52144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1152144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families have asked about their data, and what was answered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Enrolment, collections, attendance and grades - on screen, to Excel, or printed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26700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2775204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26151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28483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fee sets the cashier assesses against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333756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344271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328269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351586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school spending by category, or import a spreadsheet of it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list every phone in the school can dial from</a:t>
            </a:r>
            <a:endParaRPr lang="en-US" sz="1000" dirty="0"/>
          </a:p>
        </p:txBody>
      </p:sp>
      <p:sp>
        <p:nvSpPr>
          <p:cNvPr id="45" name="Shape 33"/>
          <p:cNvSpPr/>
          <p:nvPr/>
        </p:nvSpPr>
        <p:spPr>
          <a:xfrm>
            <a:off x="6323076" y="467258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28232" y="4777740"/>
            <a:ext cx="173736" cy="173736"/>
          </a:xfrm>
          <a:prstGeom prst="rect">
            <a:avLst/>
          </a:prstGeom>
        </p:spPr>
      </p:pic>
      <p:sp>
        <p:nvSpPr>
          <p:cNvPr id="47" name="Text 34"/>
          <p:cNvSpPr txBox="1"/>
          <p:nvPr/>
        </p:nvSpPr>
        <p:spPr>
          <a:xfrm>
            <a:off x="6835140" y="461772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48" name="Text 35"/>
          <p:cNvSpPr txBox="1"/>
          <p:nvPr/>
        </p:nvSpPr>
        <p:spPr>
          <a:xfrm>
            <a:off x="6835140" y="485089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made in the school, filterable by module and date</a:t>
            </a:r>
            <a:endParaRPr lang="en-US" sz="1000" dirty="0"/>
          </a:p>
        </p:txBody>
      </p:sp>
      <p:sp>
        <p:nvSpPr>
          <p:cNvPr id="49" name="Shape 36"/>
          <p:cNvSpPr/>
          <p:nvPr/>
        </p:nvSpPr>
        <p:spPr>
          <a:xfrm>
            <a:off x="6323076" y="5340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5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428232" y="5445252"/>
            <a:ext cx="173736" cy="173736"/>
          </a:xfrm>
          <a:prstGeom prst="rect">
            <a:avLst/>
          </a:prstGeom>
        </p:spPr>
      </p:pic>
      <p:sp>
        <p:nvSpPr>
          <p:cNvPr id="51" name="Text 37"/>
          <p:cNvSpPr txBox="1"/>
          <p:nvPr/>
        </p:nvSpPr>
        <p:spPr>
          <a:xfrm>
            <a:off x="6835140" y="5285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Activity</a:t>
            </a:r>
            <a:endParaRPr lang="en-US" sz="1250" dirty="0"/>
          </a:p>
        </p:txBody>
      </p:sp>
      <p:sp>
        <p:nvSpPr>
          <p:cNvPr id="52" name="Text 38"/>
          <p:cNvSpPr txBox="1"/>
          <p:nvPr/>
        </p:nvSpPr>
        <p:spPr>
          <a:xfrm>
            <a:off x="6835140" y="5518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trail, narrowed to what you did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Academic leadership, scoped to one division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Principal is set to Elementary, Junior High, Senior High or College - and the records they can open stop at that line. Oversight, not data entry: grades stay the teacher's, records stay the registrar's.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roster and any record in their division - view only.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it is actually timetabled, section by section.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which subject in which section, and who advises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alerts raised in the school, with the power to resolve one.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877824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2124" y="464058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877824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400" dirty="0"/>
          </a:p>
        </p:txBody>
      </p:sp>
      <p:sp>
        <p:nvSpPr>
          <p:cNvPr id="29" name="Text 22"/>
          <p:cNvSpPr txBox="1"/>
          <p:nvPr/>
        </p:nvSpPr>
        <p:spPr>
          <a:xfrm>
            <a:off x="877824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numbers, one tap to dial.</a:t>
            </a:r>
            <a:endParaRPr lang="en-US" sz="1100" dirty="0"/>
          </a:p>
        </p:txBody>
      </p:sp>
      <p:sp>
        <p:nvSpPr>
          <p:cNvPr id="30" name="Shape 23"/>
          <p:cNvSpPr/>
          <p:nvPr/>
        </p:nvSpPr>
        <p:spPr>
          <a:xfrm>
            <a:off x="3419856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3657600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1900" y="4640580"/>
            <a:ext cx="228600" cy="228600"/>
          </a:xfrm>
          <a:prstGeom prst="rect">
            <a:avLst/>
          </a:prstGeom>
        </p:spPr>
      </p:pic>
      <p:sp>
        <p:nvSpPr>
          <p:cNvPr id="33" name="Text 25"/>
          <p:cNvSpPr txBox="1"/>
          <p:nvPr/>
        </p:nvSpPr>
        <p:spPr>
          <a:xfrm>
            <a:off x="3657600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400" dirty="0"/>
          </a:p>
        </p:txBody>
      </p:sp>
      <p:sp>
        <p:nvSpPr>
          <p:cNvPr id="34" name="Text 26"/>
          <p:cNvSpPr txBox="1"/>
          <p:nvPr/>
        </p:nvSpPr>
        <p:spPr>
          <a:xfrm>
            <a:off x="3657600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school or division messages under their own name.</a:t>
            </a:r>
            <a:endParaRPr lang="en-US" sz="1100" dirty="0"/>
          </a:p>
        </p:txBody>
      </p:sp>
      <p:sp>
        <p:nvSpPr>
          <p:cNvPr id="35" name="Shape 27"/>
          <p:cNvSpPr/>
          <p:nvPr/>
        </p:nvSpPr>
        <p:spPr>
          <a:xfrm>
            <a:off x="6199632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Shape 28"/>
          <p:cNvSpPr/>
          <p:nvPr/>
        </p:nvSpPr>
        <p:spPr>
          <a:xfrm>
            <a:off x="6437376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3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51676" y="4640580"/>
            <a:ext cx="228600" cy="228600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6437376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Scheduler</a:t>
            </a:r>
            <a:endParaRPr lang="en-US" sz="1400" dirty="0"/>
          </a:p>
        </p:txBody>
      </p:sp>
      <p:sp>
        <p:nvSpPr>
          <p:cNvPr id="39" name="Text 30"/>
          <p:cNvSpPr txBox="1"/>
          <p:nvPr/>
        </p:nvSpPr>
        <p:spPr>
          <a:xfrm>
            <a:off x="6437376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meeting and say who it is for.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8979408" y="4306824"/>
            <a:ext cx="2569464" cy="1956816"/>
          </a:xfrm>
          <a:prstGeom prst="roundRect">
            <a:avLst>
              <a:gd name="adj" fmla="val 4673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41" name="Shape 32"/>
          <p:cNvSpPr/>
          <p:nvPr/>
        </p:nvSpPr>
        <p:spPr>
          <a:xfrm>
            <a:off x="9217152" y="4526280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4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31452" y="4640580"/>
            <a:ext cx="228600" cy="228600"/>
          </a:xfrm>
          <a:prstGeom prst="rect">
            <a:avLst/>
          </a:prstGeom>
        </p:spPr>
      </p:pic>
      <p:sp>
        <p:nvSpPr>
          <p:cNvPr id="43" name="Text 33"/>
          <p:cNvSpPr txBox="1"/>
          <p:nvPr/>
        </p:nvSpPr>
        <p:spPr>
          <a:xfrm>
            <a:off x="9217152" y="5093208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</a:t>
            </a:r>
            <a:endParaRPr lang="en-US" sz="1400" dirty="0"/>
          </a:p>
        </p:txBody>
      </p:sp>
      <p:sp>
        <p:nvSpPr>
          <p:cNvPr id="44" name="Text 34"/>
          <p:cNvSpPr txBox="1"/>
          <p:nvPr/>
        </p:nvSpPr>
        <p:spPr>
          <a:xfrm>
            <a:off x="9217152" y="5376672"/>
            <a:ext cx="209397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the requests that reach a division head - and the decision is signed with their account.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1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People, academics and the school's identity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operator role: the person who keeps the school configured week to week.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 Management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an account for any role, set department, position and division scope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6781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Reset Password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a temporary password; the employee is forced to change it at next sign-in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07365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Activate / Suspend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an account off without deleting anything it wrote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07949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employees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staff list in from Excel or CSV, or export the one you have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section, school year, and who is the class adviser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626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6781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077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Strands &amp; Programs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409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Senior High strands and the college degree programs students enrol into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9684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07365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136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Schedule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468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week: day, start, end, room - the app refuses a clash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49743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07949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194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Branding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526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Logo, printed name, address, school year, principal and director signatures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PORTAL . 2 OF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Money, safety, oversight and going live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account, on the other half of the dashboard.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162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 Schedules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fee sets per division, grade level and school year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802636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school reports, exportable and printable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589020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and pin school messages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375404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camera and mark whoever is scanned, in or out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61788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and resolve alerts raised anywhere in the school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19110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01625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8562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Numbers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0894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 the numbers every portal can dial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69748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80263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64261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87578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a family asking what is held about their child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48386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589020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4290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Trail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6621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every change by module, date and person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27024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375404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2153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Check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4485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the deployment works before the first school day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05663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161788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00176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23494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details, QR ID, activity and notification switch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REGISTRAR &amp; CASHIER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counter a family actually walks up 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tiles on the dashboard, and everything else opens from a student's own record.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and filter the roster by division, register a new student, import or export the list, load more as you scroll.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Requests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queue of families asking for access, correction, erasure or objection - each with a target answer date.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review queue: every GCash or bank transfer a family sent in, with the reference and the amount, to approve or reject.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Setup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own account name, number, QR image and the instructions families read before they send anything.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Registration issues a sequential student number - S-2026-000001 - that no app can invent or reuse.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first phone call to a student number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stages - and the screen opens on the enquiries nobody has moved in a week, longest wait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4485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Enquiry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contact, the grade level applied for, and where the family heard about the school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2049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 is in, with the documents the school asked for listed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650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scheduled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date is set, and the family is told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taken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score is recorded - and without a score the stage will not move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1396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2448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848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Offered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3180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place is offered, with the date the offer lapses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30998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2049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3044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Reserved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278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reservation fee is paid, and it follows the child as a credit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599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6509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40050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2382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transaction creates the student record and issues the number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005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2521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651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funnel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1983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many reached each stage, and where in the year the school is losing families</a:t>
            </a:r>
            <a:endParaRPr lang="en-US" sz="1000" dirty="0"/>
          </a:p>
        </p:txBody>
      </p:sp>
      <p:sp>
        <p:nvSpPr>
          <p:cNvPr id="37" name="Text 27"/>
          <p:cNvSpPr txBox="1"/>
          <p:nvPr/>
        </p:nvSpPr>
        <p:spPr>
          <a:xfrm>
            <a:off x="640080" y="58978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stage cannot be wished forward: no score, no "exam taken"; no payment, no "reserved".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ONE STUDENT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Nine actions, one screen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 student from the roster and everything the school does for that child is one tap away.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4277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grade level, section, status and guardian contacts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6164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the picture that prints on the school ID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8051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 Fees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fee schedule, or type an ad-hoc charge; void one that was wrong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98264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3420" y="2427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910328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Payment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910328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Cash, GCash or bank transfer, with a sequential receipt number and the balance in front of you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4398264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3420" y="361645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4910328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History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4910328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charge, payment and refund, and how the balance is made up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4398264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3420" y="48051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4910328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&amp; Forms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4910328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the Transcript of Records or Form 137, and log the release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8156448" y="232257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61604" y="2427732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8668512" y="226771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History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8668512" y="250088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scan, in and out, with the status the server decided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8156448" y="351129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61604" y="3616452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8668512" y="345643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Portal Account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8668512" y="368960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the student their own login - only when the school wants one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8156448" y="47000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61604" y="4805172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8668512" y="4645152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Balance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8668512" y="4878324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opening balance for a student carried over from the old system</a:t>
            </a:r>
            <a:endParaRPr lang="en-US" sz="1000" dirty="0"/>
          </a:p>
        </p:txBody>
      </p:sp>
      <p:sp>
        <p:nvSpPr>
          <p:cNvPr id="41" name="Text 30"/>
          <p:cNvSpPr txBox="1"/>
          <p:nvPr/>
        </p:nvSpPr>
        <p:spPr>
          <a:xfrm>
            <a:off x="640080" y="59436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balance moves only inside a recorded payment or refund - never by an edit.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 teacher opens between classes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tiles, and none of them ask a teacher to be an administrator first.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0619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week - what you teach, when, where, to whom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8610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plans, lessons, assignments, projects, exams and quizzes in one list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11022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Submission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subject and section, load the roster, enter scores against a maximum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513435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a term's marks in from a spreadsheet instead of typing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19568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0619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19019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1351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what you need; it lands in the same approvals inbox the Director reads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80944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86100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2608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Attendance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5925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your class present by scanning their IDs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400507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4110228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95020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18338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or read an alert without leaving the room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5029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5134356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4974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5207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to your own sections under your own name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COURSEWORK, ANSWER KEYS AND SUBMISSIONS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work, mark it, and let it mark itself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kinds of coursework share one screen: Lesson Plan, Lesson, Assignment, Project, Exam and Quiz.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work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Type, title, description, subject, section, due date and total points. Leave "Publish now" off and it saves as a draft only staff can see.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key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correct answers one per line and set the marks per question. Save the key and everything already handed in is re-marked against it.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handed in, who is outstanding, who was late. Open one, give it a score and written feedback, or let the key score it.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side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answers question by question, sees the mark and the teacher's feedback, and can change their answer while it is still open.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draft stays invisible to students until the teacher publishes it.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Weighted the DepEd way, and printed as a Form 138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Written work, performance tasks and quarterly assessment - weighted per subject group by the school's own table.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weights are the school's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with the DepEd Order 8 s.2015 groupings as a starting point, then edited and confirmed by a named person at the school.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missing component is not a zero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week two of a quarter no exam has been given. The grade is rescaled out of the weight that exists and names what is still missing, rather than capping every child at 80.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report card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138 on the school's own letterhead: every subject, every quarter, the final grade, the descriptor and the remarks.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prints unconfirmed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Until somebody at the school has checked the weights against the order current for them, the report card refuses to print - and editing them revokes the confirmation.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AND STAFF PORTALS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smaller roles, deliberately kept apart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these records is the most closely held in the system. The other is a work log nobody, including its author, can edit.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Records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Counselling notes against one student, by category. The guidance office, the Director and the division Principal - and nobody else, not even the class adviser.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Summons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a student to the office with a reason and a time. Visible to the student and the linked parent too: a family should not learn about it afterwards.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Checklist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personal task list for today. Add a task, edit it, tick it off. It resets with the date rather than piling up week on week.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48840"/>
            <a:ext cx="2569464" cy="2423160"/>
          </a:xfrm>
          <a:prstGeom prst="roundRect">
            <a:avLst>
              <a:gd name="adj" fmla="val 3774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48259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3522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18688"/>
            <a:ext cx="209397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 end-of-day work log. Written once and never editable - a correction is a new entry, so the record stays trustworthy.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Requests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file into the same approvals inbox faculty use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sees every alert raised in the school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e-ID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carry their own scannable ID for timekeeping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things a student can check on their phone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can issue logins to every student, to some, or to none - a student record does not need an account to exist.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076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subject, its teacher, and what has been posted in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2903220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Timetable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week, day by day, with room and teacher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698748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Assignments &amp; Exams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feed of published work, filterable by kind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494276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per subject and term, as the teacher submitted them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289804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152144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1152144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own record, every scan, in and 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00253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210769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194767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&amp; Balance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218084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was paid, what is left - and how it adds up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2798064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2903220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2743200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Promissory Note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2976372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an extension with an amount and a reason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323076" y="3593592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4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28232" y="3698748"/>
            <a:ext cx="173736" cy="173736"/>
          </a:xfrm>
          <a:prstGeom prst="rect">
            <a:avLst/>
          </a:prstGeom>
        </p:spPr>
      </p:pic>
      <p:sp>
        <p:nvSpPr>
          <p:cNvPr id="35" name="Text 25"/>
          <p:cNvSpPr txBox="1"/>
          <p:nvPr/>
        </p:nvSpPr>
        <p:spPr>
          <a:xfrm>
            <a:off x="6835140" y="353872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</a:t>
            </a:r>
            <a:endParaRPr lang="en-US" sz="1250" dirty="0"/>
          </a:p>
        </p:txBody>
      </p:sp>
      <p:sp>
        <p:nvSpPr>
          <p:cNvPr id="36" name="Text 26"/>
          <p:cNvSpPr txBox="1"/>
          <p:nvPr/>
        </p:nvSpPr>
        <p:spPr>
          <a:xfrm>
            <a:off x="6835140" y="377190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button that alerts the adviser and the parents</a:t>
            </a:r>
            <a:endParaRPr lang="en-US" sz="1000" dirty="0"/>
          </a:p>
        </p:txBody>
      </p:sp>
      <p:sp>
        <p:nvSpPr>
          <p:cNvPr id="37" name="Shape 27"/>
          <p:cNvSpPr/>
          <p:nvPr/>
        </p:nvSpPr>
        <p:spPr>
          <a:xfrm>
            <a:off x="6323076" y="4389120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38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28232" y="4494276"/>
            <a:ext cx="173736" cy="173736"/>
          </a:xfrm>
          <a:prstGeom prst="rect">
            <a:avLst/>
          </a:prstGeom>
        </p:spPr>
      </p:pic>
      <p:sp>
        <p:nvSpPr>
          <p:cNvPr id="39" name="Text 28"/>
          <p:cNvSpPr txBox="1"/>
          <p:nvPr/>
        </p:nvSpPr>
        <p:spPr>
          <a:xfrm>
            <a:off x="6835140" y="433425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40" name="Text 29"/>
          <p:cNvSpPr txBox="1"/>
          <p:nvPr/>
        </p:nvSpPr>
        <p:spPr>
          <a:xfrm>
            <a:off x="6835140" y="456742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addressed to students</a:t>
            </a:r>
            <a:endParaRPr lang="en-US" sz="1000" dirty="0"/>
          </a:p>
        </p:txBody>
      </p:sp>
      <p:sp>
        <p:nvSpPr>
          <p:cNvPr id="41" name="Shape 30"/>
          <p:cNvSpPr/>
          <p:nvPr/>
        </p:nvSpPr>
        <p:spPr>
          <a:xfrm>
            <a:off x="6323076" y="5184648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42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28232" y="5289804"/>
            <a:ext cx="173736" cy="173736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6835140" y="512978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QR ID</a:t>
            </a:r>
            <a:endParaRPr lang="en-US" sz="1250" dirty="0"/>
          </a:p>
        </p:txBody>
      </p:sp>
      <p:sp>
        <p:nvSpPr>
          <p:cNvPr id="44" name="Text 32"/>
          <p:cNvSpPr txBox="1"/>
          <p:nvPr/>
        </p:nvSpPr>
        <p:spPr>
          <a:xfrm>
            <a:off x="6835140" y="536295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ID card, on the phone and printable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child in one place, without a second app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 can be linked to several children. The dashboard is the list of them; opening one gives four tabs.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their child was scanned in, and whether it was on time.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Timetable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child is meant to be, hour by hour.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as the teacher submitted them, per subject and term.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194560"/>
          </a:xfrm>
          <a:prstGeom prst="roundRect">
            <a:avLst>
              <a:gd name="adj" fmla="val 4167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 of Account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Charges, payments and the balance - read only. Refunds stay with the school.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2521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Emergency Alerts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unresolved alert about their child is shown as a banner, not hidden behind an icon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4383024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8180" y="512521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4895088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Announcements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4895088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the school addressed to parents, pushed to the phone</a:t>
            </a:r>
            <a:endParaRPr lang="en-US" sz="1000" dirty="0"/>
          </a:p>
        </p:txBody>
      </p:sp>
      <p:sp>
        <p:nvSpPr>
          <p:cNvPr id="33" name="Shape 25"/>
          <p:cNvSpPr/>
          <p:nvPr/>
        </p:nvSpPr>
        <p:spPr>
          <a:xfrm>
            <a:off x="8125968" y="50200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31124" y="5125212"/>
            <a:ext cx="173736" cy="173736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8638032" y="496519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 online</a:t>
            </a:r>
            <a:endParaRPr lang="en-US" sz="1250" dirty="0"/>
          </a:p>
        </p:txBody>
      </p:sp>
      <p:sp>
        <p:nvSpPr>
          <p:cNvPr id="36" name="Text 27"/>
          <p:cNvSpPr txBox="1"/>
          <p:nvPr/>
        </p:nvSpPr>
        <p:spPr>
          <a:xfrm>
            <a:off x="8638032" y="519836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the fee by GCash or bank transfer and submit the reference for review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camera, a QR code, and no slips of paper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person in the school carries a QR ID. Staff roles carry a scanner. The scan itself decides the rest.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 card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card layout with the school logo behind it, the student's photo, and the principal and director signatures from Branding. Print it, or keep it on the phone.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Scan Attendance, point at the code, and the record is written. Scan again later and it is a time-out, not a duplicate.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or late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the server against the school's cutoff time and the school's timezone - not by the clock on the phone doing the scanning.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see 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student, their linked parent, and the staff roles allowed to. Attendance cannot be written from a client at all, only by the scan.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PER SUBJECT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register the teacher takes, not just the gate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 scan says they came to school. It cannot say they were in Physics - which is the question behind a grade that dropped.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presses it at the start of the class. The whole section appears, marked present - so a register taken in a hurry still records the truth about everyone who was there.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the exceptions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late, absent, excused - one tap each. Three absences is three taps, not forty. Corrections allowed on the day, not after.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out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the class, and records the finish time against everyone who was in it. Absent students get no time out, because they had no time in.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family sees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subject with its own attendance rate, worst first - because the reason anybody opens this screen is to find the one that is going wrong.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FEES AND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the fee schedule to a receipt in a parent's hand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steps, and the family can follow every one of them from their own account.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the fee schedule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set of fees for a division, grade level and school year - tuition, miscellaneous, books, whatever the school charges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Assess the student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 a schedule against one student, or type an ad-hoc charge line by line. The total is shown before anything is committed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Take the payment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the number on the ID card and the student's name, class and balance appear. Nothing sends until the ID names somebody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Refund if needed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refund is its own row against the original payment. Director and Admin only, enforced on the server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Show the family the arithmetic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Charged, paid, and what is left - with the assessments listed, so a balance is never a number nobody can explain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Void a mistake, do not delete it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wrong assessment is voided and stays visible. The history of a family's account is never quietly rewritten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Instalments, discounts, vouchers and the exam permit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four things a private school here does to a bill - and not one of them is a remark typed into a notes field.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Instalments with due dates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schedule can be split - upon enrolment, then monthly - with a due date on every part. What is overdue becomes a date rather than an opinion.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discount is a record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Sibling, early bird, staff child, scholarship: who granted it, on what authority, and against which charge. It can be revoked, and the revocation is a record too.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 and SHS vouchers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subsidy is carried as a receivable from PEAC, not as a discount the school gave away. The family sees the net; the school still sees who owes the rest.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exam permit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Cleared or not cleared, read from the ledger - so nobody is deciding at a desk on exam morning whether this family is up to date.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school that writes a voucher off as a discount cannot say what PEAC still owes it. This one can.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PAYMENTS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GCash and bank transfers, reviewed before they count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gateway to sign up for and no percentage taken. The school publishes its own account, and a person approves what comes in.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 sets it up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name, number, a QR image families can scan, and the instructions they read first.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family sends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pay by their own app, then submit the reference number, the amount and what it was for.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reviews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queue of everything awaiting review. Approve and it becomes a real payment with a receipt; reject and the family is told.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cashier is told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submission raises an alert wherever the cashier is in the app - not only on the review screen.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merchant account to open, no gateway percentage, and no payment counted until a person says so.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RECEIPTS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BIR serials, issued once and reconciled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booklet is registered with its Authority to Print number and its range. The app hands out serials from it, one at a time.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Register the booklet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ATP number, the serial range it covers, and the date it was received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84505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serial, once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Claimed on the server inside a transaction. Two cashiers pressing at the same moment cannot be handed the same number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an OR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Payer, amount, what it was for, and the serial - on the school's own letterhead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373989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384505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368503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Reconciled, gaps and all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391820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serials were issued, which were cancelled, and which are simply missing - the question an audit opens with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40080" y="50292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932688" y="523494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49240"/>
            <a:ext cx="228600" cy="228600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600200" y="502920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serial is not a number the app displays. It is a number the server gives out once and can never give out again.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AND TEACHER, TALKING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thread per child, and nobody else in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can message the teachers who teach their child. Not the whole staff list - the teachers who actually teach them.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reach whom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out from the timetable, the section and the family link, every time a thread is opened. Nobody maintains a list, and nobody can message outside it.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read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of them. Not the Principal, not an administrator. A parent who believes the office is reading tells the teacher nothing worth reading.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thread per child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with two children taught by the same teacher gets two threads, so nobody has to say which child they mean.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said stays said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 cannot be edited or unsent, and the sender is stamped by the server - nobody can post in the other person's name.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TIME AND LEAVE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month a payroll clerk reads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scanner that marks students marks employees. This is where those scans become a month.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employee files leave from their own screen. Working days are counted for them, weekends excluded, and the count is kept.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queue for the office, with the decided ones beneath it. Who decided, in what role, when, and why - and the employee is told.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timesheet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 named as exactly one thing: worked, late, on leave, rest day, or absent. Approved leave is what turns a blank day from an absence into an authorised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is guessed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day with a time in and no time out contributes no hours, and the sheet says how many such days there are. No invented hours reach a payslip.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PAYROLL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Salaries computed from the timesheet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Monthly, daily or hourly - whichever the contract says. Absences are costed at the period's own day rate, not a fixed twenty-two.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in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pay and allowances from the employee's compensation record; days worked, late and absent from the month already on the timesheet.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comes out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SSS, PhilHealth, Pag-IBIG and withholding tax - contributions first, then tax on what is left. Net pay never falls below zero.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Server-computed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rates, the tables, the scans and the approved leave are all read server-side. No figure on a payslip comes from the device that pressed Issue.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514600"/>
          </a:xfrm>
          <a:prstGeom prst="roundRect">
            <a:avLst>
              <a:gd name="adj" fmla="val 3636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payslip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A5, two to a sheet, your logo behind it, and the basis of every line on it - so an employee can check their own pay without asking anybody.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4983480"/>
            <a:ext cx="10908792" cy="1051560"/>
          </a:xfrm>
          <a:prstGeom prst="roundRect">
            <a:avLst>
              <a:gd name="adj" fmla="val 869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932688" y="528066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6988" y="5394960"/>
            <a:ext cx="228600" cy="228600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1600200" y="4983480"/>
            <a:ext cx="9582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ship no contribution tables. Your school types them from the circular in front of it, records which circular that was, and confirms - and no payslip prints until somebody has.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STOCK ROOM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school owns, and who is holding it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a row - received, issued, returned, consumed, written off - and the quantity is what those rows add up to.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29057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item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category, unit, reorder level, and where in the school it is kept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delivery, with the supplier and the document number against it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57657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person, for a reason - the projector has a name against it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185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29057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2130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363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 on the shelf, and the person who had it is clear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stock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has fallen to its reorder level, before somebody needs it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471416"/>
            <a:ext cx="384048" cy="384048"/>
          </a:xfrm>
          <a:prstGeom prst="ellipse">
            <a:avLst/>
          </a:prstGeom>
          <a:solidFill>
            <a:srgbClr val="2E3A70"/>
          </a:solidFill>
          <a:ln w="12700">
            <a:solidFill>
              <a:srgbClr val="2E3A70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57657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416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Outstanding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649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out of the room right now, and who is holding each of it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quantity is never typed in - it is the movements, added up.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FINDS OUT TOO LATE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push, and a record of it that is still there tomorrow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push notification is gone the moment it is swiped away. Everything the school sends is also written to the person's own inbox.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5341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Reaches every account it is addressed to - and only those. Whose phone rings is decided on the server, not by a filter on a list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43357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guidance summons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 and every linked parent are told, and told again if the office calls it off. A family should not rearrange a day around an appointment that is not happening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471373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emergency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adviser and the student's parents, at high priority, with the app closed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323076" y="204825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8232" y="215341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6835140" y="199339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leave decision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6835140" y="222656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employee who filed it. Somebody who never hears back either comes in when they should not have, or stays away when they were expected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332841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343357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327355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message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350672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person in the conversation, named by the child it is about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4608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4713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45537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all of it, in one inbox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47868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Reached from the bell in every portal. A phone that was off, or a browser that never granted permission, misses nothing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AND FORMS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Transcript and Form 137, printed and logged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documents a school is asked for most, generated from the records already in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Transcript of Records or Form 137, laid out on the school's own letterhead with its logo, address, school year and the principal and director signatures.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why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Purpose, who it was released to, their relationship to the student, and any remarks - captured at the moment of release, not remembered later.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history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release is listed with its date and copy count. When the receiving school writes back asking when Form 137 was sent, the answer is on the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971800"/>
          </a:xfrm>
          <a:prstGeom prst="roundRect">
            <a:avLst>
              <a:gd name="adj" fmla="val 3559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again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reprint is recorded as a reprint. The count of copies in circulation stays honest.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4068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is copied out by hand, so nothing is copied out wrong.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Promoted, retained or graduated - decided once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every April that a school currently does by hand, on a printed list, in a room.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6547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per student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Promoted, retained, graduated or transferred out, taken against the final grades already held - with a reason recorded where the school needs one.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6547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is decided by default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the school has not decided on is held, and held students are left out of the run entirely. Silence never quietly becomes a promotion.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6547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level is not guessed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comes from the school's own roster of grade levels. Where there is no next level, the app says so instead of inventing one.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331720"/>
            <a:ext cx="2569464" cy="278892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5117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6547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11810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twice, safely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401568"/>
            <a:ext cx="2093976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already rolled over is skipped rather than moved again, and the run reports how many were applied and how many were already done.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53212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promotion record is written once and never edited - a correction is a new record.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SCHEDULE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room, one teacher, one section, one slot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week block by block: subject, section, teacher, room, day, start and end.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Clashes are refused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classes in the same room, the same teacher in two places, or one section double-booked - the app names the conflict and will not save it. Checked again on the server before it is written.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way people type them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7:30 AM, 7:30am, 07:30, 0730 - all understood. Nobody should have to learn a time format to build a timetable.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Printed as a grid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as a wall chart, with the section or the teacher dropped from the cells when it is the same all the way down.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Everyone sees their 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gets their week, the student gets theirs, the parent gets their child's - all from the same blocks.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numbers a school is actually asked for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period - this school year, this month, the last 30 days - and read it on screen, export it to Excel, or print it.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7403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Enrolment by division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count by division and grade level, every status shown - not just the enrolled ones.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7403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and receivables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was charged, what came in, and what is still owed.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7403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rate by section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Present, late and absent by section, with the rate. Excused days sit outside the rate.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40280"/>
            <a:ext cx="2569464" cy="2331720"/>
          </a:xfrm>
          <a:prstGeom prst="roundRect">
            <a:avLst>
              <a:gd name="adj" fmla="val 3922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5973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7403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2666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distribution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10128"/>
            <a:ext cx="209397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Marks banded against the DepEd descriptors, per subject.</a:t>
            </a:r>
            <a:endParaRPr lang="en-US" sz="1100" dirty="0"/>
          </a:p>
        </p:txBody>
      </p:sp>
      <p:sp>
        <p:nvSpPr>
          <p:cNvPr id="25" name="Shape 19"/>
          <p:cNvSpPr/>
          <p:nvPr/>
        </p:nvSpPr>
        <p:spPr>
          <a:xfrm>
            <a:off x="640080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5170932"/>
            <a:ext cx="173736" cy="173736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1152144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to Excel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1152144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table, as a spreadsheet you can rework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323076" y="50657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5170932"/>
            <a:ext cx="173736" cy="17373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6835140" y="50109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</a:t>
            </a:r>
            <a:endParaRPr lang="en-US" sz="1250" dirty="0"/>
          </a:p>
        </p:txBody>
      </p:sp>
      <p:sp>
        <p:nvSpPr>
          <p:cNvPr id="32" name="Text 24"/>
          <p:cNvSpPr txBox="1"/>
          <p:nvPr/>
        </p:nvSpPr>
        <p:spPr>
          <a:xfrm>
            <a:off x="6835140" y="52440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PDF with the school's heading and the totals row shaded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SOMETHING GOES WRONG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button, and the right people know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Raised from a student's phone, seen by the staff who can act, and told to the family the same minute.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52831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it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student presses one button and says what happened. Their adviser and their parents are notified.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52831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Faculty, Guidance, Principal, Admin and the Director see live alerts, and any of them can resolve one.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528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family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gets a push, and a banner on their dashboard in case the push never arrived.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194560"/>
            <a:ext cx="2569464" cy="274320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41401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528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298094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Dial out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264408"/>
            <a:ext cx="209397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published numbers - clinic, guard, barangay, hospital - one tap from any portal.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34924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alert is logged with who raised it, when, and who resolved it.</a:t>
            </a:r>
            <a:endParaRPr lang="en-US" sz="1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IN FROM WHAT YOU HAVE NOW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Excel in, Excel out - on five different lists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school changing systems has years of data in spreadsheets. It does not get retyped.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roster, with divisions, sections and guardians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with department, position and division scope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term's marks, per subject and section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Expenses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school's spending, by category and date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 assignments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teaches what, to whom, this year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template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the exact .xlsx shape the import expects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import shows you what it read before it writes anything, and every export comes back as .xlsx or .csv.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hidden in the app - refused by the database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below is enforced where the data lives, so it holds even if somebody bypasses the app entirely.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48259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school cannot see another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record lives under its own school, and an account carries the school it belongs to. There is no query that crosses the line.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99632" y="214884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37376" y="236829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1676" y="248259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437376" y="293522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hold too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6437376" y="321868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Junior High teacher scoped to their division cannot open a Senior High record - the read is denied, not filtered.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40080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7824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2124" y="481431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77824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Sensitive fields are server-owned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877824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 moves only inside a recorded payment. A role, a status or a student number cannot be changed by an app at all.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6199632" y="448056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6FD"/>
          </a:solidFill>
          <a:ln w="9525">
            <a:solidFill>
              <a:srgbClr val="DCE4F5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437376" y="4700016"/>
            <a:ext cx="475488" cy="475488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1676" y="481431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6437376" y="5266944"/>
            <a:ext cx="4873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is written down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6437376" y="5550408"/>
            <a:ext cx="4873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create, edit and delete lands in the audit trail with who did it and when, automatically. A decision on a request is signed with the account that made it, so an approval cannot be attributed to somebody else.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PRIVACY ACT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hand your Data Protection Officer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Schools hold minors' records. The questions a DPO asks are answered inside the app, not in a promise.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33629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privacy notice in the app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categories of data, what is held, why, and who sees it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570732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recorded acknowledgement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account reads it before their first use, and the version they read is stored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4383024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8180" y="2336292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895088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requests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4895088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family can ask what is held about their child, from their own profile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3024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8180" y="3570732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4895088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Correction and objection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4895088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other rights the Act names, filed the same way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8125968" y="223113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31124" y="233629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638032" y="217627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retention schedule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8638032" y="240944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each kind of record is kept, written down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8125968" y="34655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31124" y="3570732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8638032" y="3410712"/>
            <a:ext cx="2910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clock on every request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8638032" y="3643884"/>
            <a:ext cx="2910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carries a target answer date and shows when it is overdue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40080" y="498348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32688" y="518922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6988" y="5303520"/>
            <a:ext cx="228600" cy="228600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1600200" y="4983480"/>
            <a:ext cx="95829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 Processing Agreement template ships with the system, ready for your DPO to review.</a:t>
            </a:r>
            <a:endParaRPr lang="en-US" sz="15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RUNS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app, on whatever the school already has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codebase, three builds. No separate teacher app, no separate parent app.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824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2124" y="2619756"/>
            <a:ext cx="228600" cy="228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77824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77824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from an APK the school hands out itself. Camera scanning and push notifications, on the phones staff already carry.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419856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57600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900" y="2619756"/>
            <a:ext cx="228600" cy="22860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3657600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3657600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desktop build for the registrar's and cashier's counter, where the printing and the typing happen.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6199632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37376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2619756"/>
            <a:ext cx="228600" cy="22860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6437376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</a:t>
            </a:r>
            <a:endParaRPr lang="en-US" sz="1400" dirty="0"/>
          </a:p>
        </p:txBody>
      </p:sp>
      <p:sp>
        <p:nvSpPr>
          <p:cNvPr id="19" name="Text 14"/>
          <p:cNvSpPr txBox="1"/>
          <p:nvPr/>
        </p:nvSpPr>
        <p:spPr>
          <a:xfrm>
            <a:off x="6437376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browser, and installable to the home screen as a PWA - including iPhone, once added to the Home Screen.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8979408" y="2286000"/>
            <a:ext cx="2569464" cy="2880360"/>
          </a:xfrm>
          <a:prstGeom prst="roundRect">
            <a:avLst>
              <a:gd name="adj" fmla="val 3559"/>
            </a:avLst>
          </a:prstGeom>
          <a:solidFill>
            <a:srgbClr val="1E2761"/>
          </a:solidFill>
          <a:ln w="9525">
            <a:solidFill>
              <a:srgbClr val="3A4783"/>
            </a:solidFill>
            <a:prstDash val="solid"/>
          </a:ln>
          <a:effectLst>
            <a:outerShdw sx="100000" sy="100000" kx="0" ky="0" algn="bl" rotWithShape="0" blurRad="1270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9217152" y="2505456"/>
            <a:ext cx="475488" cy="475488"/>
          </a:xfrm>
          <a:prstGeom prst="ellipse">
            <a:avLst/>
          </a:prstGeom>
          <a:solidFill>
            <a:srgbClr val="E8A33D"/>
          </a:solidFill>
          <a:ln w="12700">
            <a:solidFill>
              <a:srgbClr val="E8A3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1452" y="2619756"/>
            <a:ext cx="228600" cy="228600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217152" y="3072384"/>
            <a:ext cx="2093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9217152" y="3355848"/>
            <a:ext cx="2093976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9EA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announcement reaches the phones of the roles it was addressed to, even with the app closed.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640080" y="548640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codebase means a fix reaches the registrar's desktop and the parent's phone together.</a:t>
            </a:r>
            <a:endParaRPr lang="en-US" sz="1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38912"/>
            <a:ext cx="109087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40" kern="0" dirty="0">
                <a:solidFill>
                  <a:srgbClr val="E8A3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LIVE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94944"/>
            <a:ext cx="109087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Seven checks that go green before the first school day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371600"/>
            <a:ext cx="894520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because the worst time to find a misconfiguration is on the morning a school starts using the system.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640080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" y="2199132"/>
            <a:ext cx="173736" cy="17373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152144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reachable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1152144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read from the school's own records returns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40080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" y="3095244"/>
            <a:ext cx="173736" cy="173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152144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rules deployed</a:t>
            </a:r>
            <a:endParaRPr lang="en-US" sz="1250" dirty="0"/>
          </a:p>
        </p:txBody>
      </p:sp>
      <p:sp>
        <p:nvSpPr>
          <p:cNvPr id="12" name="Text 8"/>
          <p:cNvSpPr txBox="1"/>
          <p:nvPr/>
        </p:nvSpPr>
        <p:spPr>
          <a:xfrm>
            <a:off x="1152144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write the rules must refuse IS refused - the check that matters most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5236" y="3991356"/>
            <a:ext cx="173736" cy="17373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1152144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functions deployed</a:t>
            </a:r>
            <a:endParaRPr lang="en-US" sz="1250" dirty="0"/>
          </a:p>
        </p:txBody>
      </p:sp>
      <p:sp>
        <p:nvSpPr>
          <p:cNvPr id="16" name="Text 11"/>
          <p:cNvSpPr txBox="1"/>
          <p:nvPr/>
        </p:nvSpPr>
        <p:spPr>
          <a:xfrm>
            <a:off x="1152144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callable answers, in the right region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640080" y="4782312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236" y="4887468"/>
            <a:ext cx="173736" cy="17373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52144" y="4727448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indexes created</a:t>
            </a:r>
            <a:endParaRPr lang="en-US" sz="1250" dirty="0"/>
          </a:p>
        </p:txBody>
      </p:sp>
      <p:sp>
        <p:nvSpPr>
          <p:cNvPr id="20" name="Text 14"/>
          <p:cNvSpPr txBox="1"/>
          <p:nvPr/>
        </p:nvSpPr>
        <p:spPr>
          <a:xfrm>
            <a:off x="1152144" y="4960620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queries the app depends on actually run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6323076" y="2093976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8232" y="2199132"/>
            <a:ext cx="173736" cy="17373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835140" y="2039112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storage writable</a:t>
            </a:r>
            <a:endParaRPr lang="en-US" sz="1250" dirty="0"/>
          </a:p>
        </p:txBody>
      </p:sp>
      <p:sp>
        <p:nvSpPr>
          <p:cNvPr id="24" name="Text 17"/>
          <p:cNvSpPr txBox="1"/>
          <p:nvPr/>
        </p:nvSpPr>
        <p:spPr>
          <a:xfrm>
            <a:off x="6835140" y="2272284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probe file is written and removed again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323076" y="2990088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8232" y="3095244"/>
            <a:ext cx="173736" cy="17373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6835140" y="2935224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claims set</a:t>
            </a:r>
            <a:endParaRPr lang="en-US" sz="1250" dirty="0"/>
          </a:p>
        </p:txBody>
      </p:sp>
      <p:sp>
        <p:nvSpPr>
          <p:cNvPr id="28" name="Text 20"/>
          <p:cNvSpPr txBox="1"/>
          <p:nvPr/>
        </p:nvSpPr>
        <p:spPr>
          <a:xfrm>
            <a:off x="6835140" y="3168396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signed-in account carries its role and its school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6323076" y="3886200"/>
            <a:ext cx="384048" cy="384048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pic>
        <p:nvPicPr>
          <p:cNvPr id="30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8232" y="3991356"/>
            <a:ext cx="173736" cy="173736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6835140" y="3831336"/>
            <a:ext cx="47137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details filled in</a:t>
            </a:r>
            <a:endParaRPr lang="en-US" sz="1250" dirty="0"/>
          </a:p>
        </p:txBody>
      </p:sp>
      <p:sp>
        <p:nvSpPr>
          <p:cNvPr id="32" name="Text 23"/>
          <p:cNvSpPr txBox="1"/>
          <p:nvPr/>
        </p:nvSpPr>
        <p:spPr>
          <a:xfrm>
            <a:off x="6835140" y="4064508"/>
            <a:ext cx="47137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556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logo, year, principal and DPO - a warning, not a failure</a:t>
            </a:r>
            <a:endParaRPr lang="en-US" sz="1000" dirty="0"/>
          </a:p>
        </p:txBody>
      </p:sp>
      <p:sp>
        <p:nvSpPr>
          <p:cNvPr id="33" name="Shape 24"/>
          <p:cNvSpPr/>
          <p:nvPr/>
        </p:nvSpPr>
        <p:spPr>
          <a:xfrm>
            <a:off x="640080" y="562356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4" name="Shape 25"/>
          <p:cNvSpPr/>
          <p:nvPr/>
        </p:nvSpPr>
        <p:spPr>
          <a:xfrm>
            <a:off x="932688" y="5783580"/>
            <a:ext cx="457200" cy="457200"/>
          </a:xfrm>
          <a:prstGeom prst="ellipse">
            <a:avLst/>
          </a:prstGeom>
          <a:solidFill>
            <a:srgbClr val="E8A33D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46988" y="5897880"/>
            <a:ext cx="228600" cy="228600"/>
          </a:xfrm>
          <a:prstGeom prst="rect">
            <a:avLst/>
          </a:prstGeom>
        </p:spPr>
      </p:pic>
      <p:sp>
        <p:nvSpPr>
          <p:cNvPr id="36" name="Text 26"/>
          <p:cNvSpPr txBox="1"/>
          <p:nvPr/>
        </p:nvSpPr>
        <p:spPr>
          <a:xfrm>
            <a:off x="1600200" y="5623560"/>
            <a:ext cx="958291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database left in test mode behaves perfectly - right up to the day one school reads another's records. This is the check that catches it.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1B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3108960"/>
            <a:ext cx="6035040" cy="603504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4572000" y="196596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with your own school's data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0" y="3429000"/>
            <a:ext cx="6766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Bring one section's roster, one term of grades and last month's collections. We load them in front of you, and you click through the portals your own staff would use.</a:t>
            </a:r>
            <a:endParaRPr lang="en-US" sz="145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4617720"/>
            <a:ext cx="6766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try it before you believe any of it: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0" y="4937760"/>
            <a:ext cx="6766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A3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logicclass.vercel.app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5440680"/>
            <a:ext cx="6766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89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accounts, one per role. Nothing to install, and nothing you type into it is kept.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LogicClass - School Management System</dc:title>
  <dc:subject>PptxGenJS Presentation</dc:subject>
  <dc:creator>LogicClass</dc:creator>
  <cp:lastModifiedBy>LogicClass</cp:lastModifiedBy>
  <cp:revision>1</cp:revision>
  <dcterms:created xsi:type="dcterms:W3CDTF">2026-09-07T04:49:45Z</dcterms:created>
  <dcterms:modified xsi:type="dcterms:W3CDTF">2026-09-07T04:49:45Z</dcterms:modified>
</cp:coreProperties>
</file>