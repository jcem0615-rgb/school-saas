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</p:sldIdLst>
  <p:notesMasterIdLst>
    <p:notesMasterId r:id="rId29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notesMaster" Target="notesMasters/notesMaster1.xml"/><Relationship Id="rId30" Type="http://schemas.openxmlformats.org/officeDocument/2006/relationships/presProps" Target="presProps.xml"/><Relationship Id="rId31" Type="http://schemas.openxmlformats.org/officeDocument/2006/relationships/viewProps" Target="viewProps.xml"/><Relationship Id="rId32" Type="http://schemas.openxmlformats.org/officeDocument/2006/relationships/theme" Target="theme/theme1.xml"/><Relationship Id="rId33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Open here. Say what LogicClass is in one line, then move straight to the school day it replaces.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Keep this short. The audience already lives this; you are showing that you know it.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Point out that the parent and student portals exist from day one - this is not a back-office-only system.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This is the slide that answers "can the head of school see everything?" - yes, including who changed what.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division boundary is enforced in the database rules, not just hidden in the UI - worth saying out loud.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Branding is what makes the printed ID cards and the Form 137 look like the school's own paper.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Admin is the operator role - the person who keeps the school configured week to week.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Registration issues a sequential student number the client cannot forge - S-2026-000001.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balance is server-owned: only a recorded payment or refund moves it, never a stray edit.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 grade can be corrected but never silently reassigned to a different student - the rule refuses it.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Auto-marking is the demo moment: paste a key, watch the marks appear.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guidance-record privacy asymmetry is a question a school WILL ask. Answer it before they do.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Students not issued a login still exist as records - the school decides who gets an account.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banner is deliberate: a push notification can be missed, so the app tells them anyway.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"server decides late" point kills the obvious cheat - changing the phone clock.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Six steps, one screen each. Walk it live if there is time.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This is a differentiator for smaller schools: no merchant account, no gateway fees.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release log is the part registrars react to - it is the question they get asked years later.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Ask the school for their worst timetable clash story, then show it being refused.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Enrolment ignores the date range on purpose - it is a head count, not a period figure.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Keep this slide slow. It is the one that gets remembered.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blank template removes the "what columns do you want?" phone call.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If they have an IT person in the room, this is the slide they will ask about.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Most competitors cannot answer this. Lead with it if the DPO is in the room.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No app store account needed on the school side for Android - the APK is handed over directly.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 test-mode database looks perfect until the day one school reads another's records. This catches it.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Close by asking for their data. A demo on their own roster sells itself.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image" Target="../media/image-2-4.png"/><Relationship Id="rId5" Type="http://schemas.openxmlformats.org/officeDocument/2006/relationships/image" Target="../media/image-2-5.png"/><Relationship Id="rId6" Type="http://schemas.openxmlformats.org/officeDocument/2006/relationships/image" Target="../media/image-2-6.pn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image" Target="../media/image-3-3.png"/><Relationship Id="rId4" Type="http://schemas.openxmlformats.org/officeDocument/2006/relationships/image" Target="../media/image-3-4.png"/><Relationship Id="rId5" Type="http://schemas.openxmlformats.org/officeDocument/2006/relationships/image" Target="../media/image-3-5.png"/><Relationship Id="rId6" Type="http://schemas.openxmlformats.org/officeDocument/2006/relationships/image" Target="../media/image-3-6.png"/><Relationship Id="rId7" Type="http://schemas.openxmlformats.org/officeDocument/2006/relationships/image" Target="../media/image-3-7.png"/><Relationship Id="rId8" Type="http://schemas.openxmlformats.org/officeDocument/2006/relationships/image" Target="../media/image-3-8.png"/><Relationship Id="rId9" Type="http://schemas.openxmlformats.org/officeDocument/2006/relationships/image" Target="../media/image-3-9.png"/><Relationship Id="rId10" Type="http://schemas.openxmlformats.org/officeDocument/2006/relationships/slideLayout" Target="../slideLayouts/slideLayout1.xml"/><Relationship Id="rId11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image" Target="../media/image-4-3.png"/><Relationship Id="rId4" Type="http://schemas.openxmlformats.org/officeDocument/2006/relationships/image" Target="../media/image-4-4.png"/><Relationship Id="rId5" Type="http://schemas.openxmlformats.org/officeDocument/2006/relationships/image" Target="../media/image-4-5.png"/><Relationship Id="rId6" Type="http://schemas.openxmlformats.org/officeDocument/2006/relationships/image" Target="../media/image-4-6.png"/><Relationship Id="rId7" Type="http://schemas.openxmlformats.org/officeDocument/2006/relationships/image" Target="../media/image-4-7.png"/><Relationship Id="rId8" Type="http://schemas.openxmlformats.org/officeDocument/2006/relationships/image" Target="../media/image-4-8.png"/><Relationship Id="rId9" Type="http://schemas.openxmlformats.org/officeDocument/2006/relationships/image" Target="../media/image-4-9.png"/><Relationship Id="rId10" Type="http://schemas.openxmlformats.org/officeDocument/2006/relationships/image" Target="../media/image-4-10.png"/><Relationship Id="rId11" Type="http://schemas.openxmlformats.org/officeDocument/2006/relationships/image" Target="../media/image-4-11.png"/><Relationship Id="rId12" Type="http://schemas.openxmlformats.org/officeDocument/2006/relationships/image" Target="../media/image-4-12.png"/><Relationship Id="rId13" Type="http://schemas.openxmlformats.org/officeDocument/2006/relationships/slideLayout" Target="../slideLayouts/slideLayout1.xml"/><Relationship Id="rId14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image" Target="../media/image-5-3.png"/><Relationship Id="rId4" Type="http://schemas.openxmlformats.org/officeDocument/2006/relationships/image" Target="../media/image-5-4.png"/><Relationship Id="rId5" Type="http://schemas.openxmlformats.org/officeDocument/2006/relationships/image" Target="../media/image-5-5.png"/><Relationship Id="rId6" Type="http://schemas.openxmlformats.org/officeDocument/2006/relationships/image" Target="../media/image-5-6.png"/><Relationship Id="rId7" Type="http://schemas.openxmlformats.org/officeDocument/2006/relationships/image" Target="../media/image-5-7.png"/><Relationship Id="rId8" Type="http://schemas.openxmlformats.org/officeDocument/2006/relationships/image" Target="../media/image-5-8.png"/><Relationship Id="rId9" Type="http://schemas.openxmlformats.org/officeDocument/2006/relationships/slideLayout" Target="../slideLayouts/slideLayout1.xml"/><Relationship Id="rId10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png"/><Relationship Id="rId3" Type="http://schemas.openxmlformats.org/officeDocument/2006/relationships/image" Target="../media/image-6-3.png"/><Relationship Id="rId4" Type="http://schemas.openxmlformats.org/officeDocument/2006/relationships/image" Target="../media/image-6-4.png"/><Relationship Id="rId5" Type="http://schemas.openxmlformats.org/officeDocument/2006/relationships/image" Target="../media/image-6-5.png"/><Relationship Id="rId6" Type="http://schemas.openxmlformats.org/officeDocument/2006/relationships/image" Target="../media/image-6-6.png"/><Relationship Id="rId7" Type="http://schemas.openxmlformats.org/officeDocument/2006/relationships/image" Target="../media/image-6-7.png"/><Relationship Id="rId8" Type="http://schemas.openxmlformats.org/officeDocument/2006/relationships/image" Target="../media/image-6-8.png"/><Relationship Id="rId9" Type="http://schemas.openxmlformats.org/officeDocument/2006/relationships/slideLayout" Target="../slideLayouts/slideLayout1.xml"/><Relationship Id="rId10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image" Target="../media/image-7-2.png"/><Relationship Id="rId3" Type="http://schemas.openxmlformats.org/officeDocument/2006/relationships/image" Target="../media/image-7-3.png"/><Relationship Id="rId4" Type="http://schemas.openxmlformats.org/officeDocument/2006/relationships/image" Target="../media/image-7-4.png"/><Relationship Id="rId5" Type="http://schemas.openxmlformats.org/officeDocument/2006/relationships/image" Target="../media/image-7-5.png"/><Relationship Id="rId6" Type="http://schemas.openxmlformats.org/officeDocument/2006/relationships/image" Target="../media/image-7-6.png"/><Relationship Id="rId7" Type="http://schemas.openxmlformats.org/officeDocument/2006/relationships/image" Target="../media/image-7-7.png"/><Relationship Id="rId8" Type="http://schemas.openxmlformats.org/officeDocument/2006/relationships/image" Target="../media/image-7-8.png"/><Relationship Id="rId9" Type="http://schemas.openxmlformats.org/officeDocument/2006/relationships/image" Target="../media/image-7-9.png"/><Relationship Id="rId10" Type="http://schemas.openxmlformats.org/officeDocument/2006/relationships/image" Target="../media/image-7-10.png"/><Relationship Id="rId11" Type="http://schemas.openxmlformats.org/officeDocument/2006/relationships/slideLayout" Target="../slideLayouts/slideLayout1.xml"/><Relationship Id="rId1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3" Type="http://schemas.openxmlformats.org/officeDocument/2006/relationships/image" Target="../media/image-8-3.png"/><Relationship Id="rId4" Type="http://schemas.openxmlformats.org/officeDocument/2006/relationships/image" Target="../media/image-8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image" Target="../media/image-9-2.png"/><Relationship Id="rId3" Type="http://schemas.openxmlformats.org/officeDocument/2006/relationships/image" Target="../media/image-9-3.png"/><Relationship Id="rId4" Type="http://schemas.openxmlformats.org/officeDocument/2006/relationships/image" Target="../media/image-9-4.png"/><Relationship Id="rId5" Type="http://schemas.openxmlformats.org/officeDocument/2006/relationships/image" Target="../media/image-9-5.png"/><Relationship Id="rId6" Type="http://schemas.openxmlformats.org/officeDocument/2006/relationships/image" Target="../media/image-9-6.png"/><Relationship Id="rId7" Type="http://schemas.openxmlformats.org/officeDocument/2006/relationships/image" Target="../media/image-9-7.png"/><Relationship Id="rId8" Type="http://schemas.openxmlformats.org/officeDocument/2006/relationships/image" Target="../media/image-9-8.png"/><Relationship Id="rId9" Type="http://schemas.openxmlformats.org/officeDocument/2006/relationships/image" Target="../media/image-9-9.png"/><Relationship Id="rId10" Type="http://schemas.openxmlformats.org/officeDocument/2006/relationships/slideLayout" Target="../slideLayouts/slideLayout1.xml"/><Relationship Id="rId11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image" Target="../media/image-10-2.png"/><Relationship Id="rId3" Type="http://schemas.openxmlformats.org/officeDocument/2006/relationships/image" Target="../media/image-10-3.png"/><Relationship Id="rId4" Type="http://schemas.openxmlformats.org/officeDocument/2006/relationships/image" Target="../media/image-10-4.png"/><Relationship Id="rId5" Type="http://schemas.openxmlformats.org/officeDocument/2006/relationships/image" Target="../media/image-10-5.png"/><Relationship Id="rId6" Type="http://schemas.openxmlformats.org/officeDocument/2006/relationships/image" Target="../media/image-10-6.png"/><Relationship Id="rId7" Type="http://schemas.openxmlformats.org/officeDocument/2006/relationships/image" Target="../media/image-10-7.png"/><Relationship Id="rId8" Type="http://schemas.openxmlformats.org/officeDocument/2006/relationships/image" Target="../media/image-10-8.png"/><Relationship Id="rId9" Type="http://schemas.openxmlformats.org/officeDocument/2006/relationships/slideLayout" Target="../slideLayouts/slideLayout1.xml"/><Relationship Id="rId10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image" Target="../media/image-11-2.png"/><Relationship Id="rId3" Type="http://schemas.openxmlformats.org/officeDocument/2006/relationships/image" Target="../media/image-11-3.png"/><Relationship Id="rId4" Type="http://schemas.openxmlformats.org/officeDocument/2006/relationships/image" Target="../media/image-11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image" Target="../media/image-12-2.png"/><Relationship Id="rId3" Type="http://schemas.openxmlformats.org/officeDocument/2006/relationships/image" Target="../media/image-12-3.png"/><Relationship Id="rId4" Type="http://schemas.openxmlformats.org/officeDocument/2006/relationships/image" Target="../media/image-12-4.png"/><Relationship Id="rId5" Type="http://schemas.openxmlformats.org/officeDocument/2006/relationships/image" Target="../media/image-12-5.png"/><Relationship Id="rId6" Type="http://schemas.openxmlformats.org/officeDocument/2006/relationships/image" Target="../media/image-12-6.png"/><Relationship Id="rId7" Type="http://schemas.openxmlformats.org/officeDocument/2006/relationships/image" Target="../media/image-12-7.png"/><Relationship Id="rId8" Type="http://schemas.openxmlformats.org/officeDocument/2006/relationships/slideLayout" Target="../slideLayouts/slideLayout1.xml"/><Relationship Id="rId9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image" Target="../media/image-13-2.png"/><Relationship Id="rId3" Type="http://schemas.openxmlformats.org/officeDocument/2006/relationships/image" Target="../media/image-13-3.png"/><Relationship Id="rId4" Type="http://schemas.openxmlformats.org/officeDocument/2006/relationships/image" Target="../media/image-13-4.png"/><Relationship Id="rId5" Type="http://schemas.openxmlformats.org/officeDocument/2006/relationships/image" Target="../media/image-13-5.png"/><Relationship Id="rId6" Type="http://schemas.openxmlformats.org/officeDocument/2006/relationships/image" Target="../media/image-13-6.png"/><Relationship Id="rId7" Type="http://schemas.openxmlformats.org/officeDocument/2006/relationships/image" Target="../media/image-13-7.png"/><Relationship Id="rId8" Type="http://schemas.openxmlformats.org/officeDocument/2006/relationships/image" Target="../media/image-13-8.png"/><Relationship Id="rId9" Type="http://schemas.openxmlformats.org/officeDocument/2006/relationships/image" Target="../media/image-13-9.png"/><Relationship Id="rId10" Type="http://schemas.openxmlformats.org/officeDocument/2006/relationships/image" Target="../media/image-13-10.png"/><Relationship Id="rId11" Type="http://schemas.openxmlformats.org/officeDocument/2006/relationships/slideLayout" Target="../slideLayouts/slideLayout1.xml"/><Relationship Id="rId1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image" Target="../media/image-14-2.png"/><Relationship Id="rId3" Type="http://schemas.openxmlformats.org/officeDocument/2006/relationships/image" Target="../media/image-14-3.png"/><Relationship Id="rId4" Type="http://schemas.openxmlformats.org/officeDocument/2006/relationships/image" Target="../media/image-14-4.png"/><Relationship Id="rId5" Type="http://schemas.openxmlformats.org/officeDocument/2006/relationships/image" Target="../media/image-14-5.png"/><Relationship Id="rId6" Type="http://schemas.openxmlformats.org/officeDocument/2006/relationships/image" Target="../media/image-14-6.png"/><Relationship Id="rId7" Type="http://schemas.openxmlformats.org/officeDocument/2006/relationships/image" Target="../media/image-14-7.png"/><Relationship Id="rId8" Type="http://schemas.openxmlformats.org/officeDocument/2006/relationships/slideLayout" Target="../slideLayouts/slideLayout1.xml"/><Relationship Id="rId9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image" Target="../media/image-15-2.png"/><Relationship Id="rId3" Type="http://schemas.openxmlformats.org/officeDocument/2006/relationships/image" Target="../media/image-15-3.png"/><Relationship Id="rId4" Type="http://schemas.openxmlformats.org/officeDocument/2006/relationships/image" Target="../media/image-15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image" Target="../media/image-16-2.png"/><Relationship Id="rId3" Type="http://schemas.openxmlformats.org/officeDocument/2006/relationships/image" Target="../media/image-16-3.png"/><Relationship Id="rId4" Type="http://schemas.openxmlformats.org/officeDocument/2006/relationships/image" Target="../media/image-16-4.png"/><Relationship Id="rId5" Type="http://schemas.openxmlformats.org/officeDocument/2006/relationships/image" Target="../media/image-16-5.png"/><Relationship Id="rId6" Type="http://schemas.openxmlformats.org/officeDocument/2006/relationships/image" Target="../media/image-16-6.pn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image" Target="../media/image-17-2.png"/><Relationship Id="rId3" Type="http://schemas.openxmlformats.org/officeDocument/2006/relationships/image" Target="../media/image-17-3.png"/><Relationship Id="rId4" Type="http://schemas.openxmlformats.org/officeDocument/2006/relationships/image" Target="../media/image-17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8-1.png"/><Relationship Id="rId2" Type="http://schemas.openxmlformats.org/officeDocument/2006/relationships/image" Target="../media/image-18-2.png"/><Relationship Id="rId3" Type="http://schemas.openxmlformats.org/officeDocument/2006/relationships/image" Target="../media/image-18-3.png"/><Relationship Id="rId4" Type="http://schemas.openxmlformats.org/officeDocument/2006/relationships/image" Target="../media/image-18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9-1.png"/><Relationship Id="rId2" Type="http://schemas.openxmlformats.org/officeDocument/2006/relationships/image" Target="../media/image-19-2.png"/><Relationship Id="rId3" Type="http://schemas.openxmlformats.org/officeDocument/2006/relationships/image" Target="../media/image-19-3.png"/><Relationship Id="rId4" Type="http://schemas.openxmlformats.org/officeDocument/2006/relationships/image" Target="../media/image-19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0-1.png"/><Relationship Id="rId2" Type="http://schemas.openxmlformats.org/officeDocument/2006/relationships/image" Target="../media/image-20-2.png"/><Relationship Id="rId3" Type="http://schemas.openxmlformats.org/officeDocument/2006/relationships/image" Target="../media/image-20-3.png"/><Relationship Id="rId4" Type="http://schemas.openxmlformats.org/officeDocument/2006/relationships/image" Target="../media/image-20-4.png"/><Relationship Id="rId5" Type="http://schemas.openxmlformats.org/officeDocument/2006/relationships/image" Target="../media/image-20-5.png"/><Relationship Id="rId6" Type="http://schemas.openxmlformats.org/officeDocument/2006/relationships/image" Target="../media/image-20-6.pn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1-1.png"/><Relationship Id="rId2" Type="http://schemas.openxmlformats.org/officeDocument/2006/relationships/image" Target="../media/image-21-2.png"/><Relationship Id="rId3" Type="http://schemas.openxmlformats.org/officeDocument/2006/relationships/image" Target="../media/image-21-3.png"/><Relationship Id="rId4" Type="http://schemas.openxmlformats.org/officeDocument/2006/relationships/image" Target="../media/image-21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2-1.png"/><Relationship Id="rId2" Type="http://schemas.openxmlformats.org/officeDocument/2006/relationships/image" Target="../media/image-22-2.png"/><Relationship Id="rId3" Type="http://schemas.openxmlformats.org/officeDocument/2006/relationships/image" Target="../media/image-22-3.png"/><Relationship Id="rId4" Type="http://schemas.openxmlformats.org/officeDocument/2006/relationships/image" Target="../media/image-22-4.png"/><Relationship Id="rId5" Type="http://schemas.openxmlformats.org/officeDocument/2006/relationships/image" Target="../media/image-22-5.png"/><Relationship Id="rId6" Type="http://schemas.openxmlformats.org/officeDocument/2006/relationships/image" Target="../media/image-22-6.png"/><Relationship Id="rId7" Type="http://schemas.openxmlformats.org/officeDocument/2006/relationships/image" Target="../media/image-22-7.png"/><Relationship Id="rId8" Type="http://schemas.openxmlformats.org/officeDocument/2006/relationships/slideLayout" Target="../slideLayouts/slideLayout1.xml"/><Relationship Id="rId9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3-1.png"/><Relationship Id="rId2" Type="http://schemas.openxmlformats.org/officeDocument/2006/relationships/image" Target="../media/image-23-2.png"/><Relationship Id="rId3" Type="http://schemas.openxmlformats.org/officeDocument/2006/relationships/image" Target="../media/image-23-3.png"/><Relationship Id="rId4" Type="http://schemas.openxmlformats.org/officeDocument/2006/relationships/image" Target="../media/image-23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4-1.png"/><Relationship Id="rId2" Type="http://schemas.openxmlformats.org/officeDocument/2006/relationships/image" Target="../media/image-24-2.png"/><Relationship Id="rId3" Type="http://schemas.openxmlformats.org/officeDocument/2006/relationships/image" Target="../media/image-24-3.png"/><Relationship Id="rId4" Type="http://schemas.openxmlformats.org/officeDocument/2006/relationships/image" Target="../media/image-24-4.png"/><Relationship Id="rId5" Type="http://schemas.openxmlformats.org/officeDocument/2006/relationships/image" Target="../media/image-24-5.png"/><Relationship Id="rId6" Type="http://schemas.openxmlformats.org/officeDocument/2006/relationships/image" Target="../media/image-24-6.png"/><Relationship Id="rId7" Type="http://schemas.openxmlformats.org/officeDocument/2006/relationships/image" Target="../media/image-24-7.png"/><Relationship Id="rId8" Type="http://schemas.openxmlformats.org/officeDocument/2006/relationships/slideLayout" Target="../slideLayouts/slideLayout1.xml"/><Relationship Id="rId9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5-1.png"/><Relationship Id="rId2" Type="http://schemas.openxmlformats.org/officeDocument/2006/relationships/image" Target="../media/image-25-2.png"/><Relationship Id="rId3" Type="http://schemas.openxmlformats.org/officeDocument/2006/relationships/image" Target="../media/image-25-3.png"/><Relationship Id="rId4" Type="http://schemas.openxmlformats.org/officeDocument/2006/relationships/image" Target="../media/image-25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6-1.png"/><Relationship Id="rId2" Type="http://schemas.openxmlformats.org/officeDocument/2006/relationships/image" Target="../media/image-26-2.png"/><Relationship Id="rId3" Type="http://schemas.openxmlformats.org/officeDocument/2006/relationships/image" Target="../media/image-26-3.png"/><Relationship Id="rId4" Type="http://schemas.openxmlformats.org/officeDocument/2006/relationships/image" Target="../media/image-26-4.png"/><Relationship Id="rId5" Type="http://schemas.openxmlformats.org/officeDocument/2006/relationships/image" Target="../media/image-26-5.png"/><Relationship Id="rId6" Type="http://schemas.openxmlformats.org/officeDocument/2006/relationships/image" Target="../media/image-26-6.png"/><Relationship Id="rId7" Type="http://schemas.openxmlformats.org/officeDocument/2006/relationships/image" Target="../media/image-26-7.png"/><Relationship Id="rId8" Type="http://schemas.openxmlformats.org/officeDocument/2006/relationships/image" Target="../media/image-26-8.png"/><Relationship Id="rId9" Type="http://schemas.openxmlformats.org/officeDocument/2006/relationships/slideLayout" Target="../slideLayouts/slideLayout1.xml"/><Relationship Id="rId10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41B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778240" y="-1737360"/>
            <a:ext cx="5669280" cy="5669280"/>
          </a:xfrm>
          <a:prstGeom prst="ellipse">
            <a:avLst/>
          </a:prstGeom>
          <a:solidFill>
            <a:srgbClr val="1E276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10332720" y="4206240"/>
            <a:ext cx="3108960" cy="3108960"/>
          </a:xfrm>
          <a:prstGeom prst="ellipse">
            <a:avLst/>
          </a:prstGeom>
          <a:solidFill>
            <a:srgbClr val="25306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640080" y="1874520"/>
            <a:ext cx="768096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LogicClass</a:t>
            </a:r>
            <a:endParaRPr lang="en-US" sz="6000" dirty="0"/>
          </a:p>
        </p:txBody>
      </p:sp>
      <p:sp>
        <p:nvSpPr>
          <p:cNvPr id="5" name="Text 3"/>
          <p:cNvSpPr txBox="1"/>
          <p:nvPr/>
        </p:nvSpPr>
        <p:spPr>
          <a:xfrm>
            <a:off x="640080" y="2926080"/>
            <a:ext cx="7680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i="1" dirty="0">
                <a:solidFill>
                  <a:srgbClr val="E8A3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One system for the whole school day</a:t>
            </a:r>
            <a:endParaRPr lang="en-US" sz="2200" dirty="0"/>
          </a:p>
        </p:txBody>
      </p:sp>
      <p:sp>
        <p:nvSpPr>
          <p:cNvPr id="6" name="Text 4"/>
          <p:cNvSpPr txBox="1"/>
          <p:nvPr/>
        </p:nvSpPr>
        <p:spPr>
          <a:xfrm>
            <a:off x="640080" y="3520440"/>
            <a:ext cx="74066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200"/>
              </a:lnSpc>
              <a:buNone/>
            </a:pPr>
            <a:r>
              <a:rPr lang="en-US" sz="14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Enrolment, attendance, grades, fees, records, schedules, reports and safety - in one app your Director, Principal, Admin, Registrar, Faculty, Guidance, Staff, Students and Parents each sign in to and see only their own part of.</a:t>
            </a:r>
            <a:endParaRPr lang="en-US" sz="1450" dirty="0"/>
          </a:p>
        </p:txBody>
      </p:sp>
      <p:sp>
        <p:nvSpPr>
          <p:cNvPr id="7" name="Shape 5"/>
          <p:cNvSpPr/>
          <p:nvPr/>
        </p:nvSpPr>
        <p:spPr>
          <a:xfrm>
            <a:off x="640080" y="4892040"/>
            <a:ext cx="2331720" cy="475488"/>
          </a:xfrm>
          <a:prstGeom prst="roundRect">
            <a:avLst>
              <a:gd name="adj" fmla="val 50000"/>
            </a:avLst>
          </a:prstGeom>
          <a:solidFill>
            <a:srgbClr val="1E2761"/>
          </a:solidFill>
          <a:ln w="12700">
            <a:solidFill>
              <a:srgbClr val="3A4783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640080" y="4892040"/>
            <a:ext cx="23317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 role portals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3154680" y="4892040"/>
            <a:ext cx="2331720" cy="475488"/>
          </a:xfrm>
          <a:prstGeom prst="roundRect">
            <a:avLst>
              <a:gd name="adj" fmla="val 50000"/>
            </a:avLst>
          </a:prstGeom>
          <a:solidFill>
            <a:srgbClr val="1E2761"/>
          </a:solidFill>
          <a:ln w="12700">
            <a:solidFill>
              <a:srgbClr val="3A4783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3154680" y="4892040"/>
            <a:ext cx="23317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Android . Windows . Web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5669280" y="4892040"/>
            <a:ext cx="2331720" cy="475488"/>
          </a:xfrm>
          <a:prstGeom prst="roundRect">
            <a:avLst>
              <a:gd name="adj" fmla="val 50000"/>
            </a:avLst>
          </a:prstGeom>
          <a:solidFill>
            <a:srgbClr val="1E2761"/>
          </a:solidFill>
          <a:ln w="12700">
            <a:solidFill>
              <a:srgbClr val="3A4783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5669280" y="4892040"/>
            <a:ext cx="23317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 Privacy Act ready</a:t>
            </a:r>
            <a:endParaRPr lang="en-US" sz="1200" dirty="0"/>
          </a:p>
        </p:txBody>
      </p:sp>
      <p:sp>
        <p:nvSpPr>
          <p:cNvPr id="13" name="Text 11"/>
          <p:cNvSpPr txBox="1"/>
          <p:nvPr/>
        </p:nvSpPr>
        <p:spPr>
          <a:xfrm>
            <a:off x="640080" y="589788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spc="150" kern="0" dirty="0">
                <a:solidFill>
                  <a:srgbClr val="8895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demo walkthrough for schools</a:t>
            </a:r>
            <a:endParaRPr lang="en-US" sz="11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38912"/>
            <a:ext cx="1090879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40" kern="0" dirty="0">
                <a:solidFill>
                  <a:srgbClr val="E8A3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SCHOOLS ASK FOR THIS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694944"/>
            <a:ext cx="10908792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paperwork a school day leaves behind</a:t>
            </a:r>
            <a:endParaRPr lang="en-US" sz="32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1371600"/>
            <a:ext cx="8945209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item below is somebody in the school building copying the same fact into a second place.</a:t>
            </a:r>
            <a:endParaRPr lang="en-US" sz="1350" dirty="0"/>
          </a:p>
        </p:txBody>
      </p:sp>
      <p:sp>
        <p:nvSpPr>
          <p:cNvPr id="5" name="Shape 3"/>
          <p:cNvSpPr/>
          <p:nvPr/>
        </p:nvSpPr>
        <p:spPr>
          <a:xfrm>
            <a:off x="640080" y="1874520"/>
            <a:ext cx="3496056" cy="2148840"/>
          </a:xfrm>
          <a:prstGeom prst="roundRect">
            <a:avLst>
              <a:gd name="adj" fmla="val 4255"/>
            </a:avLst>
          </a:prstGeom>
          <a:solidFill>
            <a:srgbClr val="F3F6FD"/>
          </a:solidFill>
          <a:ln w="9525">
            <a:solidFill>
              <a:srgbClr val="DCE4F5"/>
            </a:solidFill>
            <a:prstDash val="solid"/>
          </a:ln>
          <a:effectLst>
            <a:outerShdw sx="100000" sy="100000" kx="0" ky="0" algn="bl" rotWithShape="0" blurRad="127000" dist="25400" dir="5400000">
              <a:srgbClr val="1E2761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877824" y="2093976"/>
            <a:ext cx="475488" cy="475488"/>
          </a:xfrm>
          <a:prstGeom prst="ellipse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92124" y="2208276"/>
            <a:ext cx="228600" cy="228600"/>
          </a:xfrm>
          <a:prstGeom prst="rect">
            <a:avLst/>
          </a:prstGeom>
        </p:spPr>
      </p:pic>
      <p:sp>
        <p:nvSpPr>
          <p:cNvPr id="8" name="Text 5"/>
          <p:cNvSpPr txBox="1"/>
          <p:nvPr/>
        </p:nvSpPr>
        <p:spPr>
          <a:xfrm>
            <a:off x="877824" y="2660904"/>
            <a:ext cx="30205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Records in five books</a:t>
            </a:r>
            <a:endParaRPr lang="en-US" sz="1400" dirty="0"/>
          </a:p>
        </p:txBody>
      </p:sp>
      <p:sp>
        <p:nvSpPr>
          <p:cNvPr id="9" name="Text 6"/>
          <p:cNvSpPr txBox="1"/>
          <p:nvPr/>
        </p:nvSpPr>
        <p:spPr>
          <a:xfrm>
            <a:off x="877824" y="2944368"/>
            <a:ext cx="302056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class record, the registrar's ledger, the cashier's receipt book, the guidance file and the adviser's notebook - each holding part of one student.</a:t>
            </a:r>
            <a:endParaRPr lang="en-US" sz="1100" dirty="0"/>
          </a:p>
        </p:txBody>
      </p:sp>
      <p:sp>
        <p:nvSpPr>
          <p:cNvPr id="10" name="Shape 7"/>
          <p:cNvSpPr/>
          <p:nvPr/>
        </p:nvSpPr>
        <p:spPr>
          <a:xfrm>
            <a:off x="4346448" y="1874520"/>
            <a:ext cx="3496056" cy="2148840"/>
          </a:xfrm>
          <a:prstGeom prst="roundRect">
            <a:avLst>
              <a:gd name="adj" fmla="val 4255"/>
            </a:avLst>
          </a:prstGeom>
          <a:solidFill>
            <a:srgbClr val="F3F6FD"/>
          </a:solidFill>
          <a:ln w="9525">
            <a:solidFill>
              <a:srgbClr val="DCE4F5"/>
            </a:solidFill>
            <a:prstDash val="solid"/>
          </a:ln>
          <a:effectLst>
            <a:outerShdw sx="100000" sy="100000" kx="0" ky="0" algn="bl" rotWithShape="0" blurRad="127000" dist="25400" dir="5400000">
              <a:srgbClr val="1E2761">
                <a:alpha val="10000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4584192" y="2093976"/>
            <a:ext cx="475488" cy="475488"/>
          </a:xfrm>
          <a:prstGeom prst="ellipse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98492" y="2208276"/>
            <a:ext cx="228600" cy="228600"/>
          </a:xfrm>
          <a:prstGeom prst="rect">
            <a:avLst/>
          </a:prstGeom>
        </p:spPr>
      </p:pic>
      <p:sp>
        <p:nvSpPr>
          <p:cNvPr id="13" name="Text 9"/>
          <p:cNvSpPr txBox="1"/>
          <p:nvPr/>
        </p:nvSpPr>
        <p:spPr>
          <a:xfrm>
            <a:off x="4584192" y="2660904"/>
            <a:ext cx="30205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Attendance copied twice</a:t>
            </a:r>
            <a:endParaRPr lang="en-US" sz="1400" dirty="0"/>
          </a:p>
        </p:txBody>
      </p:sp>
      <p:sp>
        <p:nvSpPr>
          <p:cNvPr id="14" name="Text 10"/>
          <p:cNvSpPr txBox="1"/>
          <p:nvPr/>
        </p:nvSpPr>
        <p:spPr>
          <a:xfrm>
            <a:off x="4584192" y="2944368"/>
            <a:ext cx="302056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Called in the morning, written on a slip, then typed into a spreadsheet at the end of the week - if anyone gets to it.</a:t>
            </a:r>
            <a:endParaRPr lang="en-US" sz="1100" dirty="0"/>
          </a:p>
        </p:txBody>
      </p:sp>
      <p:sp>
        <p:nvSpPr>
          <p:cNvPr id="15" name="Shape 11"/>
          <p:cNvSpPr/>
          <p:nvPr/>
        </p:nvSpPr>
        <p:spPr>
          <a:xfrm>
            <a:off x="8052816" y="1874520"/>
            <a:ext cx="3496056" cy="2148840"/>
          </a:xfrm>
          <a:prstGeom prst="roundRect">
            <a:avLst>
              <a:gd name="adj" fmla="val 4255"/>
            </a:avLst>
          </a:prstGeom>
          <a:solidFill>
            <a:srgbClr val="F3F6FD"/>
          </a:solidFill>
          <a:ln w="9525">
            <a:solidFill>
              <a:srgbClr val="DCE4F5"/>
            </a:solidFill>
            <a:prstDash val="solid"/>
          </a:ln>
          <a:effectLst>
            <a:outerShdw sx="100000" sy="100000" kx="0" ky="0" algn="bl" rotWithShape="0" blurRad="127000" dist="25400" dir="5400000">
              <a:srgbClr val="1E2761">
                <a:alpha val="10000"/>
              </a:srgbClr>
            </a:outerShdw>
          </a:effectLst>
        </p:spPr>
      </p:sp>
      <p:sp>
        <p:nvSpPr>
          <p:cNvPr id="16" name="Shape 12"/>
          <p:cNvSpPr/>
          <p:nvPr/>
        </p:nvSpPr>
        <p:spPr>
          <a:xfrm>
            <a:off x="8290560" y="2093976"/>
            <a:ext cx="475488" cy="475488"/>
          </a:xfrm>
          <a:prstGeom prst="ellipse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pic>
        <p:nvPicPr>
          <p:cNvPr id="17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404860" y="2208276"/>
            <a:ext cx="228600" cy="228600"/>
          </a:xfrm>
          <a:prstGeom prst="rect">
            <a:avLst/>
          </a:prstGeom>
        </p:spPr>
      </p:pic>
      <p:sp>
        <p:nvSpPr>
          <p:cNvPr id="18" name="Text 13"/>
          <p:cNvSpPr txBox="1"/>
          <p:nvPr/>
        </p:nvSpPr>
        <p:spPr>
          <a:xfrm>
            <a:off x="8290560" y="2660904"/>
            <a:ext cx="30205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Balances nobody agrees on</a:t>
            </a:r>
            <a:endParaRPr lang="en-US" sz="1400" dirty="0"/>
          </a:p>
        </p:txBody>
      </p:sp>
      <p:sp>
        <p:nvSpPr>
          <p:cNvPr id="19" name="Text 14"/>
          <p:cNvSpPr txBox="1"/>
          <p:nvPr/>
        </p:nvSpPr>
        <p:spPr>
          <a:xfrm>
            <a:off x="8290560" y="2944368"/>
            <a:ext cx="302056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cashier has one figure, the parent remembers another, and the only way to settle it is to find the receipts.</a:t>
            </a:r>
            <a:endParaRPr lang="en-US" sz="1100" dirty="0"/>
          </a:p>
        </p:txBody>
      </p:sp>
      <p:sp>
        <p:nvSpPr>
          <p:cNvPr id="20" name="Shape 15"/>
          <p:cNvSpPr/>
          <p:nvPr/>
        </p:nvSpPr>
        <p:spPr>
          <a:xfrm>
            <a:off x="640080" y="4251960"/>
            <a:ext cx="3496056" cy="2148840"/>
          </a:xfrm>
          <a:prstGeom prst="roundRect">
            <a:avLst>
              <a:gd name="adj" fmla="val 4255"/>
            </a:avLst>
          </a:prstGeom>
          <a:solidFill>
            <a:srgbClr val="F3F6FD"/>
          </a:solidFill>
          <a:ln w="9525">
            <a:solidFill>
              <a:srgbClr val="DCE4F5"/>
            </a:solidFill>
            <a:prstDash val="solid"/>
          </a:ln>
          <a:effectLst>
            <a:outerShdw sx="100000" sy="100000" kx="0" ky="0" algn="bl" rotWithShape="0" blurRad="127000" dist="25400" dir="5400000">
              <a:srgbClr val="1E2761">
                <a:alpha val="10000"/>
              </a:srgbClr>
            </a:outerShdw>
          </a:effectLst>
        </p:spPr>
      </p:sp>
      <p:sp>
        <p:nvSpPr>
          <p:cNvPr id="21" name="Shape 16"/>
          <p:cNvSpPr/>
          <p:nvPr/>
        </p:nvSpPr>
        <p:spPr>
          <a:xfrm>
            <a:off x="877824" y="4471416"/>
            <a:ext cx="475488" cy="475488"/>
          </a:xfrm>
          <a:prstGeom prst="ellipse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pic>
        <p:nvPicPr>
          <p:cNvPr id="22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92124" y="4585716"/>
            <a:ext cx="228600" cy="228600"/>
          </a:xfrm>
          <a:prstGeom prst="rect">
            <a:avLst/>
          </a:prstGeom>
        </p:spPr>
      </p:pic>
      <p:sp>
        <p:nvSpPr>
          <p:cNvPr id="23" name="Text 17"/>
          <p:cNvSpPr txBox="1"/>
          <p:nvPr/>
        </p:nvSpPr>
        <p:spPr>
          <a:xfrm>
            <a:off x="877824" y="5038344"/>
            <a:ext cx="30205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Form 137 takes days</a:t>
            </a:r>
            <a:endParaRPr lang="en-US" sz="1400" dirty="0"/>
          </a:p>
        </p:txBody>
      </p:sp>
      <p:sp>
        <p:nvSpPr>
          <p:cNvPr id="24" name="Text 18"/>
          <p:cNvSpPr txBox="1"/>
          <p:nvPr/>
        </p:nvSpPr>
        <p:spPr>
          <a:xfrm>
            <a:off x="877824" y="5321808"/>
            <a:ext cx="302056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request comes in, somebody pulls the folder, copies the grades by hand, and nothing records that it was released.</a:t>
            </a:r>
            <a:endParaRPr lang="en-US" sz="1100" dirty="0"/>
          </a:p>
        </p:txBody>
      </p:sp>
      <p:sp>
        <p:nvSpPr>
          <p:cNvPr id="25" name="Shape 19"/>
          <p:cNvSpPr/>
          <p:nvPr/>
        </p:nvSpPr>
        <p:spPr>
          <a:xfrm>
            <a:off x="4346448" y="4251960"/>
            <a:ext cx="3496056" cy="2148840"/>
          </a:xfrm>
          <a:prstGeom prst="roundRect">
            <a:avLst>
              <a:gd name="adj" fmla="val 4255"/>
            </a:avLst>
          </a:prstGeom>
          <a:solidFill>
            <a:srgbClr val="F3F6FD"/>
          </a:solidFill>
          <a:ln w="9525">
            <a:solidFill>
              <a:srgbClr val="DCE4F5"/>
            </a:solidFill>
            <a:prstDash val="solid"/>
          </a:ln>
          <a:effectLst>
            <a:outerShdw sx="100000" sy="100000" kx="0" ky="0" algn="bl" rotWithShape="0" blurRad="127000" dist="25400" dir="5400000">
              <a:srgbClr val="1E2761">
                <a:alpha val="10000"/>
              </a:srgbClr>
            </a:outerShdw>
          </a:effectLst>
        </p:spPr>
      </p:sp>
      <p:sp>
        <p:nvSpPr>
          <p:cNvPr id="26" name="Shape 20"/>
          <p:cNvSpPr/>
          <p:nvPr/>
        </p:nvSpPr>
        <p:spPr>
          <a:xfrm>
            <a:off x="4584192" y="4471416"/>
            <a:ext cx="475488" cy="475488"/>
          </a:xfrm>
          <a:prstGeom prst="ellipse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pic>
        <p:nvPicPr>
          <p:cNvPr id="27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698492" y="4585716"/>
            <a:ext cx="228600" cy="228600"/>
          </a:xfrm>
          <a:prstGeom prst="rect">
            <a:avLst/>
          </a:prstGeom>
        </p:spPr>
      </p:pic>
      <p:sp>
        <p:nvSpPr>
          <p:cNvPr id="28" name="Text 21"/>
          <p:cNvSpPr txBox="1"/>
          <p:nvPr/>
        </p:nvSpPr>
        <p:spPr>
          <a:xfrm>
            <a:off x="4584192" y="5038344"/>
            <a:ext cx="30205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Parents told last</a:t>
            </a:r>
            <a:endParaRPr lang="en-US" sz="1400" dirty="0"/>
          </a:p>
        </p:txBody>
      </p:sp>
      <p:sp>
        <p:nvSpPr>
          <p:cNvPr id="29" name="Text 22"/>
          <p:cNvSpPr txBox="1"/>
          <p:nvPr/>
        </p:nvSpPr>
        <p:spPr>
          <a:xfrm>
            <a:off x="4584192" y="5321808"/>
            <a:ext cx="302056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fever, a suspension, a summons to the guidance office - the family finds out when the child gets home.</a:t>
            </a:r>
            <a:endParaRPr lang="en-US" sz="1100" dirty="0"/>
          </a:p>
        </p:txBody>
      </p:sp>
      <p:sp>
        <p:nvSpPr>
          <p:cNvPr id="30" name="Shape 23"/>
          <p:cNvSpPr/>
          <p:nvPr/>
        </p:nvSpPr>
        <p:spPr>
          <a:xfrm>
            <a:off x="8052816" y="4251960"/>
            <a:ext cx="3496056" cy="2148840"/>
          </a:xfrm>
          <a:prstGeom prst="roundRect">
            <a:avLst>
              <a:gd name="adj" fmla="val 4255"/>
            </a:avLst>
          </a:prstGeom>
          <a:solidFill>
            <a:srgbClr val="F3F6FD"/>
          </a:solidFill>
          <a:ln w="9525">
            <a:solidFill>
              <a:srgbClr val="DCE4F5"/>
            </a:solidFill>
            <a:prstDash val="solid"/>
          </a:ln>
          <a:effectLst>
            <a:outerShdw sx="100000" sy="100000" kx="0" ky="0" algn="bl" rotWithShape="0" blurRad="127000" dist="25400" dir="5400000">
              <a:srgbClr val="1E2761">
                <a:alpha val="10000"/>
              </a:srgbClr>
            </a:outerShdw>
          </a:effectLst>
        </p:spPr>
      </p:sp>
      <p:sp>
        <p:nvSpPr>
          <p:cNvPr id="31" name="Shape 24"/>
          <p:cNvSpPr/>
          <p:nvPr/>
        </p:nvSpPr>
        <p:spPr>
          <a:xfrm>
            <a:off x="8290560" y="4471416"/>
            <a:ext cx="475488" cy="475488"/>
          </a:xfrm>
          <a:prstGeom prst="ellipse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pic>
        <p:nvPicPr>
          <p:cNvPr id="32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404860" y="4585716"/>
            <a:ext cx="228600" cy="228600"/>
          </a:xfrm>
          <a:prstGeom prst="rect">
            <a:avLst/>
          </a:prstGeom>
        </p:spPr>
      </p:pic>
      <p:sp>
        <p:nvSpPr>
          <p:cNvPr id="33" name="Text 25"/>
          <p:cNvSpPr txBox="1"/>
          <p:nvPr/>
        </p:nvSpPr>
        <p:spPr>
          <a:xfrm>
            <a:off x="8290560" y="5038344"/>
            <a:ext cx="30205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way to answer "who changed this?"</a:t>
            </a:r>
            <a:endParaRPr lang="en-US" sz="1400" dirty="0"/>
          </a:p>
        </p:txBody>
      </p:sp>
      <p:sp>
        <p:nvSpPr>
          <p:cNvPr id="34" name="Text 26"/>
          <p:cNvSpPr txBox="1"/>
          <p:nvPr/>
        </p:nvSpPr>
        <p:spPr>
          <a:xfrm>
            <a:off x="8290560" y="5321808"/>
            <a:ext cx="302056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grade moves, a balance is edited, a record disappears. Nothing in the school can say who, or when.</a:t>
            </a:r>
            <a:endParaRPr lang="en-US" sz="11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141B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38912"/>
            <a:ext cx="1090879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40" kern="0" dirty="0">
                <a:solidFill>
                  <a:srgbClr val="E8A3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IT IS ORGANISED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694944"/>
            <a:ext cx="10908792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Nine portals, one school, one login each</a:t>
            </a:r>
            <a:endParaRPr lang="en-US" sz="32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1371600"/>
            <a:ext cx="8945209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Sign in once and the app opens on the portal for your role. Nobody chooses a mode, and nobody sees a screen that is not theirs.</a:t>
            </a:r>
            <a:endParaRPr lang="en-US" sz="1350" dirty="0"/>
          </a:p>
        </p:txBody>
      </p:sp>
      <p:sp>
        <p:nvSpPr>
          <p:cNvPr id="5" name="Shape 3"/>
          <p:cNvSpPr/>
          <p:nvPr/>
        </p:nvSpPr>
        <p:spPr>
          <a:xfrm>
            <a:off x="640080" y="2322576"/>
            <a:ext cx="384048" cy="384048"/>
          </a:xfrm>
          <a:prstGeom prst="ellipse">
            <a:avLst/>
          </a:prstGeom>
          <a:solidFill>
            <a:srgbClr val="2E3A70"/>
          </a:solidFill>
          <a:ln w="12700">
            <a:solidFill>
              <a:srgbClr val="2E3A70"/>
            </a:solidFill>
            <a:prstDash val="solid"/>
          </a:ln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45236" y="2427732"/>
            <a:ext cx="173736" cy="173736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1152144" y="2267712"/>
            <a:ext cx="28803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Director</a:t>
            </a:r>
            <a:endParaRPr lang="en-US" sz="1250" dirty="0"/>
          </a:p>
        </p:txBody>
      </p:sp>
      <p:sp>
        <p:nvSpPr>
          <p:cNvPr id="8" name="Text 5"/>
          <p:cNvSpPr txBox="1"/>
          <p:nvPr/>
        </p:nvSpPr>
        <p:spPr>
          <a:xfrm>
            <a:off x="1152144" y="2500884"/>
            <a:ext cx="2880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50"/>
              </a:lnSpc>
              <a:buNone/>
            </a:pPr>
            <a:r>
              <a:rPr lang="en-US" sz="1000" dirty="0">
                <a:solidFill>
                  <a:srgbClr val="9EAB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School-wide oversight, approvals, money and audit</a:t>
            </a:r>
            <a:endParaRPr lang="en-US" sz="1000" dirty="0"/>
          </a:p>
        </p:txBody>
      </p:sp>
      <p:sp>
        <p:nvSpPr>
          <p:cNvPr id="9" name="Shape 6"/>
          <p:cNvSpPr/>
          <p:nvPr/>
        </p:nvSpPr>
        <p:spPr>
          <a:xfrm>
            <a:off x="640080" y="3511296"/>
            <a:ext cx="384048" cy="384048"/>
          </a:xfrm>
          <a:prstGeom prst="ellipse">
            <a:avLst/>
          </a:prstGeom>
          <a:solidFill>
            <a:srgbClr val="2E3A70"/>
          </a:solidFill>
          <a:ln w="12700">
            <a:solidFill>
              <a:srgbClr val="2E3A70"/>
            </a:solidFill>
            <a:prstDash val="solid"/>
          </a:ln>
        </p:spPr>
      </p:sp>
      <p:pic>
        <p:nvPicPr>
          <p:cNvPr id="10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5236" y="3616452"/>
            <a:ext cx="173736" cy="173736"/>
          </a:xfrm>
          <a:prstGeom prst="rect">
            <a:avLst/>
          </a:prstGeom>
        </p:spPr>
      </p:pic>
      <p:sp>
        <p:nvSpPr>
          <p:cNvPr id="11" name="Text 7"/>
          <p:cNvSpPr txBox="1"/>
          <p:nvPr/>
        </p:nvSpPr>
        <p:spPr>
          <a:xfrm>
            <a:off x="1152144" y="3456432"/>
            <a:ext cx="28803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Principal</a:t>
            </a:r>
            <a:endParaRPr lang="en-US" sz="1250" dirty="0"/>
          </a:p>
        </p:txBody>
      </p:sp>
      <p:sp>
        <p:nvSpPr>
          <p:cNvPr id="12" name="Text 8"/>
          <p:cNvSpPr txBox="1"/>
          <p:nvPr/>
        </p:nvSpPr>
        <p:spPr>
          <a:xfrm>
            <a:off x="1152144" y="3689604"/>
            <a:ext cx="2880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50"/>
              </a:lnSpc>
              <a:buNone/>
            </a:pPr>
            <a:r>
              <a:rPr lang="en-US" sz="1000" dirty="0">
                <a:solidFill>
                  <a:srgbClr val="9EAB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Academic leadership for one division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640080" y="4700016"/>
            <a:ext cx="384048" cy="384048"/>
          </a:xfrm>
          <a:prstGeom prst="ellipse">
            <a:avLst/>
          </a:prstGeom>
          <a:solidFill>
            <a:srgbClr val="2E3A70"/>
          </a:solidFill>
          <a:ln w="12700">
            <a:solidFill>
              <a:srgbClr val="2E3A70"/>
            </a:solidFill>
            <a:prstDash val="solid"/>
          </a:ln>
        </p:spPr>
      </p:sp>
      <p:pic>
        <p:nvPicPr>
          <p:cNvPr id="14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45236" y="4805172"/>
            <a:ext cx="173736" cy="173736"/>
          </a:xfrm>
          <a:prstGeom prst="rect">
            <a:avLst/>
          </a:prstGeom>
        </p:spPr>
      </p:pic>
      <p:sp>
        <p:nvSpPr>
          <p:cNvPr id="15" name="Text 10"/>
          <p:cNvSpPr txBox="1"/>
          <p:nvPr/>
        </p:nvSpPr>
        <p:spPr>
          <a:xfrm>
            <a:off x="1152144" y="4645152"/>
            <a:ext cx="28803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Admin</a:t>
            </a:r>
            <a:endParaRPr lang="en-US" sz="1250" dirty="0"/>
          </a:p>
        </p:txBody>
      </p:sp>
      <p:sp>
        <p:nvSpPr>
          <p:cNvPr id="16" name="Text 11"/>
          <p:cNvSpPr txBox="1"/>
          <p:nvPr/>
        </p:nvSpPr>
        <p:spPr>
          <a:xfrm>
            <a:off x="1152144" y="4878324"/>
            <a:ext cx="2880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50"/>
              </a:lnSpc>
              <a:buNone/>
            </a:pPr>
            <a:r>
              <a:rPr lang="en-US" sz="1000" dirty="0">
                <a:solidFill>
                  <a:srgbClr val="9EAB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People, branding, catalogues, schedules, reports</a:t>
            </a:r>
            <a:endParaRPr lang="en-US" sz="1000" dirty="0"/>
          </a:p>
        </p:txBody>
      </p:sp>
      <p:sp>
        <p:nvSpPr>
          <p:cNvPr id="17" name="Shape 12"/>
          <p:cNvSpPr/>
          <p:nvPr/>
        </p:nvSpPr>
        <p:spPr>
          <a:xfrm>
            <a:off x="4398264" y="2322576"/>
            <a:ext cx="384048" cy="384048"/>
          </a:xfrm>
          <a:prstGeom prst="ellipse">
            <a:avLst/>
          </a:prstGeom>
          <a:solidFill>
            <a:srgbClr val="2E3A70"/>
          </a:solidFill>
          <a:ln w="12700">
            <a:solidFill>
              <a:srgbClr val="2E3A70"/>
            </a:solidFill>
            <a:prstDash val="solid"/>
          </a:ln>
        </p:spPr>
      </p:sp>
      <p:pic>
        <p:nvPicPr>
          <p:cNvPr id="18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03420" y="2427732"/>
            <a:ext cx="173736" cy="173736"/>
          </a:xfrm>
          <a:prstGeom prst="rect">
            <a:avLst/>
          </a:prstGeom>
        </p:spPr>
      </p:pic>
      <p:sp>
        <p:nvSpPr>
          <p:cNvPr id="19" name="Text 13"/>
          <p:cNvSpPr txBox="1"/>
          <p:nvPr/>
        </p:nvSpPr>
        <p:spPr>
          <a:xfrm>
            <a:off x="4910328" y="2267712"/>
            <a:ext cx="28803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Registrar / Cashier</a:t>
            </a:r>
            <a:endParaRPr lang="en-US" sz="1250" dirty="0"/>
          </a:p>
        </p:txBody>
      </p:sp>
      <p:sp>
        <p:nvSpPr>
          <p:cNvPr id="20" name="Text 14"/>
          <p:cNvSpPr txBox="1"/>
          <p:nvPr/>
        </p:nvSpPr>
        <p:spPr>
          <a:xfrm>
            <a:off x="4910328" y="2500884"/>
            <a:ext cx="2880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50"/>
              </a:lnSpc>
              <a:buNone/>
            </a:pPr>
            <a:r>
              <a:rPr lang="en-US" sz="1000" dirty="0">
                <a:solidFill>
                  <a:srgbClr val="9EAB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Enrolment, records, fees, receipts, forms</a:t>
            </a:r>
            <a:endParaRPr lang="en-US" sz="1000" dirty="0"/>
          </a:p>
        </p:txBody>
      </p:sp>
      <p:sp>
        <p:nvSpPr>
          <p:cNvPr id="21" name="Shape 15"/>
          <p:cNvSpPr/>
          <p:nvPr/>
        </p:nvSpPr>
        <p:spPr>
          <a:xfrm>
            <a:off x="4398264" y="3511296"/>
            <a:ext cx="384048" cy="384048"/>
          </a:xfrm>
          <a:prstGeom prst="ellipse">
            <a:avLst/>
          </a:prstGeom>
          <a:solidFill>
            <a:srgbClr val="2E3A70"/>
          </a:solidFill>
          <a:ln w="12700">
            <a:solidFill>
              <a:srgbClr val="2E3A70"/>
            </a:solidFill>
            <a:prstDash val="solid"/>
          </a:ln>
        </p:spPr>
      </p:sp>
      <p:pic>
        <p:nvPicPr>
          <p:cNvPr id="22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03420" y="3616452"/>
            <a:ext cx="173736" cy="173736"/>
          </a:xfrm>
          <a:prstGeom prst="rect">
            <a:avLst/>
          </a:prstGeom>
        </p:spPr>
      </p:pic>
      <p:sp>
        <p:nvSpPr>
          <p:cNvPr id="23" name="Text 16"/>
          <p:cNvSpPr txBox="1"/>
          <p:nvPr/>
        </p:nvSpPr>
        <p:spPr>
          <a:xfrm>
            <a:off x="4910328" y="3456432"/>
            <a:ext cx="28803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Faculty</a:t>
            </a:r>
            <a:endParaRPr lang="en-US" sz="1250" dirty="0"/>
          </a:p>
        </p:txBody>
      </p:sp>
      <p:sp>
        <p:nvSpPr>
          <p:cNvPr id="24" name="Text 17"/>
          <p:cNvSpPr txBox="1"/>
          <p:nvPr/>
        </p:nvSpPr>
        <p:spPr>
          <a:xfrm>
            <a:off x="4910328" y="3689604"/>
            <a:ext cx="2880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50"/>
              </a:lnSpc>
              <a:buNone/>
            </a:pPr>
            <a:r>
              <a:rPr lang="en-US" sz="1000" dirty="0">
                <a:solidFill>
                  <a:srgbClr val="9EAB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Coursework, grades, attendance, materials</a:t>
            </a:r>
            <a:endParaRPr lang="en-US" sz="1000" dirty="0"/>
          </a:p>
        </p:txBody>
      </p:sp>
      <p:sp>
        <p:nvSpPr>
          <p:cNvPr id="25" name="Shape 18"/>
          <p:cNvSpPr/>
          <p:nvPr/>
        </p:nvSpPr>
        <p:spPr>
          <a:xfrm>
            <a:off x="4398264" y="4700016"/>
            <a:ext cx="384048" cy="384048"/>
          </a:xfrm>
          <a:prstGeom prst="ellipse">
            <a:avLst/>
          </a:prstGeom>
          <a:solidFill>
            <a:srgbClr val="2E3A70"/>
          </a:solidFill>
          <a:ln w="12700">
            <a:solidFill>
              <a:srgbClr val="2E3A70"/>
            </a:solidFill>
            <a:prstDash val="solid"/>
          </a:ln>
        </p:spPr>
      </p:sp>
      <p:pic>
        <p:nvPicPr>
          <p:cNvPr id="26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503420" y="4805172"/>
            <a:ext cx="173736" cy="173736"/>
          </a:xfrm>
          <a:prstGeom prst="rect">
            <a:avLst/>
          </a:prstGeom>
        </p:spPr>
      </p:pic>
      <p:sp>
        <p:nvSpPr>
          <p:cNvPr id="27" name="Text 19"/>
          <p:cNvSpPr txBox="1"/>
          <p:nvPr/>
        </p:nvSpPr>
        <p:spPr>
          <a:xfrm>
            <a:off x="4910328" y="4645152"/>
            <a:ext cx="28803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Guidance</a:t>
            </a:r>
            <a:endParaRPr lang="en-US" sz="1250" dirty="0"/>
          </a:p>
        </p:txBody>
      </p:sp>
      <p:sp>
        <p:nvSpPr>
          <p:cNvPr id="28" name="Text 20"/>
          <p:cNvSpPr txBox="1"/>
          <p:nvPr/>
        </p:nvSpPr>
        <p:spPr>
          <a:xfrm>
            <a:off x="4910328" y="4878324"/>
            <a:ext cx="2880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50"/>
              </a:lnSpc>
              <a:buNone/>
            </a:pPr>
            <a:r>
              <a:rPr lang="en-US" sz="1000" dirty="0">
                <a:solidFill>
                  <a:srgbClr val="9EAB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Counselling records and student summons</a:t>
            </a:r>
            <a:endParaRPr lang="en-US" sz="1000" dirty="0"/>
          </a:p>
        </p:txBody>
      </p:sp>
      <p:sp>
        <p:nvSpPr>
          <p:cNvPr id="29" name="Shape 21"/>
          <p:cNvSpPr/>
          <p:nvPr/>
        </p:nvSpPr>
        <p:spPr>
          <a:xfrm>
            <a:off x="8156448" y="2322576"/>
            <a:ext cx="384048" cy="384048"/>
          </a:xfrm>
          <a:prstGeom prst="ellipse">
            <a:avLst/>
          </a:prstGeom>
          <a:solidFill>
            <a:srgbClr val="2E3A70"/>
          </a:solidFill>
          <a:ln w="12700">
            <a:solidFill>
              <a:srgbClr val="2E3A70"/>
            </a:solidFill>
            <a:prstDash val="solid"/>
          </a:ln>
        </p:spPr>
      </p:sp>
      <p:pic>
        <p:nvPicPr>
          <p:cNvPr id="30" name="Image 6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261604" y="2427732"/>
            <a:ext cx="173736" cy="173736"/>
          </a:xfrm>
          <a:prstGeom prst="rect">
            <a:avLst/>
          </a:prstGeom>
        </p:spPr>
      </p:pic>
      <p:sp>
        <p:nvSpPr>
          <p:cNvPr id="31" name="Text 22"/>
          <p:cNvSpPr txBox="1"/>
          <p:nvPr/>
        </p:nvSpPr>
        <p:spPr>
          <a:xfrm>
            <a:off x="8668512" y="2267712"/>
            <a:ext cx="28803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Staff</a:t>
            </a:r>
            <a:endParaRPr lang="en-US" sz="1250" dirty="0"/>
          </a:p>
        </p:txBody>
      </p:sp>
      <p:sp>
        <p:nvSpPr>
          <p:cNvPr id="32" name="Text 23"/>
          <p:cNvSpPr txBox="1"/>
          <p:nvPr/>
        </p:nvSpPr>
        <p:spPr>
          <a:xfrm>
            <a:off x="8668512" y="2500884"/>
            <a:ext cx="2880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50"/>
              </a:lnSpc>
              <a:buNone/>
            </a:pPr>
            <a:r>
              <a:rPr lang="en-US" sz="1000" dirty="0">
                <a:solidFill>
                  <a:srgbClr val="9EAB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Daily checklist, work log, material requests</a:t>
            </a:r>
            <a:endParaRPr lang="en-US" sz="1000" dirty="0"/>
          </a:p>
        </p:txBody>
      </p:sp>
      <p:sp>
        <p:nvSpPr>
          <p:cNvPr id="33" name="Shape 24"/>
          <p:cNvSpPr/>
          <p:nvPr/>
        </p:nvSpPr>
        <p:spPr>
          <a:xfrm>
            <a:off x="8156448" y="3511296"/>
            <a:ext cx="384048" cy="384048"/>
          </a:xfrm>
          <a:prstGeom prst="ellipse">
            <a:avLst/>
          </a:prstGeom>
          <a:solidFill>
            <a:srgbClr val="2E3A70"/>
          </a:solidFill>
          <a:ln w="12700">
            <a:solidFill>
              <a:srgbClr val="2E3A70"/>
            </a:solidFill>
            <a:prstDash val="solid"/>
          </a:ln>
        </p:spPr>
      </p:sp>
      <p:pic>
        <p:nvPicPr>
          <p:cNvPr id="34" name="Image 7" descr="preencoded.p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8261604" y="3616452"/>
            <a:ext cx="173736" cy="173736"/>
          </a:xfrm>
          <a:prstGeom prst="rect">
            <a:avLst/>
          </a:prstGeom>
        </p:spPr>
      </p:pic>
      <p:sp>
        <p:nvSpPr>
          <p:cNvPr id="35" name="Text 25"/>
          <p:cNvSpPr txBox="1"/>
          <p:nvPr/>
        </p:nvSpPr>
        <p:spPr>
          <a:xfrm>
            <a:off x="8668512" y="3456432"/>
            <a:ext cx="28803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Student</a:t>
            </a:r>
            <a:endParaRPr lang="en-US" sz="1250" dirty="0"/>
          </a:p>
        </p:txBody>
      </p:sp>
      <p:sp>
        <p:nvSpPr>
          <p:cNvPr id="36" name="Text 26"/>
          <p:cNvSpPr txBox="1"/>
          <p:nvPr/>
        </p:nvSpPr>
        <p:spPr>
          <a:xfrm>
            <a:off x="8668512" y="3689604"/>
            <a:ext cx="2880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50"/>
              </a:lnSpc>
              <a:buNone/>
            </a:pPr>
            <a:r>
              <a:rPr lang="en-US" sz="1000" dirty="0">
                <a:solidFill>
                  <a:srgbClr val="9EAB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Subjects, timetable, marks, balance, ID</a:t>
            </a:r>
            <a:endParaRPr lang="en-US" sz="1000" dirty="0"/>
          </a:p>
        </p:txBody>
      </p:sp>
      <p:sp>
        <p:nvSpPr>
          <p:cNvPr id="37" name="Shape 27"/>
          <p:cNvSpPr/>
          <p:nvPr/>
        </p:nvSpPr>
        <p:spPr>
          <a:xfrm>
            <a:off x="8156448" y="4700016"/>
            <a:ext cx="384048" cy="384048"/>
          </a:xfrm>
          <a:prstGeom prst="ellipse">
            <a:avLst/>
          </a:prstGeom>
          <a:solidFill>
            <a:srgbClr val="2E3A70"/>
          </a:solidFill>
          <a:ln w="12700">
            <a:solidFill>
              <a:srgbClr val="2E3A70"/>
            </a:solidFill>
            <a:prstDash val="solid"/>
          </a:ln>
        </p:spPr>
      </p:sp>
      <p:pic>
        <p:nvPicPr>
          <p:cNvPr id="38" name="Image 8" descr="preencoded.png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8261604" y="4805172"/>
            <a:ext cx="173736" cy="173736"/>
          </a:xfrm>
          <a:prstGeom prst="rect">
            <a:avLst/>
          </a:prstGeom>
        </p:spPr>
      </p:pic>
      <p:sp>
        <p:nvSpPr>
          <p:cNvPr id="39" name="Text 28"/>
          <p:cNvSpPr txBox="1"/>
          <p:nvPr/>
        </p:nvSpPr>
        <p:spPr>
          <a:xfrm>
            <a:off x="8668512" y="4645152"/>
            <a:ext cx="28803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Parent</a:t>
            </a:r>
            <a:endParaRPr lang="en-US" sz="1250" dirty="0"/>
          </a:p>
        </p:txBody>
      </p:sp>
      <p:sp>
        <p:nvSpPr>
          <p:cNvPr id="40" name="Text 29"/>
          <p:cNvSpPr txBox="1"/>
          <p:nvPr/>
        </p:nvSpPr>
        <p:spPr>
          <a:xfrm>
            <a:off x="8668512" y="4878324"/>
            <a:ext cx="2880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50"/>
              </a:lnSpc>
              <a:buNone/>
            </a:pPr>
            <a:r>
              <a:rPr lang="en-US" sz="1000" dirty="0">
                <a:solidFill>
                  <a:srgbClr val="9EAB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linked child in one place</a:t>
            </a:r>
            <a:endParaRPr lang="en-US" sz="1000" dirty="0"/>
          </a:p>
        </p:txBody>
      </p:sp>
      <p:sp>
        <p:nvSpPr>
          <p:cNvPr id="41" name="Text 30"/>
          <p:cNvSpPr txBox="1"/>
          <p:nvPr/>
        </p:nvSpPr>
        <p:spPr>
          <a:xfrm>
            <a:off x="640080" y="5943600"/>
            <a:ext cx="1090879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E8A3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Each account sees one portal. No shared screen, no shared password, no "admin mode".</a:t>
            </a:r>
            <a:endParaRPr lang="en-US" sz="15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38912"/>
            <a:ext cx="1090879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40" kern="0" dirty="0">
                <a:solidFill>
                  <a:srgbClr val="E8A3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DIRECTOR PORTAL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694944"/>
            <a:ext cx="10908792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Every button on the Director's screen</a:t>
            </a:r>
            <a:endParaRPr lang="en-US" sz="32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1371600"/>
            <a:ext cx="8945209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Opens on four live figures for today: attendance rate, collections, pending approvals and upcoming meetings.</a:t>
            </a:r>
            <a:endParaRPr lang="en-US" sz="1350" dirty="0"/>
          </a:p>
        </p:txBody>
      </p:sp>
      <p:sp>
        <p:nvSpPr>
          <p:cNvPr id="5" name="Shape 3"/>
          <p:cNvSpPr/>
          <p:nvPr/>
        </p:nvSpPr>
        <p:spPr>
          <a:xfrm>
            <a:off x="640080" y="2002536"/>
            <a:ext cx="384048" cy="384048"/>
          </a:xfrm>
          <a:prstGeom prst="ellipse">
            <a:avLst/>
          </a:prstGeom>
          <a:solidFill>
            <a:srgbClr val="CADCFC"/>
          </a:solidFill>
          <a:ln w="12700">
            <a:solidFill>
              <a:srgbClr val="CADCFC"/>
            </a:solidFill>
            <a:prstDash val="solid"/>
          </a:ln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45236" y="2107692"/>
            <a:ext cx="173736" cy="173736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1152144" y="1947672"/>
            <a:ext cx="47137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Announcements</a:t>
            </a:r>
            <a:endParaRPr lang="en-US" sz="1250" dirty="0"/>
          </a:p>
        </p:txBody>
      </p:sp>
      <p:sp>
        <p:nvSpPr>
          <p:cNvPr id="8" name="Text 5"/>
          <p:cNvSpPr txBox="1"/>
          <p:nvPr/>
        </p:nvSpPr>
        <p:spPr>
          <a:xfrm>
            <a:off x="1152144" y="2180844"/>
            <a:ext cx="471373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50"/>
              </a:lnSpc>
              <a:buNone/>
            </a:pPr>
            <a:r>
              <a:rPr lang="en-US" sz="100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Post to everyone or pick the roles; pin one to the top</a:t>
            </a:r>
            <a:endParaRPr lang="en-US" sz="1000" dirty="0"/>
          </a:p>
        </p:txBody>
      </p:sp>
      <p:sp>
        <p:nvSpPr>
          <p:cNvPr id="9" name="Shape 6"/>
          <p:cNvSpPr/>
          <p:nvPr/>
        </p:nvSpPr>
        <p:spPr>
          <a:xfrm>
            <a:off x="640080" y="2670048"/>
            <a:ext cx="384048" cy="384048"/>
          </a:xfrm>
          <a:prstGeom prst="ellipse">
            <a:avLst/>
          </a:prstGeom>
          <a:solidFill>
            <a:srgbClr val="CADCFC"/>
          </a:solidFill>
          <a:ln w="12700">
            <a:solidFill>
              <a:srgbClr val="CADCFC"/>
            </a:solidFill>
            <a:prstDash val="solid"/>
          </a:ln>
        </p:spPr>
      </p:sp>
      <p:pic>
        <p:nvPicPr>
          <p:cNvPr id="10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5236" y="2775204"/>
            <a:ext cx="173736" cy="173736"/>
          </a:xfrm>
          <a:prstGeom prst="rect">
            <a:avLst/>
          </a:prstGeom>
        </p:spPr>
      </p:pic>
      <p:sp>
        <p:nvSpPr>
          <p:cNvPr id="11" name="Text 7"/>
          <p:cNvSpPr txBox="1"/>
          <p:nvPr/>
        </p:nvSpPr>
        <p:spPr>
          <a:xfrm>
            <a:off x="1152144" y="2615184"/>
            <a:ext cx="47137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Meeting Scheduler</a:t>
            </a:r>
            <a:endParaRPr lang="en-US" sz="1250" dirty="0"/>
          </a:p>
        </p:txBody>
      </p:sp>
      <p:sp>
        <p:nvSpPr>
          <p:cNvPr id="12" name="Text 8"/>
          <p:cNvSpPr txBox="1"/>
          <p:nvPr/>
        </p:nvSpPr>
        <p:spPr>
          <a:xfrm>
            <a:off x="1152144" y="2848356"/>
            <a:ext cx="471373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50"/>
              </a:lnSpc>
              <a:buNone/>
            </a:pPr>
            <a:r>
              <a:rPr lang="en-US" sz="100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Title, description, location, start and end; cancel a meeting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640080" y="3337560"/>
            <a:ext cx="384048" cy="384048"/>
          </a:xfrm>
          <a:prstGeom prst="ellipse">
            <a:avLst/>
          </a:prstGeom>
          <a:solidFill>
            <a:srgbClr val="CADCFC"/>
          </a:solidFill>
          <a:ln w="12700">
            <a:solidFill>
              <a:srgbClr val="CADCFC"/>
            </a:solidFill>
            <a:prstDash val="solid"/>
          </a:ln>
        </p:spPr>
      </p:sp>
      <p:pic>
        <p:nvPicPr>
          <p:cNvPr id="14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45236" y="3442716"/>
            <a:ext cx="173736" cy="173736"/>
          </a:xfrm>
          <a:prstGeom prst="rect">
            <a:avLst/>
          </a:prstGeom>
        </p:spPr>
      </p:pic>
      <p:sp>
        <p:nvSpPr>
          <p:cNvPr id="15" name="Text 10"/>
          <p:cNvSpPr txBox="1"/>
          <p:nvPr/>
        </p:nvSpPr>
        <p:spPr>
          <a:xfrm>
            <a:off x="1152144" y="3282696"/>
            <a:ext cx="47137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Approvals</a:t>
            </a:r>
            <a:endParaRPr lang="en-US" sz="1250" dirty="0"/>
          </a:p>
        </p:txBody>
      </p:sp>
      <p:sp>
        <p:nvSpPr>
          <p:cNvPr id="16" name="Text 11"/>
          <p:cNvSpPr txBox="1"/>
          <p:nvPr/>
        </p:nvSpPr>
        <p:spPr>
          <a:xfrm>
            <a:off x="1152144" y="3515868"/>
            <a:ext cx="471373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50"/>
              </a:lnSpc>
              <a:buNone/>
            </a:pPr>
            <a:r>
              <a:rPr lang="en-US" sz="100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inbox for every request in the school. Every decision records who made it, when, and what they were deciding</a:t>
            </a:r>
            <a:endParaRPr lang="en-US" sz="1000" dirty="0"/>
          </a:p>
        </p:txBody>
      </p:sp>
      <p:sp>
        <p:nvSpPr>
          <p:cNvPr id="17" name="Shape 12"/>
          <p:cNvSpPr/>
          <p:nvPr/>
        </p:nvSpPr>
        <p:spPr>
          <a:xfrm>
            <a:off x="640080" y="4005072"/>
            <a:ext cx="384048" cy="384048"/>
          </a:xfrm>
          <a:prstGeom prst="ellipse">
            <a:avLst/>
          </a:prstGeom>
          <a:solidFill>
            <a:srgbClr val="CADCFC"/>
          </a:solidFill>
          <a:ln w="12700">
            <a:solidFill>
              <a:srgbClr val="CADCFC"/>
            </a:solidFill>
            <a:prstDash val="solid"/>
          </a:ln>
        </p:spPr>
      </p:sp>
      <p:pic>
        <p:nvPicPr>
          <p:cNvPr id="18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45236" y="4110228"/>
            <a:ext cx="173736" cy="173736"/>
          </a:xfrm>
          <a:prstGeom prst="rect">
            <a:avLst/>
          </a:prstGeom>
        </p:spPr>
      </p:pic>
      <p:sp>
        <p:nvSpPr>
          <p:cNvPr id="19" name="Text 13"/>
          <p:cNvSpPr txBox="1"/>
          <p:nvPr/>
        </p:nvSpPr>
        <p:spPr>
          <a:xfrm>
            <a:off x="1152144" y="3950208"/>
            <a:ext cx="47137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Class Schedule</a:t>
            </a:r>
            <a:endParaRPr lang="en-US" sz="1250" dirty="0"/>
          </a:p>
        </p:txBody>
      </p:sp>
      <p:sp>
        <p:nvSpPr>
          <p:cNvPr id="20" name="Text 14"/>
          <p:cNvSpPr txBox="1"/>
          <p:nvPr/>
        </p:nvSpPr>
        <p:spPr>
          <a:xfrm>
            <a:off x="1152144" y="4183380"/>
            <a:ext cx="471373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50"/>
              </a:lnSpc>
              <a:buNone/>
            </a:pPr>
            <a:r>
              <a:rPr lang="en-US" sz="100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week's timetable for every section, with clash detection</a:t>
            </a:r>
            <a:endParaRPr lang="en-US" sz="1000" dirty="0"/>
          </a:p>
        </p:txBody>
      </p:sp>
      <p:sp>
        <p:nvSpPr>
          <p:cNvPr id="21" name="Shape 15"/>
          <p:cNvSpPr/>
          <p:nvPr/>
        </p:nvSpPr>
        <p:spPr>
          <a:xfrm>
            <a:off x="640080" y="4672584"/>
            <a:ext cx="384048" cy="384048"/>
          </a:xfrm>
          <a:prstGeom prst="ellipse">
            <a:avLst/>
          </a:prstGeom>
          <a:solidFill>
            <a:srgbClr val="CADCFC"/>
          </a:solidFill>
          <a:ln w="12700">
            <a:solidFill>
              <a:srgbClr val="CADCFC"/>
            </a:solidFill>
            <a:prstDash val="solid"/>
          </a:ln>
        </p:spPr>
      </p:sp>
      <p:pic>
        <p:nvPicPr>
          <p:cNvPr id="22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45236" y="4777740"/>
            <a:ext cx="173736" cy="173736"/>
          </a:xfrm>
          <a:prstGeom prst="rect">
            <a:avLst/>
          </a:prstGeom>
        </p:spPr>
      </p:pic>
      <p:sp>
        <p:nvSpPr>
          <p:cNvPr id="23" name="Text 16"/>
          <p:cNvSpPr txBox="1"/>
          <p:nvPr/>
        </p:nvSpPr>
        <p:spPr>
          <a:xfrm>
            <a:off x="1152144" y="4617720"/>
            <a:ext cx="47137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System Check</a:t>
            </a:r>
            <a:endParaRPr lang="en-US" sz="1250" dirty="0"/>
          </a:p>
        </p:txBody>
      </p:sp>
      <p:sp>
        <p:nvSpPr>
          <p:cNvPr id="24" name="Text 17"/>
          <p:cNvSpPr txBox="1"/>
          <p:nvPr/>
        </p:nvSpPr>
        <p:spPr>
          <a:xfrm>
            <a:off x="1152144" y="4850892"/>
            <a:ext cx="471373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50"/>
              </a:lnSpc>
              <a:buNone/>
            </a:pPr>
            <a:r>
              <a:rPr lang="en-US" sz="100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Seven readiness checks before a school goes live</a:t>
            </a:r>
            <a:endParaRPr lang="en-US" sz="1000" dirty="0"/>
          </a:p>
        </p:txBody>
      </p:sp>
      <p:sp>
        <p:nvSpPr>
          <p:cNvPr id="25" name="Shape 18"/>
          <p:cNvSpPr/>
          <p:nvPr/>
        </p:nvSpPr>
        <p:spPr>
          <a:xfrm>
            <a:off x="640080" y="5340096"/>
            <a:ext cx="384048" cy="384048"/>
          </a:xfrm>
          <a:prstGeom prst="ellipse">
            <a:avLst/>
          </a:prstGeom>
          <a:solidFill>
            <a:srgbClr val="CADCFC"/>
          </a:solidFill>
          <a:ln w="12700">
            <a:solidFill>
              <a:srgbClr val="CADCFC"/>
            </a:solidFill>
            <a:prstDash val="solid"/>
          </a:ln>
        </p:spPr>
      </p:sp>
      <p:pic>
        <p:nvPicPr>
          <p:cNvPr id="26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45236" y="5445252"/>
            <a:ext cx="173736" cy="173736"/>
          </a:xfrm>
          <a:prstGeom prst="rect">
            <a:avLst/>
          </a:prstGeom>
        </p:spPr>
      </p:pic>
      <p:sp>
        <p:nvSpPr>
          <p:cNvPr id="27" name="Text 19"/>
          <p:cNvSpPr txBox="1"/>
          <p:nvPr/>
        </p:nvSpPr>
        <p:spPr>
          <a:xfrm>
            <a:off x="1152144" y="5285232"/>
            <a:ext cx="47137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 Requests</a:t>
            </a:r>
            <a:endParaRPr lang="en-US" sz="1250" dirty="0"/>
          </a:p>
        </p:txBody>
      </p:sp>
      <p:sp>
        <p:nvSpPr>
          <p:cNvPr id="28" name="Text 20"/>
          <p:cNvSpPr txBox="1"/>
          <p:nvPr/>
        </p:nvSpPr>
        <p:spPr>
          <a:xfrm>
            <a:off x="1152144" y="5518404"/>
            <a:ext cx="471373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50"/>
              </a:lnSpc>
              <a:buNone/>
            </a:pPr>
            <a:r>
              <a:rPr lang="en-US" sz="100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families have asked about their data, and what was answered</a:t>
            </a:r>
            <a:endParaRPr lang="en-US" sz="1000" dirty="0"/>
          </a:p>
        </p:txBody>
      </p:sp>
      <p:sp>
        <p:nvSpPr>
          <p:cNvPr id="29" name="Shape 21"/>
          <p:cNvSpPr/>
          <p:nvPr/>
        </p:nvSpPr>
        <p:spPr>
          <a:xfrm>
            <a:off x="6323076" y="2002536"/>
            <a:ext cx="384048" cy="384048"/>
          </a:xfrm>
          <a:prstGeom prst="ellipse">
            <a:avLst/>
          </a:prstGeom>
          <a:solidFill>
            <a:srgbClr val="CADCFC"/>
          </a:solidFill>
          <a:ln w="12700">
            <a:solidFill>
              <a:srgbClr val="CADCFC"/>
            </a:solidFill>
            <a:prstDash val="solid"/>
          </a:ln>
        </p:spPr>
      </p:sp>
      <p:pic>
        <p:nvPicPr>
          <p:cNvPr id="30" name="Image 6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428232" y="2107692"/>
            <a:ext cx="173736" cy="173736"/>
          </a:xfrm>
          <a:prstGeom prst="rect">
            <a:avLst/>
          </a:prstGeom>
        </p:spPr>
      </p:pic>
      <p:sp>
        <p:nvSpPr>
          <p:cNvPr id="31" name="Text 22"/>
          <p:cNvSpPr txBox="1"/>
          <p:nvPr/>
        </p:nvSpPr>
        <p:spPr>
          <a:xfrm>
            <a:off x="6835140" y="1947672"/>
            <a:ext cx="47137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Reports</a:t>
            </a:r>
            <a:endParaRPr lang="en-US" sz="1250" dirty="0"/>
          </a:p>
        </p:txBody>
      </p:sp>
      <p:sp>
        <p:nvSpPr>
          <p:cNvPr id="32" name="Text 23"/>
          <p:cNvSpPr txBox="1"/>
          <p:nvPr/>
        </p:nvSpPr>
        <p:spPr>
          <a:xfrm>
            <a:off x="6835140" y="2180844"/>
            <a:ext cx="471373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50"/>
              </a:lnSpc>
              <a:buNone/>
            </a:pPr>
            <a:r>
              <a:rPr lang="en-US" sz="100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Enrolment, collections, attendance and grades - on screen, to Excel, or printed</a:t>
            </a:r>
            <a:endParaRPr lang="en-US" sz="1000" dirty="0"/>
          </a:p>
        </p:txBody>
      </p:sp>
      <p:sp>
        <p:nvSpPr>
          <p:cNvPr id="33" name="Shape 24"/>
          <p:cNvSpPr/>
          <p:nvPr/>
        </p:nvSpPr>
        <p:spPr>
          <a:xfrm>
            <a:off x="6323076" y="2670048"/>
            <a:ext cx="384048" cy="384048"/>
          </a:xfrm>
          <a:prstGeom prst="ellipse">
            <a:avLst/>
          </a:prstGeom>
          <a:solidFill>
            <a:srgbClr val="CADCFC"/>
          </a:solidFill>
          <a:ln w="12700">
            <a:solidFill>
              <a:srgbClr val="CADCFC"/>
            </a:solidFill>
            <a:prstDash val="solid"/>
          </a:ln>
        </p:spPr>
      </p:sp>
      <p:pic>
        <p:nvPicPr>
          <p:cNvPr id="34" name="Image 7" descr="preencoded.p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428232" y="2775204"/>
            <a:ext cx="173736" cy="173736"/>
          </a:xfrm>
          <a:prstGeom prst="rect">
            <a:avLst/>
          </a:prstGeom>
        </p:spPr>
      </p:pic>
      <p:sp>
        <p:nvSpPr>
          <p:cNvPr id="35" name="Text 25"/>
          <p:cNvSpPr txBox="1"/>
          <p:nvPr/>
        </p:nvSpPr>
        <p:spPr>
          <a:xfrm>
            <a:off x="6835140" y="2615184"/>
            <a:ext cx="47137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Fee Schedules</a:t>
            </a:r>
            <a:endParaRPr lang="en-US" sz="1250" dirty="0"/>
          </a:p>
        </p:txBody>
      </p:sp>
      <p:sp>
        <p:nvSpPr>
          <p:cNvPr id="36" name="Text 26"/>
          <p:cNvSpPr txBox="1"/>
          <p:nvPr/>
        </p:nvSpPr>
        <p:spPr>
          <a:xfrm>
            <a:off x="6835140" y="2848356"/>
            <a:ext cx="471373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50"/>
              </a:lnSpc>
              <a:buNone/>
            </a:pPr>
            <a:r>
              <a:rPr lang="en-US" sz="100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Define the fee sets the cashier assesses against</a:t>
            </a:r>
            <a:endParaRPr lang="en-US" sz="1000" dirty="0"/>
          </a:p>
        </p:txBody>
      </p:sp>
      <p:sp>
        <p:nvSpPr>
          <p:cNvPr id="37" name="Shape 27"/>
          <p:cNvSpPr/>
          <p:nvPr/>
        </p:nvSpPr>
        <p:spPr>
          <a:xfrm>
            <a:off x="6323076" y="3337560"/>
            <a:ext cx="384048" cy="384048"/>
          </a:xfrm>
          <a:prstGeom prst="ellipse">
            <a:avLst/>
          </a:prstGeom>
          <a:solidFill>
            <a:srgbClr val="CADCFC"/>
          </a:solidFill>
          <a:ln w="12700">
            <a:solidFill>
              <a:srgbClr val="CADCFC"/>
            </a:solidFill>
            <a:prstDash val="solid"/>
          </a:ln>
        </p:spPr>
      </p:sp>
      <p:pic>
        <p:nvPicPr>
          <p:cNvPr id="38" name="Image 8" descr="preencoded.png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6428232" y="3442716"/>
            <a:ext cx="173736" cy="173736"/>
          </a:xfrm>
          <a:prstGeom prst="rect">
            <a:avLst/>
          </a:prstGeom>
        </p:spPr>
      </p:pic>
      <p:sp>
        <p:nvSpPr>
          <p:cNvPr id="39" name="Text 28"/>
          <p:cNvSpPr txBox="1"/>
          <p:nvPr/>
        </p:nvSpPr>
        <p:spPr>
          <a:xfrm>
            <a:off x="6835140" y="3282696"/>
            <a:ext cx="47137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Expenses</a:t>
            </a:r>
            <a:endParaRPr lang="en-US" sz="1250" dirty="0"/>
          </a:p>
        </p:txBody>
      </p:sp>
      <p:sp>
        <p:nvSpPr>
          <p:cNvPr id="40" name="Text 29"/>
          <p:cNvSpPr txBox="1"/>
          <p:nvPr/>
        </p:nvSpPr>
        <p:spPr>
          <a:xfrm>
            <a:off x="6835140" y="3515868"/>
            <a:ext cx="471373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50"/>
              </a:lnSpc>
              <a:buNone/>
            </a:pPr>
            <a:r>
              <a:rPr lang="en-US" sz="100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Record school spending by category, or import a spreadsheet of it</a:t>
            </a:r>
            <a:endParaRPr lang="en-US" sz="1000" dirty="0"/>
          </a:p>
        </p:txBody>
      </p:sp>
      <p:sp>
        <p:nvSpPr>
          <p:cNvPr id="41" name="Shape 30"/>
          <p:cNvSpPr/>
          <p:nvPr/>
        </p:nvSpPr>
        <p:spPr>
          <a:xfrm>
            <a:off x="6323076" y="4005072"/>
            <a:ext cx="384048" cy="384048"/>
          </a:xfrm>
          <a:prstGeom prst="ellipse">
            <a:avLst/>
          </a:prstGeom>
          <a:solidFill>
            <a:srgbClr val="CADCFC"/>
          </a:solidFill>
          <a:ln w="12700">
            <a:solidFill>
              <a:srgbClr val="CADCFC"/>
            </a:solidFill>
            <a:prstDash val="solid"/>
          </a:ln>
        </p:spPr>
      </p:sp>
      <p:pic>
        <p:nvPicPr>
          <p:cNvPr id="42" name="Image 9" descr="preencoded.png">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6428232" y="4110228"/>
            <a:ext cx="173736" cy="173736"/>
          </a:xfrm>
          <a:prstGeom prst="rect">
            <a:avLst/>
          </a:prstGeom>
        </p:spPr>
      </p:pic>
      <p:sp>
        <p:nvSpPr>
          <p:cNvPr id="43" name="Text 31"/>
          <p:cNvSpPr txBox="1"/>
          <p:nvPr/>
        </p:nvSpPr>
        <p:spPr>
          <a:xfrm>
            <a:off x="6835140" y="3950208"/>
            <a:ext cx="47137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Emergency Numbers</a:t>
            </a:r>
            <a:endParaRPr lang="en-US" sz="1250" dirty="0"/>
          </a:p>
        </p:txBody>
      </p:sp>
      <p:sp>
        <p:nvSpPr>
          <p:cNvPr id="44" name="Text 32"/>
          <p:cNvSpPr txBox="1"/>
          <p:nvPr/>
        </p:nvSpPr>
        <p:spPr>
          <a:xfrm>
            <a:off x="6835140" y="4183380"/>
            <a:ext cx="471373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50"/>
              </a:lnSpc>
              <a:buNone/>
            </a:pPr>
            <a:r>
              <a:rPr lang="en-US" sz="100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list every phone in the school can dial from</a:t>
            </a:r>
            <a:endParaRPr lang="en-US" sz="1000" dirty="0"/>
          </a:p>
        </p:txBody>
      </p:sp>
      <p:sp>
        <p:nvSpPr>
          <p:cNvPr id="45" name="Shape 33"/>
          <p:cNvSpPr/>
          <p:nvPr/>
        </p:nvSpPr>
        <p:spPr>
          <a:xfrm>
            <a:off x="6323076" y="4672584"/>
            <a:ext cx="384048" cy="384048"/>
          </a:xfrm>
          <a:prstGeom prst="ellipse">
            <a:avLst/>
          </a:prstGeom>
          <a:solidFill>
            <a:srgbClr val="CADCFC"/>
          </a:solidFill>
          <a:ln w="12700">
            <a:solidFill>
              <a:srgbClr val="CADCFC"/>
            </a:solidFill>
            <a:prstDash val="solid"/>
          </a:ln>
        </p:spPr>
      </p:sp>
      <p:pic>
        <p:nvPicPr>
          <p:cNvPr id="46" name="Image 10" descr="preencoded.png">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6428232" y="4777740"/>
            <a:ext cx="173736" cy="173736"/>
          </a:xfrm>
          <a:prstGeom prst="rect">
            <a:avLst/>
          </a:prstGeom>
        </p:spPr>
      </p:pic>
      <p:sp>
        <p:nvSpPr>
          <p:cNvPr id="47" name="Text 34"/>
          <p:cNvSpPr txBox="1"/>
          <p:nvPr/>
        </p:nvSpPr>
        <p:spPr>
          <a:xfrm>
            <a:off x="6835140" y="4617720"/>
            <a:ext cx="47137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Audit Trail</a:t>
            </a:r>
            <a:endParaRPr lang="en-US" sz="1250" dirty="0"/>
          </a:p>
        </p:txBody>
      </p:sp>
      <p:sp>
        <p:nvSpPr>
          <p:cNvPr id="48" name="Text 35"/>
          <p:cNvSpPr txBox="1"/>
          <p:nvPr/>
        </p:nvSpPr>
        <p:spPr>
          <a:xfrm>
            <a:off x="6835140" y="4850892"/>
            <a:ext cx="471373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50"/>
              </a:lnSpc>
              <a:buNone/>
            </a:pPr>
            <a:r>
              <a:rPr lang="en-US" sz="100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change made in the school, filterable by module and date</a:t>
            </a:r>
            <a:endParaRPr lang="en-US" sz="1000" dirty="0"/>
          </a:p>
        </p:txBody>
      </p:sp>
      <p:sp>
        <p:nvSpPr>
          <p:cNvPr id="49" name="Shape 36"/>
          <p:cNvSpPr/>
          <p:nvPr/>
        </p:nvSpPr>
        <p:spPr>
          <a:xfrm>
            <a:off x="6323076" y="5340096"/>
            <a:ext cx="384048" cy="384048"/>
          </a:xfrm>
          <a:prstGeom prst="ellipse">
            <a:avLst/>
          </a:prstGeom>
          <a:solidFill>
            <a:srgbClr val="CADCFC"/>
          </a:solidFill>
          <a:ln w="12700">
            <a:solidFill>
              <a:srgbClr val="CADCFC"/>
            </a:solidFill>
            <a:prstDash val="solid"/>
          </a:ln>
        </p:spPr>
      </p:sp>
      <p:pic>
        <p:nvPicPr>
          <p:cNvPr id="50" name="Image 11" descr="preencoded.png">    </p:cNvPr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6428232" y="5445252"/>
            <a:ext cx="173736" cy="173736"/>
          </a:xfrm>
          <a:prstGeom prst="rect">
            <a:avLst/>
          </a:prstGeom>
        </p:spPr>
      </p:pic>
      <p:sp>
        <p:nvSpPr>
          <p:cNvPr id="51" name="Text 37"/>
          <p:cNvSpPr txBox="1"/>
          <p:nvPr/>
        </p:nvSpPr>
        <p:spPr>
          <a:xfrm>
            <a:off x="6835140" y="5285232"/>
            <a:ext cx="47137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My Activity</a:t>
            </a:r>
            <a:endParaRPr lang="en-US" sz="1250" dirty="0"/>
          </a:p>
        </p:txBody>
      </p:sp>
      <p:sp>
        <p:nvSpPr>
          <p:cNvPr id="52" name="Text 38"/>
          <p:cNvSpPr txBox="1"/>
          <p:nvPr/>
        </p:nvSpPr>
        <p:spPr>
          <a:xfrm>
            <a:off x="6835140" y="5518404"/>
            <a:ext cx="471373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50"/>
              </a:lnSpc>
              <a:buNone/>
            </a:pPr>
            <a:r>
              <a:rPr lang="en-US" sz="100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same trail, narrowed to what you did</a:t>
            </a:r>
            <a:endParaRPr lang="en-US" sz="1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38912"/>
            <a:ext cx="1090879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40" kern="0" dirty="0">
                <a:solidFill>
                  <a:srgbClr val="E8A3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PRINCIPAL PORTAL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694944"/>
            <a:ext cx="10908792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Academic leadership, scoped to one division</a:t>
            </a:r>
            <a:endParaRPr lang="en-US" sz="32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1371600"/>
            <a:ext cx="8945209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Principal is set to Elementary, Junior High, Senior High or College - and the records they can open stop at that line. Oversight, not data entry: grades stay the teacher's, records stay the registrar's.</a:t>
            </a:r>
            <a:endParaRPr lang="en-US" sz="1350" dirty="0"/>
          </a:p>
        </p:txBody>
      </p:sp>
      <p:sp>
        <p:nvSpPr>
          <p:cNvPr id="5" name="Shape 3"/>
          <p:cNvSpPr/>
          <p:nvPr/>
        </p:nvSpPr>
        <p:spPr>
          <a:xfrm>
            <a:off x="640080" y="2148840"/>
            <a:ext cx="2569464" cy="1956816"/>
          </a:xfrm>
          <a:prstGeom prst="roundRect">
            <a:avLst>
              <a:gd name="adj" fmla="val 4673"/>
            </a:avLst>
          </a:prstGeom>
          <a:solidFill>
            <a:srgbClr val="F3F6FD"/>
          </a:solidFill>
          <a:ln w="9525">
            <a:solidFill>
              <a:srgbClr val="DCE4F5"/>
            </a:solidFill>
            <a:prstDash val="solid"/>
          </a:ln>
          <a:effectLst>
            <a:outerShdw sx="100000" sy="100000" kx="0" ky="0" algn="bl" rotWithShape="0" blurRad="127000" dist="25400" dir="5400000">
              <a:srgbClr val="1E2761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877824" y="2368296"/>
            <a:ext cx="475488" cy="475488"/>
          </a:xfrm>
          <a:prstGeom prst="ellipse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92124" y="2482596"/>
            <a:ext cx="228600" cy="228600"/>
          </a:xfrm>
          <a:prstGeom prst="rect">
            <a:avLst/>
          </a:prstGeom>
        </p:spPr>
      </p:pic>
      <p:sp>
        <p:nvSpPr>
          <p:cNvPr id="8" name="Text 5"/>
          <p:cNvSpPr txBox="1"/>
          <p:nvPr/>
        </p:nvSpPr>
        <p:spPr>
          <a:xfrm>
            <a:off x="877824" y="2935224"/>
            <a:ext cx="209397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Student Records</a:t>
            </a:r>
            <a:endParaRPr lang="en-US" sz="1400" dirty="0"/>
          </a:p>
        </p:txBody>
      </p:sp>
      <p:sp>
        <p:nvSpPr>
          <p:cNvPr id="9" name="Text 6"/>
          <p:cNvSpPr txBox="1"/>
          <p:nvPr/>
        </p:nvSpPr>
        <p:spPr>
          <a:xfrm>
            <a:off x="877824" y="3218688"/>
            <a:ext cx="2093976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 the roster and any record in their division - view only.</a:t>
            </a:r>
            <a:endParaRPr lang="en-US" sz="1100" dirty="0"/>
          </a:p>
        </p:txBody>
      </p:sp>
      <p:sp>
        <p:nvSpPr>
          <p:cNvPr id="10" name="Shape 7"/>
          <p:cNvSpPr/>
          <p:nvPr/>
        </p:nvSpPr>
        <p:spPr>
          <a:xfrm>
            <a:off x="3419856" y="2148840"/>
            <a:ext cx="2569464" cy="1956816"/>
          </a:xfrm>
          <a:prstGeom prst="roundRect">
            <a:avLst>
              <a:gd name="adj" fmla="val 4673"/>
            </a:avLst>
          </a:prstGeom>
          <a:solidFill>
            <a:srgbClr val="F3F6FD"/>
          </a:solidFill>
          <a:ln w="9525">
            <a:solidFill>
              <a:srgbClr val="DCE4F5"/>
            </a:solidFill>
            <a:prstDash val="solid"/>
          </a:ln>
          <a:effectLst>
            <a:outerShdw sx="100000" sy="100000" kx="0" ky="0" algn="bl" rotWithShape="0" blurRad="127000" dist="25400" dir="5400000">
              <a:srgbClr val="1E2761">
                <a:alpha val="10000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3657600" y="2368296"/>
            <a:ext cx="475488" cy="475488"/>
          </a:xfrm>
          <a:prstGeom prst="ellipse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771900" y="2482596"/>
            <a:ext cx="228600" cy="228600"/>
          </a:xfrm>
          <a:prstGeom prst="rect">
            <a:avLst/>
          </a:prstGeom>
        </p:spPr>
      </p:pic>
      <p:sp>
        <p:nvSpPr>
          <p:cNvPr id="13" name="Text 9"/>
          <p:cNvSpPr txBox="1"/>
          <p:nvPr/>
        </p:nvSpPr>
        <p:spPr>
          <a:xfrm>
            <a:off x="3657600" y="2935224"/>
            <a:ext cx="209397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Class Schedule</a:t>
            </a:r>
            <a:endParaRPr lang="en-US" sz="1400" dirty="0"/>
          </a:p>
        </p:txBody>
      </p:sp>
      <p:sp>
        <p:nvSpPr>
          <p:cNvPr id="14" name="Text 10"/>
          <p:cNvSpPr txBox="1"/>
          <p:nvPr/>
        </p:nvSpPr>
        <p:spPr>
          <a:xfrm>
            <a:off x="3657600" y="3218688"/>
            <a:ext cx="2093976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week as it is actually timetabled, section by section.</a:t>
            </a:r>
            <a:endParaRPr lang="en-US" sz="1100" dirty="0"/>
          </a:p>
        </p:txBody>
      </p:sp>
      <p:sp>
        <p:nvSpPr>
          <p:cNvPr id="15" name="Shape 11"/>
          <p:cNvSpPr/>
          <p:nvPr/>
        </p:nvSpPr>
        <p:spPr>
          <a:xfrm>
            <a:off x="6199632" y="2148840"/>
            <a:ext cx="2569464" cy="1956816"/>
          </a:xfrm>
          <a:prstGeom prst="roundRect">
            <a:avLst>
              <a:gd name="adj" fmla="val 4673"/>
            </a:avLst>
          </a:prstGeom>
          <a:solidFill>
            <a:srgbClr val="F3F6FD"/>
          </a:solidFill>
          <a:ln w="9525">
            <a:solidFill>
              <a:srgbClr val="DCE4F5"/>
            </a:solidFill>
            <a:prstDash val="solid"/>
          </a:ln>
          <a:effectLst>
            <a:outerShdw sx="100000" sy="100000" kx="0" ky="0" algn="bl" rotWithShape="0" blurRad="127000" dist="25400" dir="5400000">
              <a:srgbClr val="1E2761">
                <a:alpha val="10000"/>
              </a:srgbClr>
            </a:outerShdw>
          </a:effectLst>
        </p:spPr>
      </p:sp>
      <p:sp>
        <p:nvSpPr>
          <p:cNvPr id="16" name="Shape 12"/>
          <p:cNvSpPr/>
          <p:nvPr/>
        </p:nvSpPr>
        <p:spPr>
          <a:xfrm>
            <a:off x="6437376" y="2368296"/>
            <a:ext cx="475488" cy="475488"/>
          </a:xfrm>
          <a:prstGeom prst="ellipse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pic>
        <p:nvPicPr>
          <p:cNvPr id="17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51676" y="2482596"/>
            <a:ext cx="228600" cy="228600"/>
          </a:xfrm>
          <a:prstGeom prst="rect">
            <a:avLst/>
          </a:prstGeom>
        </p:spPr>
      </p:pic>
      <p:sp>
        <p:nvSpPr>
          <p:cNvPr id="18" name="Text 13"/>
          <p:cNvSpPr txBox="1"/>
          <p:nvPr/>
        </p:nvSpPr>
        <p:spPr>
          <a:xfrm>
            <a:off x="6437376" y="2935224"/>
            <a:ext cx="209397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Teacher Assignment</a:t>
            </a:r>
            <a:endParaRPr lang="en-US" sz="1400" dirty="0"/>
          </a:p>
        </p:txBody>
      </p:sp>
      <p:sp>
        <p:nvSpPr>
          <p:cNvPr id="19" name="Text 14"/>
          <p:cNvSpPr txBox="1"/>
          <p:nvPr/>
        </p:nvSpPr>
        <p:spPr>
          <a:xfrm>
            <a:off x="6437376" y="3218688"/>
            <a:ext cx="2093976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Who teaches which subject in which section, and who advises it.</a:t>
            </a:r>
            <a:endParaRPr lang="en-US" sz="1100" dirty="0"/>
          </a:p>
        </p:txBody>
      </p:sp>
      <p:sp>
        <p:nvSpPr>
          <p:cNvPr id="20" name="Shape 15"/>
          <p:cNvSpPr/>
          <p:nvPr/>
        </p:nvSpPr>
        <p:spPr>
          <a:xfrm>
            <a:off x="8979408" y="2148840"/>
            <a:ext cx="2569464" cy="1956816"/>
          </a:xfrm>
          <a:prstGeom prst="roundRect">
            <a:avLst>
              <a:gd name="adj" fmla="val 4673"/>
            </a:avLst>
          </a:prstGeom>
          <a:solidFill>
            <a:srgbClr val="F3F6FD"/>
          </a:solidFill>
          <a:ln w="9525">
            <a:solidFill>
              <a:srgbClr val="DCE4F5"/>
            </a:solidFill>
            <a:prstDash val="solid"/>
          </a:ln>
          <a:effectLst>
            <a:outerShdw sx="100000" sy="100000" kx="0" ky="0" algn="bl" rotWithShape="0" blurRad="127000" dist="25400" dir="5400000">
              <a:srgbClr val="1E2761">
                <a:alpha val="10000"/>
              </a:srgbClr>
            </a:outerShdw>
          </a:effectLst>
        </p:spPr>
      </p:sp>
      <p:sp>
        <p:nvSpPr>
          <p:cNvPr id="21" name="Shape 16"/>
          <p:cNvSpPr/>
          <p:nvPr/>
        </p:nvSpPr>
        <p:spPr>
          <a:xfrm>
            <a:off x="9217152" y="2368296"/>
            <a:ext cx="475488" cy="475488"/>
          </a:xfrm>
          <a:prstGeom prst="ellipse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pic>
        <p:nvPicPr>
          <p:cNvPr id="22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331452" y="2482596"/>
            <a:ext cx="228600" cy="228600"/>
          </a:xfrm>
          <a:prstGeom prst="rect">
            <a:avLst/>
          </a:prstGeom>
        </p:spPr>
      </p:pic>
      <p:sp>
        <p:nvSpPr>
          <p:cNvPr id="23" name="Text 17"/>
          <p:cNvSpPr txBox="1"/>
          <p:nvPr/>
        </p:nvSpPr>
        <p:spPr>
          <a:xfrm>
            <a:off x="9217152" y="2935224"/>
            <a:ext cx="209397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Emergency Alerts</a:t>
            </a:r>
            <a:endParaRPr lang="en-US" sz="1400" dirty="0"/>
          </a:p>
        </p:txBody>
      </p:sp>
      <p:sp>
        <p:nvSpPr>
          <p:cNvPr id="24" name="Text 18"/>
          <p:cNvSpPr txBox="1"/>
          <p:nvPr/>
        </p:nvSpPr>
        <p:spPr>
          <a:xfrm>
            <a:off x="9217152" y="3218688"/>
            <a:ext cx="2093976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Live alerts raised in the school, with the power to resolve one.</a:t>
            </a:r>
            <a:endParaRPr lang="en-US" sz="1100" dirty="0"/>
          </a:p>
        </p:txBody>
      </p:sp>
      <p:sp>
        <p:nvSpPr>
          <p:cNvPr id="25" name="Shape 19"/>
          <p:cNvSpPr/>
          <p:nvPr/>
        </p:nvSpPr>
        <p:spPr>
          <a:xfrm>
            <a:off x="640080" y="4306824"/>
            <a:ext cx="2569464" cy="1956816"/>
          </a:xfrm>
          <a:prstGeom prst="roundRect">
            <a:avLst>
              <a:gd name="adj" fmla="val 4673"/>
            </a:avLst>
          </a:prstGeom>
          <a:solidFill>
            <a:srgbClr val="F3F6FD"/>
          </a:solidFill>
          <a:ln w="9525">
            <a:solidFill>
              <a:srgbClr val="DCE4F5"/>
            </a:solidFill>
            <a:prstDash val="solid"/>
          </a:ln>
          <a:effectLst>
            <a:outerShdw sx="100000" sy="100000" kx="0" ky="0" algn="bl" rotWithShape="0" blurRad="127000" dist="25400" dir="5400000">
              <a:srgbClr val="1E2761">
                <a:alpha val="10000"/>
              </a:srgbClr>
            </a:outerShdw>
          </a:effectLst>
        </p:spPr>
      </p:sp>
      <p:sp>
        <p:nvSpPr>
          <p:cNvPr id="26" name="Shape 20"/>
          <p:cNvSpPr/>
          <p:nvPr/>
        </p:nvSpPr>
        <p:spPr>
          <a:xfrm>
            <a:off x="877824" y="4526280"/>
            <a:ext cx="475488" cy="475488"/>
          </a:xfrm>
          <a:prstGeom prst="ellipse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pic>
        <p:nvPicPr>
          <p:cNvPr id="27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92124" y="4640580"/>
            <a:ext cx="228600" cy="228600"/>
          </a:xfrm>
          <a:prstGeom prst="rect">
            <a:avLst/>
          </a:prstGeom>
        </p:spPr>
      </p:pic>
      <p:sp>
        <p:nvSpPr>
          <p:cNvPr id="28" name="Text 21"/>
          <p:cNvSpPr txBox="1"/>
          <p:nvPr/>
        </p:nvSpPr>
        <p:spPr>
          <a:xfrm>
            <a:off x="877824" y="5093208"/>
            <a:ext cx="209397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Emergency Numbers</a:t>
            </a:r>
            <a:endParaRPr lang="en-US" sz="1400" dirty="0"/>
          </a:p>
        </p:txBody>
      </p:sp>
      <p:sp>
        <p:nvSpPr>
          <p:cNvPr id="29" name="Text 22"/>
          <p:cNvSpPr txBox="1"/>
          <p:nvPr/>
        </p:nvSpPr>
        <p:spPr>
          <a:xfrm>
            <a:off x="877824" y="5376672"/>
            <a:ext cx="2093976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school's published numbers, one tap to dial.</a:t>
            </a:r>
            <a:endParaRPr lang="en-US" sz="1100" dirty="0"/>
          </a:p>
        </p:txBody>
      </p:sp>
      <p:sp>
        <p:nvSpPr>
          <p:cNvPr id="30" name="Shape 23"/>
          <p:cNvSpPr/>
          <p:nvPr/>
        </p:nvSpPr>
        <p:spPr>
          <a:xfrm>
            <a:off x="3419856" y="4306824"/>
            <a:ext cx="2569464" cy="1956816"/>
          </a:xfrm>
          <a:prstGeom prst="roundRect">
            <a:avLst>
              <a:gd name="adj" fmla="val 4673"/>
            </a:avLst>
          </a:prstGeom>
          <a:solidFill>
            <a:srgbClr val="F3F6FD"/>
          </a:solidFill>
          <a:ln w="9525">
            <a:solidFill>
              <a:srgbClr val="DCE4F5"/>
            </a:solidFill>
            <a:prstDash val="solid"/>
          </a:ln>
          <a:effectLst>
            <a:outerShdw sx="100000" sy="100000" kx="0" ky="0" algn="bl" rotWithShape="0" blurRad="127000" dist="25400" dir="5400000">
              <a:srgbClr val="1E2761">
                <a:alpha val="10000"/>
              </a:srgbClr>
            </a:outerShdw>
          </a:effectLst>
        </p:spPr>
      </p:sp>
      <p:sp>
        <p:nvSpPr>
          <p:cNvPr id="31" name="Shape 24"/>
          <p:cNvSpPr/>
          <p:nvPr/>
        </p:nvSpPr>
        <p:spPr>
          <a:xfrm>
            <a:off x="3657600" y="4526280"/>
            <a:ext cx="475488" cy="475488"/>
          </a:xfrm>
          <a:prstGeom prst="ellipse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pic>
        <p:nvPicPr>
          <p:cNvPr id="32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771900" y="4640580"/>
            <a:ext cx="228600" cy="228600"/>
          </a:xfrm>
          <a:prstGeom prst="rect">
            <a:avLst/>
          </a:prstGeom>
        </p:spPr>
      </p:pic>
      <p:sp>
        <p:nvSpPr>
          <p:cNvPr id="33" name="Text 25"/>
          <p:cNvSpPr txBox="1"/>
          <p:nvPr/>
        </p:nvSpPr>
        <p:spPr>
          <a:xfrm>
            <a:off x="3657600" y="5093208"/>
            <a:ext cx="209397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Announcements</a:t>
            </a:r>
            <a:endParaRPr lang="en-US" sz="1400" dirty="0"/>
          </a:p>
        </p:txBody>
      </p:sp>
      <p:sp>
        <p:nvSpPr>
          <p:cNvPr id="34" name="Text 26"/>
          <p:cNvSpPr txBox="1"/>
          <p:nvPr/>
        </p:nvSpPr>
        <p:spPr>
          <a:xfrm>
            <a:off x="3657600" y="5376672"/>
            <a:ext cx="2093976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Post school or division messages under their own name.</a:t>
            </a:r>
            <a:endParaRPr lang="en-US" sz="1100" dirty="0"/>
          </a:p>
        </p:txBody>
      </p:sp>
      <p:sp>
        <p:nvSpPr>
          <p:cNvPr id="35" name="Shape 27"/>
          <p:cNvSpPr/>
          <p:nvPr/>
        </p:nvSpPr>
        <p:spPr>
          <a:xfrm>
            <a:off x="6199632" y="4306824"/>
            <a:ext cx="2569464" cy="1956816"/>
          </a:xfrm>
          <a:prstGeom prst="roundRect">
            <a:avLst>
              <a:gd name="adj" fmla="val 4673"/>
            </a:avLst>
          </a:prstGeom>
          <a:solidFill>
            <a:srgbClr val="F3F6FD"/>
          </a:solidFill>
          <a:ln w="9525">
            <a:solidFill>
              <a:srgbClr val="DCE4F5"/>
            </a:solidFill>
            <a:prstDash val="solid"/>
          </a:ln>
          <a:effectLst>
            <a:outerShdw sx="100000" sy="100000" kx="0" ky="0" algn="bl" rotWithShape="0" blurRad="127000" dist="25400" dir="5400000">
              <a:srgbClr val="1E2761">
                <a:alpha val="10000"/>
              </a:srgbClr>
            </a:outerShdw>
          </a:effectLst>
        </p:spPr>
      </p:sp>
      <p:sp>
        <p:nvSpPr>
          <p:cNvPr id="36" name="Shape 28"/>
          <p:cNvSpPr/>
          <p:nvPr/>
        </p:nvSpPr>
        <p:spPr>
          <a:xfrm>
            <a:off x="6437376" y="4526280"/>
            <a:ext cx="475488" cy="475488"/>
          </a:xfrm>
          <a:prstGeom prst="ellipse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pic>
        <p:nvPicPr>
          <p:cNvPr id="37" name="Image 6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551676" y="4640580"/>
            <a:ext cx="228600" cy="228600"/>
          </a:xfrm>
          <a:prstGeom prst="rect">
            <a:avLst/>
          </a:prstGeom>
        </p:spPr>
      </p:pic>
      <p:sp>
        <p:nvSpPr>
          <p:cNvPr id="38" name="Text 29"/>
          <p:cNvSpPr txBox="1"/>
          <p:nvPr/>
        </p:nvSpPr>
        <p:spPr>
          <a:xfrm>
            <a:off x="6437376" y="5093208"/>
            <a:ext cx="209397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Meeting Scheduler</a:t>
            </a:r>
            <a:endParaRPr lang="en-US" sz="1400" dirty="0"/>
          </a:p>
        </p:txBody>
      </p:sp>
      <p:sp>
        <p:nvSpPr>
          <p:cNvPr id="39" name="Text 30"/>
          <p:cNvSpPr txBox="1"/>
          <p:nvPr/>
        </p:nvSpPr>
        <p:spPr>
          <a:xfrm>
            <a:off x="6437376" y="5376672"/>
            <a:ext cx="2093976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Call a meeting and say who it is for.</a:t>
            </a:r>
            <a:endParaRPr lang="en-US" sz="1100" dirty="0"/>
          </a:p>
        </p:txBody>
      </p:sp>
      <p:sp>
        <p:nvSpPr>
          <p:cNvPr id="40" name="Shape 31"/>
          <p:cNvSpPr/>
          <p:nvPr/>
        </p:nvSpPr>
        <p:spPr>
          <a:xfrm>
            <a:off x="8979408" y="4306824"/>
            <a:ext cx="2569464" cy="1956816"/>
          </a:xfrm>
          <a:prstGeom prst="roundRect">
            <a:avLst>
              <a:gd name="adj" fmla="val 4673"/>
            </a:avLst>
          </a:prstGeom>
          <a:solidFill>
            <a:srgbClr val="F3F6FD"/>
          </a:solidFill>
          <a:ln w="9525">
            <a:solidFill>
              <a:srgbClr val="DCE4F5"/>
            </a:solidFill>
            <a:prstDash val="solid"/>
          </a:ln>
          <a:effectLst>
            <a:outerShdw sx="100000" sy="100000" kx="0" ky="0" algn="bl" rotWithShape="0" blurRad="127000" dist="25400" dir="5400000">
              <a:srgbClr val="1E2761">
                <a:alpha val="10000"/>
              </a:srgbClr>
            </a:outerShdw>
          </a:effectLst>
        </p:spPr>
      </p:sp>
      <p:sp>
        <p:nvSpPr>
          <p:cNvPr id="41" name="Shape 32"/>
          <p:cNvSpPr/>
          <p:nvPr/>
        </p:nvSpPr>
        <p:spPr>
          <a:xfrm>
            <a:off x="9217152" y="4526280"/>
            <a:ext cx="475488" cy="475488"/>
          </a:xfrm>
          <a:prstGeom prst="ellipse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pic>
        <p:nvPicPr>
          <p:cNvPr id="42" name="Image 7" descr="preencoded.p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9331452" y="4640580"/>
            <a:ext cx="228600" cy="228600"/>
          </a:xfrm>
          <a:prstGeom prst="rect">
            <a:avLst/>
          </a:prstGeom>
        </p:spPr>
      </p:pic>
      <p:sp>
        <p:nvSpPr>
          <p:cNvPr id="43" name="Text 33"/>
          <p:cNvSpPr txBox="1"/>
          <p:nvPr/>
        </p:nvSpPr>
        <p:spPr>
          <a:xfrm>
            <a:off x="9217152" y="5093208"/>
            <a:ext cx="209397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Approvals</a:t>
            </a:r>
            <a:endParaRPr lang="en-US" sz="1400" dirty="0"/>
          </a:p>
        </p:txBody>
      </p:sp>
      <p:sp>
        <p:nvSpPr>
          <p:cNvPr id="44" name="Text 34"/>
          <p:cNvSpPr txBox="1"/>
          <p:nvPr/>
        </p:nvSpPr>
        <p:spPr>
          <a:xfrm>
            <a:off x="9217152" y="5376672"/>
            <a:ext cx="2093976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Decide the requests that reach a division head - and the decision is signed with their account.</a:t>
            </a:r>
            <a:endParaRPr lang="en-US" sz="11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38912"/>
            <a:ext cx="1090879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40" kern="0" dirty="0">
                <a:solidFill>
                  <a:srgbClr val="E8A3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ADMIN PORTAL . 1 OF 2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694944"/>
            <a:ext cx="10908792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People, academics and the school's identity</a:t>
            </a:r>
            <a:endParaRPr lang="en-US" sz="32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1371600"/>
            <a:ext cx="8945209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operator role: the person who keeps the school configured week to week.</a:t>
            </a:r>
            <a:endParaRPr lang="en-US" sz="1350" dirty="0"/>
          </a:p>
        </p:txBody>
      </p:sp>
      <p:sp>
        <p:nvSpPr>
          <p:cNvPr id="5" name="Shape 3"/>
          <p:cNvSpPr/>
          <p:nvPr/>
        </p:nvSpPr>
        <p:spPr>
          <a:xfrm>
            <a:off x="640080" y="1956816"/>
            <a:ext cx="384048" cy="384048"/>
          </a:xfrm>
          <a:prstGeom prst="ellipse">
            <a:avLst/>
          </a:prstGeom>
          <a:solidFill>
            <a:srgbClr val="CADCFC"/>
          </a:solidFill>
          <a:ln w="12700">
            <a:solidFill>
              <a:srgbClr val="CADCFC"/>
            </a:solidFill>
            <a:prstDash val="solid"/>
          </a:ln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45236" y="2061972"/>
            <a:ext cx="173736" cy="173736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1152144" y="1901952"/>
            <a:ext cx="47137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Employee Management</a:t>
            </a:r>
            <a:endParaRPr lang="en-US" sz="1250" dirty="0"/>
          </a:p>
        </p:txBody>
      </p:sp>
      <p:sp>
        <p:nvSpPr>
          <p:cNvPr id="8" name="Text 5"/>
          <p:cNvSpPr txBox="1"/>
          <p:nvPr/>
        </p:nvSpPr>
        <p:spPr>
          <a:xfrm>
            <a:off x="1152144" y="2135124"/>
            <a:ext cx="471373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50"/>
              </a:lnSpc>
              <a:buNone/>
            </a:pPr>
            <a:r>
              <a:rPr lang="en-US" sz="100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Create an account for any role, set department, position and division scope</a:t>
            </a:r>
            <a:endParaRPr lang="en-US" sz="1000" dirty="0"/>
          </a:p>
        </p:txBody>
      </p:sp>
      <p:sp>
        <p:nvSpPr>
          <p:cNvPr id="9" name="Shape 6"/>
          <p:cNvSpPr/>
          <p:nvPr/>
        </p:nvSpPr>
        <p:spPr>
          <a:xfrm>
            <a:off x="640080" y="2962656"/>
            <a:ext cx="384048" cy="384048"/>
          </a:xfrm>
          <a:prstGeom prst="ellipse">
            <a:avLst/>
          </a:prstGeom>
          <a:solidFill>
            <a:srgbClr val="CADCFC"/>
          </a:solidFill>
          <a:ln w="12700">
            <a:solidFill>
              <a:srgbClr val="CADCFC"/>
            </a:solidFill>
            <a:prstDash val="solid"/>
          </a:ln>
        </p:spPr>
      </p:sp>
      <p:pic>
        <p:nvPicPr>
          <p:cNvPr id="10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5236" y="3067812"/>
            <a:ext cx="173736" cy="173736"/>
          </a:xfrm>
          <a:prstGeom prst="rect">
            <a:avLst/>
          </a:prstGeom>
        </p:spPr>
      </p:pic>
      <p:sp>
        <p:nvSpPr>
          <p:cNvPr id="11" name="Text 7"/>
          <p:cNvSpPr txBox="1"/>
          <p:nvPr/>
        </p:nvSpPr>
        <p:spPr>
          <a:xfrm>
            <a:off x="1152144" y="2907792"/>
            <a:ext cx="47137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Reset Password</a:t>
            </a:r>
            <a:endParaRPr lang="en-US" sz="1250" dirty="0"/>
          </a:p>
        </p:txBody>
      </p:sp>
      <p:sp>
        <p:nvSpPr>
          <p:cNvPr id="12" name="Text 8"/>
          <p:cNvSpPr txBox="1"/>
          <p:nvPr/>
        </p:nvSpPr>
        <p:spPr>
          <a:xfrm>
            <a:off x="1152144" y="3140964"/>
            <a:ext cx="471373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50"/>
              </a:lnSpc>
              <a:buNone/>
            </a:pPr>
            <a:r>
              <a:rPr lang="en-US" sz="100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Issue a temporary password; the employee is forced to change it at next sign-in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640080" y="3968496"/>
            <a:ext cx="384048" cy="384048"/>
          </a:xfrm>
          <a:prstGeom prst="ellipse">
            <a:avLst/>
          </a:prstGeom>
          <a:solidFill>
            <a:srgbClr val="CADCFC"/>
          </a:solidFill>
          <a:ln w="12700">
            <a:solidFill>
              <a:srgbClr val="CADCFC"/>
            </a:solidFill>
            <a:prstDash val="solid"/>
          </a:ln>
        </p:spPr>
      </p:sp>
      <p:pic>
        <p:nvPicPr>
          <p:cNvPr id="14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45236" y="4073652"/>
            <a:ext cx="173736" cy="173736"/>
          </a:xfrm>
          <a:prstGeom prst="rect">
            <a:avLst/>
          </a:prstGeom>
        </p:spPr>
      </p:pic>
      <p:sp>
        <p:nvSpPr>
          <p:cNvPr id="15" name="Text 10"/>
          <p:cNvSpPr txBox="1"/>
          <p:nvPr/>
        </p:nvSpPr>
        <p:spPr>
          <a:xfrm>
            <a:off x="1152144" y="3913632"/>
            <a:ext cx="47137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Activate / Suspend</a:t>
            </a:r>
            <a:endParaRPr lang="en-US" sz="1250" dirty="0"/>
          </a:p>
        </p:txBody>
      </p:sp>
      <p:sp>
        <p:nvSpPr>
          <p:cNvPr id="16" name="Text 11"/>
          <p:cNvSpPr txBox="1"/>
          <p:nvPr/>
        </p:nvSpPr>
        <p:spPr>
          <a:xfrm>
            <a:off x="1152144" y="4146804"/>
            <a:ext cx="471373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50"/>
              </a:lnSpc>
              <a:buNone/>
            </a:pPr>
            <a:r>
              <a:rPr lang="en-US" sz="100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Switch an account off without deleting anything it wrote</a:t>
            </a:r>
            <a:endParaRPr lang="en-US" sz="1000" dirty="0"/>
          </a:p>
        </p:txBody>
      </p:sp>
      <p:sp>
        <p:nvSpPr>
          <p:cNvPr id="17" name="Shape 12"/>
          <p:cNvSpPr/>
          <p:nvPr/>
        </p:nvSpPr>
        <p:spPr>
          <a:xfrm>
            <a:off x="640080" y="4974336"/>
            <a:ext cx="384048" cy="384048"/>
          </a:xfrm>
          <a:prstGeom prst="ellipse">
            <a:avLst/>
          </a:prstGeom>
          <a:solidFill>
            <a:srgbClr val="CADCFC"/>
          </a:solidFill>
          <a:ln w="12700">
            <a:solidFill>
              <a:srgbClr val="CADCFC"/>
            </a:solidFill>
            <a:prstDash val="solid"/>
          </a:ln>
        </p:spPr>
      </p:sp>
      <p:pic>
        <p:nvPicPr>
          <p:cNvPr id="18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45236" y="5079492"/>
            <a:ext cx="173736" cy="173736"/>
          </a:xfrm>
          <a:prstGeom prst="rect">
            <a:avLst/>
          </a:prstGeom>
        </p:spPr>
      </p:pic>
      <p:sp>
        <p:nvSpPr>
          <p:cNvPr id="19" name="Text 13"/>
          <p:cNvSpPr txBox="1"/>
          <p:nvPr/>
        </p:nvSpPr>
        <p:spPr>
          <a:xfrm>
            <a:off x="1152144" y="4919472"/>
            <a:ext cx="47137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Import employees</a:t>
            </a:r>
            <a:endParaRPr lang="en-US" sz="1250" dirty="0"/>
          </a:p>
        </p:txBody>
      </p:sp>
      <p:sp>
        <p:nvSpPr>
          <p:cNvPr id="20" name="Text 14"/>
          <p:cNvSpPr txBox="1"/>
          <p:nvPr/>
        </p:nvSpPr>
        <p:spPr>
          <a:xfrm>
            <a:off x="1152144" y="5152644"/>
            <a:ext cx="471373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50"/>
              </a:lnSpc>
              <a:buNone/>
            </a:pPr>
            <a:r>
              <a:rPr lang="en-US" sz="100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Bring a staff list in from Excel or CSV, or export the one you have</a:t>
            </a:r>
            <a:endParaRPr lang="en-US" sz="1000" dirty="0"/>
          </a:p>
        </p:txBody>
      </p:sp>
      <p:sp>
        <p:nvSpPr>
          <p:cNvPr id="21" name="Shape 15"/>
          <p:cNvSpPr/>
          <p:nvPr/>
        </p:nvSpPr>
        <p:spPr>
          <a:xfrm>
            <a:off x="6323076" y="1956816"/>
            <a:ext cx="384048" cy="384048"/>
          </a:xfrm>
          <a:prstGeom prst="ellipse">
            <a:avLst/>
          </a:prstGeom>
          <a:solidFill>
            <a:srgbClr val="CADCFC"/>
          </a:solidFill>
          <a:ln w="12700">
            <a:solidFill>
              <a:srgbClr val="CADCFC"/>
            </a:solidFill>
            <a:prstDash val="solid"/>
          </a:ln>
        </p:spPr>
      </p:sp>
      <p:pic>
        <p:nvPicPr>
          <p:cNvPr id="22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428232" y="2061972"/>
            <a:ext cx="173736" cy="173736"/>
          </a:xfrm>
          <a:prstGeom prst="rect">
            <a:avLst/>
          </a:prstGeom>
        </p:spPr>
      </p:pic>
      <p:sp>
        <p:nvSpPr>
          <p:cNvPr id="23" name="Text 16"/>
          <p:cNvSpPr txBox="1"/>
          <p:nvPr/>
        </p:nvSpPr>
        <p:spPr>
          <a:xfrm>
            <a:off x="6835140" y="1901952"/>
            <a:ext cx="47137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Teacher Assignment</a:t>
            </a:r>
            <a:endParaRPr lang="en-US" sz="1250" dirty="0"/>
          </a:p>
        </p:txBody>
      </p:sp>
      <p:sp>
        <p:nvSpPr>
          <p:cNvPr id="24" name="Text 17"/>
          <p:cNvSpPr txBox="1"/>
          <p:nvPr/>
        </p:nvSpPr>
        <p:spPr>
          <a:xfrm>
            <a:off x="6835140" y="2135124"/>
            <a:ext cx="471373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50"/>
              </a:lnSpc>
              <a:buNone/>
            </a:pPr>
            <a:r>
              <a:rPr lang="en-US" sz="100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Subject, section, school year, and who is the class adviser</a:t>
            </a:r>
            <a:endParaRPr lang="en-US" sz="1000" dirty="0"/>
          </a:p>
        </p:txBody>
      </p:sp>
      <p:sp>
        <p:nvSpPr>
          <p:cNvPr id="25" name="Shape 18"/>
          <p:cNvSpPr/>
          <p:nvPr/>
        </p:nvSpPr>
        <p:spPr>
          <a:xfrm>
            <a:off x="6323076" y="2962656"/>
            <a:ext cx="384048" cy="384048"/>
          </a:xfrm>
          <a:prstGeom prst="ellipse">
            <a:avLst/>
          </a:prstGeom>
          <a:solidFill>
            <a:srgbClr val="CADCFC"/>
          </a:solidFill>
          <a:ln w="12700">
            <a:solidFill>
              <a:srgbClr val="CADCFC"/>
            </a:solidFill>
            <a:prstDash val="solid"/>
          </a:ln>
        </p:spPr>
      </p:sp>
      <p:pic>
        <p:nvPicPr>
          <p:cNvPr id="26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428232" y="3067812"/>
            <a:ext cx="173736" cy="173736"/>
          </a:xfrm>
          <a:prstGeom prst="rect">
            <a:avLst/>
          </a:prstGeom>
        </p:spPr>
      </p:pic>
      <p:sp>
        <p:nvSpPr>
          <p:cNvPr id="27" name="Text 19"/>
          <p:cNvSpPr txBox="1"/>
          <p:nvPr/>
        </p:nvSpPr>
        <p:spPr>
          <a:xfrm>
            <a:off x="6835140" y="2907792"/>
            <a:ext cx="47137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Strands &amp; Programs</a:t>
            </a:r>
            <a:endParaRPr lang="en-US" sz="1250" dirty="0"/>
          </a:p>
        </p:txBody>
      </p:sp>
      <p:sp>
        <p:nvSpPr>
          <p:cNvPr id="28" name="Text 20"/>
          <p:cNvSpPr txBox="1"/>
          <p:nvPr/>
        </p:nvSpPr>
        <p:spPr>
          <a:xfrm>
            <a:off x="6835140" y="3140964"/>
            <a:ext cx="471373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50"/>
              </a:lnSpc>
              <a:buNone/>
            </a:pPr>
            <a:r>
              <a:rPr lang="en-US" sz="100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Senior High strands and the college degree programs students enrol into</a:t>
            </a:r>
            <a:endParaRPr lang="en-US" sz="1000" dirty="0"/>
          </a:p>
        </p:txBody>
      </p:sp>
      <p:sp>
        <p:nvSpPr>
          <p:cNvPr id="29" name="Shape 21"/>
          <p:cNvSpPr/>
          <p:nvPr/>
        </p:nvSpPr>
        <p:spPr>
          <a:xfrm>
            <a:off x="6323076" y="3968496"/>
            <a:ext cx="384048" cy="384048"/>
          </a:xfrm>
          <a:prstGeom prst="ellipse">
            <a:avLst/>
          </a:prstGeom>
          <a:solidFill>
            <a:srgbClr val="CADCFC"/>
          </a:solidFill>
          <a:ln w="12700">
            <a:solidFill>
              <a:srgbClr val="CADCFC"/>
            </a:solidFill>
            <a:prstDash val="solid"/>
          </a:ln>
        </p:spPr>
      </p:sp>
      <p:pic>
        <p:nvPicPr>
          <p:cNvPr id="30" name="Image 6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428232" y="4073652"/>
            <a:ext cx="173736" cy="173736"/>
          </a:xfrm>
          <a:prstGeom prst="rect">
            <a:avLst/>
          </a:prstGeom>
        </p:spPr>
      </p:pic>
      <p:sp>
        <p:nvSpPr>
          <p:cNvPr id="31" name="Text 22"/>
          <p:cNvSpPr txBox="1"/>
          <p:nvPr/>
        </p:nvSpPr>
        <p:spPr>
          <a:xfrm>
            <a:off x="6835140" y="3913632"/>
            <a:ext cx="47137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Class Schedule</a:t>
            </a:r>
            <a:endParaRPr lang="en-US" sz="1250" dirty="0"/>
          </a:p>
        </p:txBody>
      </p:sp>
      <p:sp>
        <p:nvSpPr>
          <p:cNvPr id="32" name="Text 23"/>
          <p:cNvSpPr txBox="1"/>
          <p:nvPr/>
        </p:nvSpPr>
        <p:spPr>
          <a:xfrm>
            <a:off x="6835140" y="4146804"/>
            <a:ext cx="471373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50"/>
              </a:lnSpc>
              <a:buNone/>
            </a:pPr>
            <a:r>
              <a:rPr lang="en-US" sz="100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Build the week: day, start, end, room - the app refuses a clash</a:t>
            </a:r>
            <a:endParaRPr lang="en-US" sz="1000" dirty="0"/>
          </a:p>
        </p:txBody>
      </p:sp>
      <p:sp>
        <p:nvSpPr>
          <p:cNvPr id="33" name="Shape 24"/>
          <p:cNvSpPr/>
          <p:nvPr/>
        </p:nvSpPr>
        <p:spPr>
          <a:xfrm>
            <a:off x="6323076" y="4974336"/>
            <a:ext cx="384048" cy="384048"/>
          </a:xfrm>
          <a:prstGeom prst="ellipse">
            <a:avLst/>
          </a:prstGeom>
          <a:solidFill>
            <a:srgbClr val="CADCFC"/>
          </a:solidFill>
          <a:ln w="12700">
            <a:solidFill>
              <a:srgbClr val="CADCFC"/>
            </a:solidFill>
            <a:prstDash val="solid"/>
          </a:ln>
        </p:spPr>
      </p:sp>
      <p:pic>
        <p:nvPicPr>
          <p:cNvPr id="34" name="Image 7" descr="preencoded.p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428232" y="5079492"/>
            <a:ext cx="173736" cy="173736"/>
          </a:xfrm>
          <a:prstGeom prst="rect">
            <a:avLst/>
          </a:prstGeom>
        </p:spPr>
      </p:pic>
      <p:sp>
        <p:nvSpPr>
          <p:cNvPr id="35" name="Text 25"/>
          <p:cNvSpPr txBox="1"/>
          <p:nvPr/>
        </p:nvSpPr>
        <p:spPr>
          <a:xfrm>
            <a:off x="6835140" y="4919472"/>
            <a:ext cx="47137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School Branding</a:t>
            </a:r>
            <a:endParaRPr lang="en-US" sz="1250" dirty="0"/>
          </a:p>
        </p:txBody>
      </p:sp>
      <p:sp>
        <p:nvSpPr>
          <p:cNvPr id="36" name="Text 26"/>
          <p:cNvSpPr txBox="1"/>
          <p:nvPr/>
        </p:nvSpPr>
        <p:spPr>
          <a:xfrm>
            <a:off x="6835140" y="5152644"/>
            <a:ext cx="471373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50"/>
              </a:lnSpc>
              <a:buNone/>
            </a:pPr>
            <a:r>
              <a:rPr lang="en-US" sz="100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Logo, printed name, address, school year, principal and director signatures</a:t>
            </a:r>
            <a:endParaRPr lang="en-US" sz="1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38912"/>
            <a:ext cx="1090879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40" kern="0" dirty="0">
                <a:solidFill>
                  <a:srgbClr val="E8A3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ADMIN PORTAL . 2 OF 2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694944"/>
            <a:ext cx="10908792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Money, safety, oversight and going live</a:t>
            </a:r>
            <a:endParaRPr lang="en-US" sz="32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1371600"/>
            <a:ext cx="8945209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same account, on the other half of the dashboard.</a:t>
            </a:r>
            <a:endParaRPr lang="en-US" sz="1350" dirty="0"/>
          </a:p>
        </p:txBody>
      </p:sp>
      <p:sp>
        <p:nvSpPr>
          <p:cNvPr id="5" name="Shape 3"/>
          <p:cNvSpPr/>
          <p:nvPr/>
        </p:nvSpPr>
        <p:spPr>
          <a:xfrm>
            <a:off x="640080" y="1911096"/>
            <a:ext cx="384048" cy="384048"/>
          </a:xfrm>
          <a:prstGeom prst="ellipse">
            <a:avLst/>
          </a:prstGeom>
          <a:solidFill>
            <a:srgbClr val="CADCFC"/>
          </a:solidFill>
          <a:ln w="12700">
            <a:solidFill>
              <a:srgbClr val="CADCFC"/>
            </a:solidFill>
            <a:prstDash val="solid"/>
          </a:ln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45236" y="2016252"/>
            <a:ext cx="173736" cy="173736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1152144" y="1856232"/>
            <a:ext cx="47137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Fee Schedules</a:t>
            </a:r>
            <a:endParaRPr lang="en-US" sz="1250" dirty="0"/>
          </a:p>
        </p:txBody>
      </p:sp>
      <p:sp>
        <p:nvSpPr>
          <p:cNvPr id="8" name="Text 5"/>
          <p:cNvSpPr txBox="1"/>
          <p:nvPr/>
        </p:nvSpPr>
        <p:spPr>
          <a:xfrm>
            <a:off x="1152144" y="2089404"/>
            <a:ext cx="471373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50"/>
              </a:lnSpc>
              <a:buNone/>
            </a:pPr>
            <a:r>
              <a:rPr lang="en-US" sz="100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Named fee sets per division, grade level and school year</a:t>
            </a:r>
            <a:endParaRPr lang="en-US" sz="1000" dirty="0"/>
          </a:p>
        </p:txBody>
      </p:sp>
      <p:sp>
        <p:nvSpPr>
          <p:cNvPr id="9" name="Shape 6"/>
          <p:cNvSpPr/>
          <p:nvPr/>
        </p:nvSpPr>
        <p:spPr>
          <a:xfrm>
            <a:off x="640080" y="2697480"/>
            <a:ext cx="384048" cy="384048"/>
          </a:xfrm>
          <a:prstGeom prst="ellipse">
            <a:avLst/>
          </a:prstGeom>
          <a:solidFill>
            <a:srgbClr val="CADCFC"/>
          </a:solidFill>
          <a:ln w="12700">
            <a:solidFill>
              <a:srgbClr val="CADCFC"/>
            </a:solidFill>
            <a:prstDash val="solid"/>
          </a:ln>
        </p:spPr>
      </p:sp>
      <p:pic>
        <p:nvPicPr>
          <p:cNvPr id="10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5236" y="2802636"/>
            <a:ext cx="173736" cy="173736"/>
          </a:xfrm>
          <a:prstGeom prst="rect">
            <a:avLst/>
          </a:prstGeom>
        </p:spPr>
      </p:pic>
      <p:sp>
        <p:nvSpPr>
          <p:cNvPr id="11" name="Text 7"/>
          <p:cNvSpPr txBox="1"/>
          <p:nvPr/>
        </p:nvSpPr>
        <p:spPr>
          <a:xfrm>
            <a:off x="1152144" y="2642616"/>
            <a:ext cx="47137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Reports</a:t>
            </a:r>
            <a:endParaRPr lang="en-US" sz="1250" dirty="0"/>
          </a:p>
        </p:txBody>
      </p:sp>
      <p:sp>
        <p:nvSpPr>
          <p:cNvPr id="12" name="Text 8"/>
          <p:cNvSpPr txBox="1"/>
          <p:nvPr/>
        </p:nvSpPr>
        <p:spPr>
          <a:xfrm>
            <a:off x="1152144" y="2875788"/>
            <a:ext cx="471373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50"/>
              </a:lnSpc>
              <a:buNone/>
            </a:pPr>
            <a:r>
              <a:rPr lang="en-US" sz="100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four school reports, exportable and printable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640080" y="3483864"/>
            <a:ext cx="384048" cy="384048"/>
          </a:xfrm>
          <a:prstGeom prst="ellipse">
            <a:avLst/>
          </a:prstGeom>
          <a:solidFill>
            <a:srgbClr val="CADCFC"/>
          </a:solidFill>
          <a:ln w="12700">
            <a:solidFill>
              <a:srgbClr val="CADCFC"/>
            </a:solidFill>
            <a:prstDash val="solid"/>
          </a:ln>
        </p:spPr>
      </p:sp>
      <p:pic>
        <p:nvPicPr>
          <p:cNvPr id="14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45236" y="3589020"/>
            <a:ext cx="173736" cy="173736"/>
          </a:xfrm>
          <a:prstGeom prst="rect">
            <a:avLst/>
          </a:prstGeom>
        </p:spPr>
      </p:pic>
      <p:sp>
        <p:nvSpPr>
          <p:cNvPr id="15" name="Text 10"/>
          <p:cNvSpPr txBox="1"/>
          <p:nvPr/>
        </p:nvSpPr>
        <p:spPr>
          <a:xfrm>
            <a:off x="1152144" y="3429000"/>
            <a:ext cx="47137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Announcements</a:t>
            </a:r>
            <a:endParaRPr lang="en-US" sz="1250" dirty="0"/>
          </a:p>
        </p:txBody>
      </p:sp>
      <p:sp>
        <p:nvSpPr>
          <p:cNvPr id="16" name="Text 11"/>
          <p:cNvSpPr txBox="1"/>
          <p:nvPr/>
        </p:nvSpPr>
        <p:spPr>
          <a:xfrm>
            <a:off x="1152144" y="3662172"/>
            <a:ext cx="471373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50"/>
              </a:lnSpc>
              <a:buNone/>
            </a:pPr>
            <a:r>
              <a:rPr lang="en-US" sz="100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Post and pin school messages</a:t>
            </a:r>
            <a:endParaRPr lang="en-US" sz="1000" dirty="0"/>
          </a:p>
        </p:txBody>
      </p:sp>
      <p:sp>
        <p:nvSpPr>
          <p:cNvPr id="17" name="Shape 12"/>
          <p:cNvSpPr/>
          <p:nvPr/>
        </p:nvSpPr>
        <p:spPr>
          <a:xfrm>
            <a:off x="640080" y="4270248"/>
            <a:ext cx="384048" cy="384048"/>
          </a:xfrm>
          <a:prstGeom prst="ellipse">
            <a:avLst/>
          </a:prstGeom>
          <a:solidFill>
            <a:srgbClr val="CADCFC"/>
          </a:solidFill>
          <a:ln w="12700">
            <a:solidFill>
              <a:srgbClr val="CADCFC"/>
            </a:solidFill>
            <a:prstDash val="solid"/>
          </a:ln>
        </p:spPr>
      </p:sp>
      <p:pic>
        <p:nvPicPr>
          <p:cNvPr id="18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45236" y="4375404"/>
            <a:ext cx="173736" cy="173736"/>
          </a:xfrm>
          <a:prstGeom prst="rect">
            <a:avLst/>
          </a:prstGeom>
        </p:spPr>
      </p:pic>
      <p:sp>
        <p:nvSpPr>
          <p:cNvPr id="19" name="Text 13"/>
          <p:cNvSpPr txBox="1"/>
          <p:nvPr/>
        </p:nvSpPr>
        <p:spPr>
          <a:xfrm>
            <a:off x="1152144" y="4215384"/>
            <a:ext cx="47137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Scan Attendance</a:t>
            </a:r>
            <a:endParaRPr lang="en-US" sz="1250" dirty="0"/>
          </a:p>
        </p:txBody>
      </p:sp>
      <p:sp>
        <p:nvSpPr>
          <p:cNvPr id="20" name="Text 14"/>
          <p:cNvSpPr txBox="1"/>
          <p:nvPr/>
        </p:nvSpPr>
        <p:spPr>
          <a:xfrm>
            <a:off x="1152144" y="4448556"/>
            <a:ext cx="471373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50"/>
              </a:lnSpc>
              <a:buNone/>
            </a:pPr>
            <a:r>
              <a:rPr lang="en-US" sz="100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Open the camera and mark whoever is scanned, in or out</a:t>
            </a:r>
            <a:endParaRPr lang="en-US" sz="1000" dirty="0"/>
          </a:p>
        </p:txBody>
      </p:sp>
      <p:sp>
        <p:nvSpPr>
          <p:cNvPr id="21" name="Shape 15"/>
          <p:cNvSpPr/>
          <p:nvPr/>
        </p:nvSpPr>
        <p:spPr>
          <a:xfrm>
            <a:off x="640080" y="5056632"/>
            <a:ext cx="384048" cy="384048"/>
          </a:xfrm>
          <a:prstGeom prst="ellipse">
            <a:avLst/>
          </a:prstGeom>
          <a:solidFill>
            <a:srgbClr val="CADCFC"/>
          </a:solidFill>
          <a:ln w="12700">
            <a:solidFill>
              <a:srgbClr val="CADCFC"/>
            </a:solidFill>
            <a:prstDash val="solid"/>
          </a:ln>
        </p:spPr>
      </p:sp>
      <p:pic>
        <p:nvPicPr>
          <p:cNvPr id="22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45236" y="5161788"/>
            <a:ext cx="173736" cy="173736"/>
          </a:xfrm>
          <a:prstGeom prst="rect">
            <a:avLst/>
          </a:prstGeom>
        </p:spPr>
      </p:pic>
      <p:sp>
        <p:nvSpPr>
          <p:cNvPr id="23" name="Text 16"/>
          <p:cNvSpPr txBox="1"/>
          <p:nvPr/>
        </p:nvSpPr>
        <p:spPr>
          <a:xfrm>
            <a:off x="1152144" y="5001768"/>
            <a:ext cx="47137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Emergency Alerts</a:t>
            </a:r>
            <a:endParaRPr lang="en-US" sz="1250" dirty="0"/>
          </a:p>
        </p:txBody>
      </p:sp>
      <p:sp>
        <p:nvSpPr>
          <p:cNvPr id="24" name="Text 17"/>
          <p:cNvSpPr txBox="1"/>
          <p:nvPr/>
        </p:nvSpPr>
        <p:spPr>
          <a:xfrm>
            <a:off x="1152144" y="5234940"/>
            <a:ext cx="471373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50"/>
              </a:lnSpc>
              <a:buNone/>
            </a:pPr>
            <a:r>
              <a:rPr lang="en-US" sz="100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See and resolve alerts raised anywhere in the school</a:t>
            </a:r>
            <a:endParaRPr lang="en-US" sz="1000" dirty="0"/>
          </a:p>
        </p:txBody>
      </p:sp>
      <p:sp>
        <p:nvSpPr>
          <p:cNvPr id="25" name="Shape 18"/>
          <p:cNvSpPr/>
          <p:nvPr/>
        </p:nvSpPr>
        <p:spPr>
          <a:xfrm>
            <a:off x="6323076" y="1911096"/>
            <a:ext cx="384048" cy="384048"/>
          </a:xfrm>
          <a:prstGeom prst="ellipse">
            <a:avLst/>
          </a:prstGeom>
          <a:solidFill>
            <a:srgbClr val="CADCFC"/>
          </a:solidFill>
          <a:ln w="12700">
            <a:solidFill>
              <a:srgbClr val="CADCFC"/>
            </a:solidFill>
            <a:prstDash val="solid"/>
          </a:ln>
        </p:spPr>
      </p:sp>
      <p:pic>
        <p:nvPicPr>
          <p:cNvPr id="26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428232" y="2016252"/>
            <a:ext cx="173736" cy="173736"/>
          </a:xfrm>
          <a:prstGeom prst="rect">
            <a:avLst/>
          </a:prstGeom>
        </p:spPr>
      </p:pic>
      <p:sp>
        <p:nvSpPr>
          <p:cNvPr id="27" name="Text 19"/>
          <p:cNvSpPr txBox="1"/>
          <p:nvPr/>
        </p:nvSpPr>
        <p:spPr>
          <a:xfrm>
            <a:off x="6835140" y="1856232"/>
            <a:ext cx="47137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Emergency Numbers</a:t>
            </a:r>
            <a:endParaRPr lang="en-US" sz="1250" dirty="0"/>
          </a:p>
        </p:txBody>
      </p:sp>
      <p:sp>
        <p:nvSpPr>
          <p:cNvPr id="28" name="Text 20"/>
          <p:cNvSpPr txBox="1"/>
          <p:nvPr/>
        </p:nvSpPr>
        <p:spPr>
          <a:xfrm>
            <a:off x="6835140" y="2089404"/>
            <a:ext cx="471373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50"/>
              </a:lnSpc>
              <a:buNone/>
            </a:pPr>
            <a:r>
              <a:rPr lang="en-US" sz="100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Publish the numbers every portal can dial</a:t>
            </a:r>
            <a:endParaRPr lang="en-US" sz="1000" dirty="0"/>
          </a:p>
        </p:txBody>
      </p:sp>
      <p:sp>
        <p:nvSpPr>
          <p:cNvPr id="29" name="Shape 21"/>
          <p:cNvSpPr/>
          <p:nvPr/>
        </p:nvSpPr>
        <p:spPr>
          <a:xfrm>
            <a:off x="6323076" y="2697480"/>
            <a:ext cx="384048" cy="384048"/>
          </a:xfrm>
          <a:prstGeom prst="ellipse">
            <a:avLst/>
          </a:prstGeom>
          <a:solidFill>
            <a:srgbClr val="CADCFC"/>
          </a:solidFill>
          <a:ln w="12700">
            <a:solidFill>
              <a:srgbClr val="CADCFC"/>
            </a:solidFill>
            <a:prstDash val="solid"/>
          </a:ln>
        </p:spPr>
      </p:sp>
      <p:pic>
        <p:nvPicPr>
          <p:cNvPr id="30" name="Image 6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428232" y="2802636"/>
            <a:ext cx="173736" cy="173736"/>
          </a:xfrm>
          <a:prstGeom prst="rect">
            <a:avLst/>
          </a:prstGeom>
        </p:spPr>
      </p:pic>
      <p:sp>
        <p:nvSpPr>
          <p:cNvPr id="31" name="Text 22"/>
          <p:cNvSpPr txBox="1"/>
          <p:nvPr/>
        </p:nvSpPr>
        <p:spPr>
          <a:xfrm>
            <a:off x="6835140" y="2642616"/>
            <a:ext cx="47137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 Requests</a:t>
            </a:r>
            <a:endParaRPr lang="en-US" sz="1250" dirty="0"/>
          </a:p>
        </p:txBody>
      </p:sp>
      <p:sp>
        <p:nvSpPr>
          <p:cNvPr id="32" name="Text 23"/>
          <p:cNvSpPr txBox="1"/>
          <p:nvPr/>
        </p:nvSpPr>
        <p:spPr>
          <a:xfrm>
            <a:off x="6835140" y="2875788"/>
            <a:ext cx="471373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50"/>
              </a:lnSpc>
              <a:buNone/>
            </a:pPr>
            <a:r>
              <a:rPr lang="en-US" sz="100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Answer a family asking what is held about their child</a:t>
            </a:r>
            <a:endParaRPr lang="en-US" sz="1000" dirty="0"/>
          </a:p>
        </p:txBody>
      </p:sp>
      <p:sp>
        <p:nvSpPr>
          <p:cNvPr id="33" name="Shape 24"/>
          <p:cNvSpPr/>
          <p:nvPr/>
        </p:nvSpPr>
        <p:spPr>
          <a:xfrm>
            <a:off x="6323076" y="3483864"/>
            <a:ext cx="384048" cy="384048"/>
          </a:xfrm>
          <a:prstGeom prst="ellipse">
            <a:avLst/>
          </a:prstGeom>
          <a:solidFill>
            <a:srgbClr val="CADCFC"/>
          </a:solidFill>
          <a:ln w="12700">
            <a:solidFill>
              <a:srgbClr val="CADCFC"/>
            </a:solidFill>
            <a:prstDash val="solid"/>
          </a:ln>
        </p:spPr>
      </p:sp>
      <p:pic>
        <p:nvPicPr>
          <p:cNvPr id="34" name="Image 7" descr="preencoded.p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428232" y="3589020"/>
            <a:ext cx="173736" cy="173736"/>
          </a:xfrm>
          <a:prstGeom prst="rect">
            <a:avLst/>
          </a:prstGeom>
        </p:spPr>
      </p:pic>
      <p:sp>
        <p:nvSpPr>
          <p:cNvPr id="35" name="Text 25"/>
          <p:cNvSpPr txBox="1"/>
          <p:nvPr/>
        </p:nvSpPr>
        <p:spPr>
          <a:xfrm>
            <a:off x="6835140" y="3429000"/>
            <a:ext cx="47137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Audit Trail</a:t>
            </a:r>
            <a:endParaRPr lang="en-US" sz="1250" dirty="0"/>
          </a:p>
        </p:txBody>
      </p:sp>
      <p:sp>
        <p:nvSpPr>
          <p:cNvPr id="36" name="Text 26"/>
          <p:cNvSpPr txBox="1"/>
          <p:nvPr/>
        </p:nvSpPr>
        <p:spPr>
          <a:xfrm>
            <a:off x="6835140" y="3662172"/>
            <a:ext cx="471373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50"/>
              </a:lnSpc>
              <a:buNone/>
            </a:pPr>
            <a:r>
              <a:rPr lang="en-US" sz="100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Filter every change by module, date and person</a:t>
            </a:r>
            <a:endParaRPr lang="en-US" sz="1000" dirty="0"/>
          </a:p>
        </p:txBody>
      </p:sp>
      <p:sp>
        <p:nvSpPr>
          <p:cNvPr id="37" name="Shape 27"/>
          <p:cNvSpPr/>
          <p:nvPr/>
        </p:nvSpPr>
        <p:spPr>
          <a:xfrm>
            <a:off x="6323076" y="4270248"/>
            <a:ext cx="384048" cy="384048"/>
          </a:xfrm>
          <a:prstGeom prst="ellipse">
            <a:avLst/>
          </a:prstGeom>
          <a:solidFill>
            <a:srgbClr val="CADCFC"/>
          </a:solidFill>
          <a:ln w="12700">
            <a:solidFill>
              <a:srgbClr val="CADCFC"/>
            </a:solidFill>
            <a:prstDash val="solid"/>
          </a:ln>
        </p:spPr>
      </p:sp>
      <p:pic>
        <p:nvPicPr>
          <p:cNvPr id="38" name="Image 8" descr="preencoded.png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6428232" y="4375404"/>
            <a:ext cx="173736" cy="173736"/>
          </a:xfrm>
          <a:prstGeom prst="rect">
            <a:avLst/>
          </a:prstGeom>
        </p:spPr>
      </p:pic>
      <p:sp>
        <p:nvSpPr>
          <p:cNvPr id="39" name="Text 28"/>
          <p:cNvSpPr txBox="1"/>
          <p:nvPr/>
        </p:nvSpPr>
        <p:spPr>
          <a:xfrm>
            <a:off x="6835140" y="4215384"/>
            <a:ext cx="47137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System Check</a:t>
            </a:r>
            <a:endParaRPr lang="en-US" sz="1250" dirty="0"/>
          </a:p>
        </p:txBody>
      </p:sp>
      <p:sp>
        <p:nvSpPr>
          <p:cNvPr id="40" name="Text 29"/>
          <p:cNvSpPr txBox="1"/>
          <p:nvPr/>
        </p:nvSpPr>
        <p:spPr>
          <a:xfrm>
            <a:off x="6835140" y="4448556"/>
            <a:ext cx="471373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50"/>
              </a:lnSpc>
              <a:buNone/>
            </a:pPr>
            <a:r>
              <a:rPr lang="en-US" sz="100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Prove the deployment works before the first school day</a:t>
            </a:r>
            <a:endParaRPr lang="en-US" sz="1000" dirty="0"/>
          </a:p>
        </p:txBody>
      </p:sp>
      <p:sp>
        <p:nvSpPr>
          <p:cNvPr id="41" name="Shape 30"/>
          <p:cNvSpPr/>
          <p:nvPr/>
        </p:nvSpPr>
        <p:spPr>
          <a:xfrm>
            <a:off x="6323076" y="5056632"/>
            <a:ext cx="384048" cy="384048"/>
          </a:xfrm>
          <a:prstGeom prst="ellipse">
            <a:avLst/>
          </a:prstGeom>
          <a:solidFill>
            <a:srgbClr val="CADCFC"/>
          </a:solidFill>
          <a:ln w="12700">
            <a:solidFill>
              <a:srgbClr val="CADCFC"/>
            </a:solidFill>
            <a:prstDash val="solid"/>
          </a:ln>
        </p:spPr>
      </p:sp>
      <p:pic>
        <p:nvPicPr>
          <p:cNvPr id="42" name="Image 9" descr="preencoded.png">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6428232" y="5161788"/>
            <a:ext cx="173736" cy="173736"/>
          </a:xfrm>
          <a:prstGeom prst="rect">
            <a:avLst/>
          </a:prstGeom>
        </p:spPr>
      </p:pic>
      <p:sp>
        <p:nvSpPr>
          <p:cNvPr id="43" name="Text 31"/>
          <p:cNvSpPr txBox="1"/>
          <p:nvPr/>
        </p:nvSpPr>
        <p:spPr>
          <a:xfrm>
            <a:off x="6835140" y="5001768"/>
            <a:ext cx="47137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Profile</a:t>
            </a:r>
            <a:endParaRPr lang="en-US" sz="1250" dirty="0"/>
          </a:p>
        </p:txBody>
      </p:sp>
      <p:sp>
        <p:nvSpPr>
          <p:cNvPr id="44" name="Text 32"/>
          <p:cNvSpPr txBox="1"/>
          <p:nvPr/>
        </p:nvSpPr>
        <p:spPr>
          <a:xfrm>
            <a:off x="6835140" y="5234940"/>
            <a:ext cx="471373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50"/>
              </a:lnSpc>
              <a:buNone/>
            </a:pPr>
            <a:r>
              <a:rPr lang="en-US" sz="100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Your own details, QR ID, activity and notification switch</a:t>
            </a:r>
            <a:endParaRPr lang="en-US" sz="1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38912"/>
            <a:ext cx="1090879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40" kern="0" dirty="0">
                <a:solidFill>
                  <a:srgbClr val="E8A3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REGISTRAR &amp; CASHIER PORTAL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694944"/>
            <a:ext cx="10908792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counter a family actually walks up to</a:t>
            </a:r>
            <a:endParaRPr lang="en-US" sz="32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1371600"/>
            <a:ext cx="8945209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Four tiles on the dashboard, and everything else opens from a student's own record.</a:t>
            </a:r>
            <a:endParaRPr lang="en-US" sz="1350" dirty="0"/>
          </a:p>
        </p:txBody>
      </p:sp>
      <p:sp>
        <p:nvSpPr>
          <p:cNvPr id="5" name="Shape 3"/>
          <p:cNvSpPr/>
          <p:nvPr/>
        </p:nvSpPr>
        <p:spPr>
          <a:xfrm>
            <a:off x="640080" y="2194560"/>
            <a:ext cx="2569464" cy="2971800"/>
          </a:xfrm>
          <a:prstGeom prst="roundRect">
            <a:avLst>
              <a:gd name="adj" fmla="val 3559"/>
            </a:avLst>
          </a:prstGeom>
          <a:solidFill>
            <a:srgbClr val="F3F6FD"/>
          </a:solidFill>
          <a:ln w="9525">
            <a:solidFill>
              <a:srgbClr val="DCE4F5"/>
            </a:solidFill>
            <a:prstDash val="solid"/>
          </a:ln>
          <a:effectLst>
            <a:outerShdw sx="100000" sy="100000" kx="0" ky="0" algn="bl" rotWithShape="0" blurRad="127000" dist="25400" dir="5400000">
              <a:srgbClr val="1E2761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877824" y="2414016"/>
            <a:ext cx="475488" cy="475488"/>
          </a:xfrm>
          <a:prstGeom prst="ellipse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92124" y="2528316"/>
            <a:ext cx="228600" cy="228600"/>
          </a:xfrm>
          <a:prstGeom prst="rect">
            <a:avLst/>
          </a:prstGeom>
        </p:spPr>
      </p:pic>
      <p:sp>
        <p:nvSpPr>
          <p:cNvPr id="8" name="Text 5"/>
          <p:cNvSpPr txBox="1"/>
          <p:nvPr/>
        </p:nvSpPr>
        <p:spPr>
          <a:xfrm>
            <a:off x="877824" y="2980944"/>
            <a:ext cx="209397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Student Records</a:t>
            </a:r>
            <a:endParaRPr lang="en-US" sz="1400" dirty="0"/>
          </a:p>
        </p:txBody>
      </p:sp>
      <p:sp>
        <p:nvSpPr>
          <p:cNvPr id="9" name="Text 6"/>
          <p:cNvSpPr txBox="1"/>
          <p:nvPr/>
        </p:nvSpPr>
        <p:spPr>
          <a:xfrm>
            <a:off x="877824" y="3264408"/>
            <a:ext cx="2093976" cy="1691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Search and filter the roster by division, register a new student, import or export the list, load more as you scroll.</a:t>
            </a:r>
            <a:endParaRPr lang="en-US" sz="1100" dirty="0"/>
          </a:p>
        </p:txBody>
      </p:sp>
      <p:sp>
        <p:nvSpPr>
          <p:cNvPr id="10" name="Shape 7"/>
          <p:cNvSpPr/>
          <p:nvPr/>
        </p:nvSpPr>
        <p:spPr>
          <a:xfrm>
            <a:off x="3419856" y="2194560"/>
            <a:ext cx="2569464" cy="2971800"/>
          </a:xfrm>
          <a:prstGeom prst="roundRect">
            <a:avLst>
              <a:gd name="adj" fmla="val 3559"/>
            </a:avLst>
          </a:prstGeom>
          <a:solidFill>
            <a:srgbClr val="F3F6FD"/>
          </a:solidFill>
          <a:ln w="9525">
            <a:solidFill>
              <a:srgbClr val="DCE4F5"/>
            </a:solidFill>
            <a:prstDash val="solid"/>
          </a:ln>
          <a:effectLst>
            <a:outerShdw sx="100000" sy="100000" kx="0" ky="0" algn="bl" rotWithShape="0" blurRad="127000" dist="25400" dir="5400000">
              <a:srgbClr val="1E2761">
                <a:alpha val="10000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3657600" y="2414016"/>
            <a:ext cx="475488" cy="475488"/>
          </a:xfrm>
          <a:prstGeom prst="ellipse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771900" y="2528316"/>
            <a:ext cx="228600" cy="228600"/>
          </a:xfrm>
          <a:prstGeom prst="rect">
            <a:avLst/>
          </a:prstGeom>
        </p:spPr>
      </p:pic>
      <p:sp>
        <p:nvSpPr>
          <p:cNvPr id="13" name="Text 9"/>
          <p:cNvSpPr txBox="1"/>
          <p:nvPr/>
        </p:nvSpPr>
        <p:spPr>
          <a:xfrm>
            <a:off x="3657600" y="2980944"/>
            <a:ext cx="209397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 Requests</a:t>
            </a:r>
            <a:endParaRPr lang="en-US" sz="1400" dirty="0"/>
          </a:p>
        </p:txBody>
      </p:sp>
      <p:sp>
        <p:nvSpPr>
          <p:cNvPr id="14" name="Text 10"/>
          <p:cNvSpPr txBox="1"/>
          <p:nvPr/>
        </p:nvSpPr>
        <p:spPr>
          <a:xfrm>
            <a:off x="3657600" y="3264408"/>
            <a:ext cx="2093976" cy="1691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queue of families asking for access, correction, erasure or objection - each with a target answer date.</a:t>
            </a:r>
            <a:endParaRPr lang="en-US" sz="1100" dirty="0"/>
          </a:p>
        </p:txBody>
      </p:sp>
      <p:sp>
        <p:nvSpPr>
          <p:cNvPr id="15" name="Shape 11"/>
          <p:cNvSpPr/>
          <p:nvPr/>
        </p:nvSpPr>
        <p:spPr>
          <a:xfrm>
            <a:off x="6199632" y="2194560"/>
            <a:ext cx="2569464" cy="2971800"/>
          </a:xfrm>
          <a:prstGeom prst="roundRect">
            <a:avLst>
              <a:gd name="adj" fmla="val 3559"/>
            </a:avLst>
          </a:prstGeom>
          <a:solidFill>
            <a:srgbClr val="F3F6FD"/>
          </a:solidFill>
          <a:ln w="9525">
            <a:solidFill>
              <a:srgbClr val="DCE4F5"/>
            </a:solidFill>
            <a:prstDash val="solid"/>
          </a:ln>
          <a:effectLst>
            <a:outerShdw sx="100000" sy="100000" kx="0" ky="0" algn="bl" rotWithShape="0" blurRad="127000" dist="25400" dir="5400000">
              <a:srgbClr val="1E2761">
                <a:alpha val="10000"/>
              </a:srgbClr>
            </a:outerShdw>
          </a:effectLst>
        </p:spPr>
      </p:sp>
      <p:sp>
        <p:nvSpPr>
          <p:cNvPr id="16" name="Shape 12"/>
          <p:cNvSpPr/>
          <p:nvPr/>
        </p:nvSpPr>
        <p:spPr>
          <a:xfrm>
            <a:off x="6437376" y="2414016"/>
            <a:ext cx="475488" cy="475488"/>
          </a:xfrm>
          <a:prstGeom prst="ellipse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pic>
        <p:nvPicPr>
          <p:cNvPr id="17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51676" y="2528316"/>
            <a:ext cx="228600" cy="228600"/>
          </a:xfrm>
          <a:prstGeom prst="rect">
            <a:avLst/>
          </a:prstGeom>
        </p:spPr>
      </p:pic>
      <p:sp>
        <p:nvSpPr>
          <p:cNvPr id="18" name="Text 13"/>
          <p:cNvSpPr txBox="1"/>
          <p:nvPr/>
        </p:nvSpPr>
        <p:spPr>
          <a:xfrm>
            <a:off x="6437376" y="2980944"/>
            <a:ext cx="209397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Online Payments</a:t>
            </a:r>
            <a:endParaRPr lang="en-US" sz="1400" dirty="0"/>
          </a:p>
        </p:txBody>
      </p:sp>
      <p:sp>
        <p:nvSpPr>
          <p:cNvPr id="19" name="Text 14"/>
          <p:cNvSpPr txBox="1"/>
          <p:nvPr/>
        </p:nvSpPr>
        <p:spPr>
          <a:xfrm>
            <a:off x="6437376" y="3264408"/>
            <a:ext cx="2093976" cy="1691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review queue: every GCash or bank transfer a family sent in, with the reference and the amount, to approve or reject.</a:t>
            </a:r>
            <a:endParaRPr lang="en-US" sz="1100" dirty="0"/>
          </a:p>
        </p:txBody>
      </p:sp>
      <p:sp>
        <p:nvSpPr>
          <p:cNvPr id="20" name="Shape 15"/>
          <p:cNvSpPr/>
          <p:nvPr/>
        </p:nvSpPr>
        <p:spPr>
          <a:xfrm>
            <a:off x="8979408" y="2194560"/>
            <a:ext cx="2569464" cy="2971800"/>
          </a:xfrm>
          <a:prstGeom prst="roundRect">
            <a:avLst>
              <a:gd name="adj" fmla="val 3559"/>
            </a:avLst>
          </a:prstGeom>
          <a:solidFill>
            <a:srgbClr val="F3F6FD"/>
          </a:solidFill>
          <a:ln w="9525">
            <a:solidFill>
              <a:srgbClr val="DCE4F5"/>
            </a:solidFill>
            <a:prstDash val="solid"/>
          </a:ln>
          <a:effectLst>
            <a:outerShdw sx="100000" sy="100000" kx="0" ky="0" algn="bl" rotWithShape="0" blurRad="127000" dist="25400" dir="5400000">
              <a:srgbClr val="1E2761">
                <a:alpha val="10000"/>
              </a:srgbClr>
            </a:outerShdw>
          </a:effectLst>
        </p:spPr>
      </p:sp>
      <p:sp>
        <p:nvSpPr>
          <p:cNvPr id="21" name="Shape 16"/>
          <p:cNvSpPr/>
          <p:nvPr/>
        </p:nvSpPr>
        <p:spPr>
          <a:xfrm>
            <a:off x="9217152" y="2414016"/>
            <a:ext cx="475488" cy="475488"/>
          </a:xfrm>
          <a:prstGeom prst="ellipse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pic>
        <p:nvPicPr>
          <p:cNvPr id="22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331452" y="2528316"/>
            <a:ext cx="228600" cy="228600"/>
          </a:xfrm>
          <a:prstGeom prst="rect">
            <a:avLst/>
          </a:prstGeom>
        </p:spPr>
      </p:pic>
      <p:sp>
        <p:nvSpPr>
          <p:cNvPr id="23" name="Text 17"/>
          <p:cNvSpPr txBox="1"/>
          <p:nvPr/>
        </p:nvSpPr>
        <p:spPr>
          <a:xfrm>
            <a:off x="9217152" y="2980944"/>
            <a:ext cx="209397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Payment Setup</a:t>
            </a:r>
            <a:endParaRPr lang="en-US" sz="1400" dirty="0"/>
          </a:p>
        </p:txBody>
      </p:sp>
      <p:sp>
        <p:nvSpPr>
          <p:cNvPr id="24" name="Text 18"/>
          <p:cNvSpPr txBox="1"/>
          <p:nvPr/>
        </p:nvSpPr>
        <p:spPr>
          <a:xfrm>
            <a:off x="9217152" y="3264408"/>
            <a:ext cx="2093976" cy="1691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school's own account name, number, QR image and the instructions families read before they send anything.</a:t>
            </a:r>
            <a:endParaRPr lang="en-US" sz="1100" dirty="0"/>
          </a:p>
        </p:txBody>
      </p:sp>
      <p:sp>
        <p:nvSpPr>
          <p:cNvPr id="25" name="Text 19"/>
          <p:cNvSpPr txBox="1"/>
          <p:nvPr/>
        </p:nvSpPr>
        <p:spPr>
          <a:xfrm>
            <a:off x="640080" y="5440680"/>
            <a:ext cx="1090879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Registration issues a sequential student number - S-2026-000001 - that no app can invent or reuse.</a:t>
            </a:r>
            <a:endParaRPr lang="en-US" sz="15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141B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38912"/>
            <a:ext cx="1090879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40" kern="0" dirty="0">
                <a:solidFill>
                  <a:srgbClr val="E8A3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INSIDE ONE STUDENT RECORD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694944"/>
            <a:ext cx="10908792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Nine actions, one screen</a:t>
            </a:r>
            <a:endParaRPr lang="en-US" sz="32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1371600"/>
            <a:ext cx="8945209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Open a student from the roster and everything the school does for that child is one tap away.</a:t>
            </a:r>
            <a:endParaRPr lang="en-US" sz="1350" dirty="0"/>
          </a:p>
        </p:txBody>
      </p:sp>
      <p:sp>
        <p:nvSpPr>
          <p:cNvPr id="5" name="Shape 3"/>
          <p:cNvSpPr/>
          <p:nvPr/>
        </p:nvSpPr>
        <p:spPr>
          <a:xfrm>
            <a:off x="640080" y="2322576"/>
            <a:ext cx="384048" cy="384048"/>
          </a:xfrm>
          <a:prstGeom prst="ellipse">
            <a:avLst/>
          </a:prstGeom>
          <a:solidFill>
            <a:srgbClr val="2E3A70"/>
          </a:solidFill>
          <a:ln w="12700">
            <a:solidFill>
              <a:srgbClr val="2E3A70"/>
            </a:solidFill>
            <a:prstDash val="solid"/>
          </a:ln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45236" y="2427732"/>
            <a:ext cx="173736" cy="173736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1152144" y="2267712"/>
            <a:ext cx="28803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Edit</a:t>
            </a:r>
            <a:endParaRPr lang="en-US" sz="1250" dirty="0"/>
          </a:p>
        </p:txBody>
      </p:sp>
      <p:sp>
        <p:nvSpPr>
          <p:cNvPr id="8" name="Text 5"/>
          <p:cNvSpPr txBox="1"/>
          <p:nvPr/>
        </p:nvSpPr>
        <p:spPr>
          <a:xfrm>
            <a:off x="1152144" y="2500884"/>
            <a:ext cx="2880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50"/>
              </a:lnSpc>
              <a:buNone/>
            </a:pPr>
            <a:r>
              <a:rPr lang="en-US" sz="1000" dirty="0">
                <a:solidFill>
                  <a:srgbClr val="9EAB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Name, grade level, section, status and guardian contacts</a:t>
            </a:r>
            <a:endParaRPr lang="en-US" sz="1000" dirty="0"/>
          </a:p>
        </p:txBody>
      </p:sp>
      <p:sp>
        <p:nvSpPr>
          <p:cNvPr id="9" name="Shape 6"/>
          <p:cNvSpPr/>
          <p:nvPr/>
        </p:nvSpPr>
        <p:spPr>
          <a:xfrm>
            <a:off x="640080" y="3511296"/>
            <a:ext cx="384048" cy="384048"/>
          </a:xfrm>
          <a:prstGeom prst="ellipse">
            <a:avLst/>
          </a:prstGeom>
          <a:solidFill>
            <a:srgbClr val="2E3A70"/>
          </a:solidFill>
          <a:ln w="12700">
            <a:solidFill>
              <a:srgbClr val="2E3A70"/>
            </a:solidFill>
            <a:prstDash val="solid"/>
          </a:ln>
        </p:spPr>
      </p:sp>
      <p:pic>
        <p:nvPicPr>
          <p:cNvPr id="10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5236" y="3616452"/>
            <a:ext cx="173736" cy="173736"/>
          </a:xfrm>
          <a:prstGeom prst="rect">
            <a:avLst/>
          </a:prstGeom>
        </p:spPr>
      </p:pic>
      <p:sp>
        <p:nvSpPr>
          <p:cNvPr id="11" name="Text 7"/>
          <p:cNvSpPr txBox="1"/>
          <p:nvPr/>
        </p:nvSpPr>
        <p:spPr>
          <a:xfrm>
            <a:off x="1152144" y="3456432"/>
            <a:ext cx="28803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Photo</a:t>
            </a:r>
            <a:endParaRPr lang="en-US" sz="1250" dirty="0"/>
          </a:p>
        </p:txBody>
      </p:sp>
      <p:sp>
        <p:nvSpPr>
          <p:cNvPr id="12" name="Text 8"/>
          <p:cNvSpPr txBox="1"/>
          <p:nvPr/>
        </p:nvSpPr>
        <p:spPr>
          <a:xfrm>
            <a:off x="1152144" y="3689604"/>
            <a:ext cx="2880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50"/>
              </a:lnSpc>
              <a:buNone/>
            </a:pPr>
            <a:r>
              <a:rPr lang="en-US" sz="1000" dirty="0">
                <a:solidFill>
                  <a:srgbClr val="9EAB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Upload the picture that prints on the school ID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640080" y="4700016"/>
            <a:ext cx="384048" cy="384048"/>
          </a:xfrm>
          <a:prstGeom prst="ellipse">
            <a:avLst/>
          </a:prstGeom>
          <a:solidFill>
            <a:srgbClr val="2E3A70"/>
          </a:solidFill>
          <a:ln w="12700">
            <a:solidFill>
              <a:srgbClr val="2E3A70"/>
            </a:solidFill>
            <a:prstDash val="solid"/>
          </a:ln>
        </p:spPr>
      </p:sp>
      <p:pic>
        <p:nvPicPr>
          <p:cNvPr id="14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45236" y="4805172"/>
            <a:ext cx="173736" cy="173736"/>
          </a:xfrm>
          <a:prstGeom prst="rect">
            <a:avLst/>
          </a:prstGeom>
        </p:spPr>
      </p:pic>
      <p:sp>
        <p:nvSpPr>
          <p:cNvPr id="15" name="Text 10"/>
          <p:cNvSpPr txBox="1"/>
          <p:nvPr/>
        </p:nvSpPr>
        <p:spPr>
          <a:xfrm>
            <a:off x="1152144" y="4645152"/>
            <a:ext cx="28803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Assess Fees</a:t>
            </a:r>
            <a:endParaRPr lang="en-US" sz="1250" dirty="0"/>
          </a:p>
        </p:txBody>
      </p:sp>
      <p:sp>
        <p:nvSpPr>
          <p:cNvPr id="16" name="Text 11"/>
          <p:cNvSpPr txBox="1"/>
          <p:nvPr/>
        </p:nvSpPr>
        <p:spPr>
          <a:xfrm>
            <a:off x="1152144" y="4878324"/>
            <a:ext cx="2880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50"/>
              </a:lnSpc>
              <a:buNone/>
            </a:pPr>
            <a:r>
              <a:rPr lang="en-US" sz="1000" dirty="0">
                <a:solidFill>
                  <a:srgbClr val="9EAB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Charge a fee schedule, or type an ad-hoc charge; void one that was wrong</a:t>
            </a:r>
            <a:endParaRPr lang="en-US" sz="1000" dirty="0"/>
          </a:p>
        </p:txBody>
      </p:sp>
      <p:sp>
        <p:nvSpPr>
          <p:cNvPr id="17" name="Shape 12"/>
          <p:cNvSpPr/>
          <p:nvPr/>
        </p:nvSpPr>
        <p:spPr>
          <a:xfrm>
            <a:off x="4398264" y="2322576"/>
            <a:ext cx="384048" cy="384048"/>
          </a:xfrm>
          <a:prstGeom prst="ellipse">
            <a:avLst/>
          </a:prstGeom>
          <a:solidFill>
            <a:srgbClr val="2E3A70"/>
          </a:solidFill>
          <a:ln w="12700">
            <a:solidFill>
              <a:srgbClr val="2E3A70"/>
            </a:solidFill>
            <a:prstDash val="solid"/>
          </a:ln>
        </p:spPr>
      </p:sp>
      <p:pic>
        <p:nvPicPr>
          <p:cNvPr id="18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03420" y="2427732"/>
            <a:ext cx="173736" cy="173736"/>
          </a:xfrm>
          <a:prstGeom prst="rect">
            <a:avLst/>
          </a:prstGeom>
        </p:spPr>
      </p:pic>
      <p:sp>
        <p:nvSpPr>
          <p:cNvPr id="19" name="Text 13"/>
          <p:cNvSpPr txBox="1"/>
          <p:nvPr/>
        </p:nvSpPr>
        <p:spPr>
          <a:xfrm>
            <a:off x="4910328" y="2267712"/>
            <a:ext cx="28803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Record Payment</a:t>
            </a:r>
            <a:endParaRPr lang="en-US" sz="1250" dirty="0"/>
          </a:p>
        </p:txBody>
      </p:sp>
      <p:sp>
        <p:nvSpPr>
          <p:cNvPr id="20" name="Text 14"/>
          <p:cNvSpPr txBox="1"/>
          <p:nvPr/>
        </p:nvSpPr>
        <p:spPr>
          <a:xfrm>
            <a:off x="4910328" y="2500884"/>
            <a:ext cx="2880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50"/>
              </a:lnSpc>
              <a:buNone/>
            </a:pPr>
            <a:r>
              <a:rPr lang="en-US" sz="1000" dirty="0">
                <a:solidFill>
                  <a:srgbClr val="9EAB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Cash, GCash or bank transfer, with a sequential receipt number and the balance in front of you</a:t>
            </a:r>
            <a:endParaRPr lang="en-US" sz="1000" dirty="0"/>
          </a:p>
        </p:txBody>
      </p:sp>
      <p:sp>
        <p:nvSpPr>
          <p:cNvPr id="21" name="Shape 15"/>
          <p:cNvSpPr/>
          <p:nvPr/>
        </p:nvSpPr>
        <p:spPr>
          <a:xfrm>
            <a:off x="4398264" y="3511296"/>
            <a:ext cx="384048" cy="384048"/>
          </a:xfrm>
          <a:prstGeom prst="ellipse">
            <a:avLst/>
          </a:prstGeom>
          <a:solidFill>
            <a:srgbClr val="2E3A70"/>
          </a:solidFill>
          <a:ln w="12700">
            <a:solidFill>
              <a:srgbClr val="2E3A70"/>
            </a:solidFill>
            <a:prstDash val="solid"/>
          </a:ln>
        </p:spPr>
      </p:sp>
      <p:pic>
        <p:nvPicPr>
          <p:cNvPr id="22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03420" y="3616452"/>
            <a:ext cx="173736" cy="173736"/>
          </a:xfrm>
          <a:prstGeom prst="rect">
            <a:avLst/>
          </a:prstGeom>
        </p:spPr>
      </p:pic>
      <p:sp>
        <p:nvSpPr>
          <p:cNvPr id="23" name="Text 16"/>
          <p:cNvSpPr txBox="1"/>
          <p:nvPr/>
        </p:nvSpPr>
        <p:spPr>
          <a:xfrm>
            <a:off x="4910328" y="3456432"/>
            <a:ext cx="28803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Payment History</a:t>
            </a:r>
            <a:endParaRPr lang="en-US" sz="1250" dirty="0"/>
          </a:p>
        </p:txBody>
      </p:sp>
      <p:sp>
        <p:nvSpPr>
          <p:cNvPr id="24" name="Text 17"/>
          <p:cNvSpPr txBox="1"/>
          <p:nvPr/>
        </p:nvSpPr>
        <p:spPr>
          <a:xfrm>
            <a:off x="4910328" y="3689604"/>
            <a:ext cx="2880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50"/>
              </a:lnSpc>
              <a:buNone/>
            </a:pPr>
            <a:r>
              <a:rPr lang="en-US" sz="1000" dirty="0">
                <a:solidFill>
                  <a:srgbClr val="9EAB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charge, payment and refund, and how the balance is made up</a:t>
            </a:r>
            <a:endParaRPr lang="en-US" sz="1000" dirty="0"/>
          </a:p>
        </p:txBody>
      </p:sp>
      <p:sp>
        <p:nvSpPr>
          <p:cNvPr id="25" name="Shape 18"/>
          <p:cNvSpPr/>
          <p:nvPr/>
        </p:nvSpPr>
        <p:spPr>
          <a:xfrm>
            <a:off x="4398264" y="4700016"/>
            <a:ext cx="384048" cy="384048"/>
          </a:xfrm>
          <a:prstGeom prst="ellipse">
            <a:avLst/>
          </a:prstGeom>
          <a:solidFill>
            <a:srgbClr val="2E3A70"/>
          </a:solidFill>
          <a:ln w="12700">
            <a:solidFill>
              <a:srgbClr val="2E3A70"/>
            </a:solidFill>
            <a:prstDash val="solid"/>
          </a:ln>
        </p:spPr>
      </p:sp>
      <p:pic>
        <p:nvPicPr>
          <p:cNvPr id="26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503420" y="4805172"/>
            <a:ext cx="173736" cy="173736"/>
          </a:xfrm>
          <a:prstGeom prst="rect">
            <a:avLst/>
          </a:prstGeom>
        </p:spPr>
      </p:pic>
      <p:sp>
        <p:nvSpPr>
          <p:cNvPr id="27" name="Text 19"/>
          <p:cNvSpPr txBox="1"/>
          <p:nvPr/>
        </p:nvSpPr>
        <p:spPr>
          <a:xfrm>
            <a:off x="4910328" y="4645152"/>
            <a:ext cx="28803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Records &amp; Forms</a:t>
            </a:r>
            <a:endParaRPr lang="en-US" sz="1250" dirty="0"/>
          </a:p>
        </p:txBody>
      </p:sp>
      <p:sp>
        <p:nvSpPr>
          <p:cNvPr id="28" name="Text 20"/>
          <p:cNvSpPr txBox="1"/>
          <p:nvPr/>
        </p:nvSpPr>
        <p:spPr>
          <a:xfrm>
            <a:off x="4910328" y="4878324"/>
            <a:ext cx="2880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50"/>
              </a:lnSpc>
              <a:buNone/>
            </a:pPr>
            <a:r>
              <a:rPr lang="en-US" sz="1000" dirty="0">
                <a:solidFill>
                  <a:srgbClr val="9EAB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Print the Transcript of Records or Form 137, and log the release</a:t>
            </a:r>
            <a:endParaRPr lang="en-US" sz="1000" dirty="0"/>
          </a:p>
        </p:txBody>
      </p:sp>
      <p:sp>
        <p:nvSpPr>
          <p:cNvPr id="29" name="Shape 21"/>
          <p:cNvSpPr/>
          <p:nvPr/>
        </p:nvSpPr>
        <p:spPr>
          <a:xfrm>
            <a:off x="8156448" y="2322576"/>
            <a:ext cx="384048" cy="384048"/>
          </a:xfrm>
          <a:prstGeom prst="ellipse">
            <a:avLst/>
          </a:prstGeom>
          <a:solidFill>
            <a:srgbClr val="2E3A70"/>
          </a:solidFill>
          <a:ln w="12700">
            <a:solidFill>
              <a:srgbClr val="2E3A70"/>
            </a:solidFill>
            <a:prstDash val="solid"/>
          </a:ln>
        </p:spPr>
      </p:sp>
      <p:pic>
        <p:nvPicPr>
          <p:cNvPr id="30" name="Image 6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261604" y="2427732"/>
            <a:ext cx="173736" cy="173736"/>
          </a:xfrm>
          <a:prstGeom prst="rect">
            <a:avLst/>
          </a:prstGeom>
        </p:spPr>
      </p:pic>
      <p:sp>
        <p:nvSpPr>
          <p:cNvPr id="31" name="Text 22"/>
          <p:cNvSpPr txBox="1"/>
          <p:nvPr/>
        </p:nvSpPr>
        <p:spPr>
          <a:xfrm>
            <a:off x="8668512" y="2267712"/>
            <a:ext cx="28803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Attendance History</a:t>
            </a:r>
            <a:endParaRPr lang="en-US" sz="1250" dirty="0"/>
          </a:p>
        </p:txBody>
      </p:sp>
      <p:sp>
        <p:nvSpPr>
          <p:cNvPr id="32" name="Text 23"/>
          <p:cNvSpPr txBox="1"/>
          <p:nvPr/>
        </p:nvSpPr>
        <p:spPr>
          <a:xfrm>
            <a:off x="8668512" y="2500884"/>
            <a:ext cx="2880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50"/>
              </a:lnSpc>
              <a:buNone/>
            </a:pPr>
            <a:r>
              <a:rPr lang="en-US" sz="1000" dirty="0">
                <a:solidFill>
                  <a:srgbClr val="9EAB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scan, in and out, with the status the server decided</a:t>
            </a:r>
            <a:endParaRPr lang="en-US" sz="1000" dirty="0"/>
          </a:p>
        </p:txBody>
      </p:sp>
      <p:sp>
        <p:nvSpPr>
          <p:cNvPr id="33" name="Shape 24"/>
          <p:cNvSpPr/>
          <p:nvPr/>
        </p:nvSpPr>
        <p:spPr>
          <a:xfrm>
            <a:off x="8156448" y="3511296"/>
            <a:ext cx="384048" cy="384048"/>
          </a:xfrm>
          <a:prstGeom prst="ellipse">
            <a:avLst/>
          </a:prstGeom>
          <a:solidFill>
            <a:srgbClr val="2E3A70"/>
          </a:solidFill>
          <a:ln w="12700">
            <a:solidFill>
              <a:srgbClr val="2E3A70"/>
            </a:solidFill>
            <a:prstDash val="solid"/>
          </a:ln>
        </p:spPr>
      </p:sp>
      <p:pic>
        <p:nvPicPr>
          <p:cNvPr id="34" name="Image 7" descr="preencoded.p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8261604" y="3616452"/>
            <a:ext cx="173736" cy="173736"/>
          </a:xfrm>
          <a:prstGeom prst="rect">
            <a:avLst/>
          </a:prstGeom>
        </p:spPr>
      </p:pic>
      <p:sp>
        <p:nvSpPr>
          <p:cNvPr id="35" name="Text 25"/>
          <p:cNvSpPr txBox="1"/>
          <p:nvPr/>
        </p:nvSpPr>
        <p:spPr>
          <a:xfrm>
            <a:off x="8668512" y="3456432"/>
            <a:ext cx="28803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Create Portal Account</a:t>
            </a:r>
            <a:endParaRPr lang="en-US" sz="1250" dirty="0"/>
          </a:p>
        </p:txBody>
      </p:sp>
      <p:sp>
        <p:nvSpPr>
          <p:cNvPr id="36" name="Text 26"/>
          <p:cNvSpPr txBox="1"/>
          <p:nvPr/>
        </p:nvSpPr>
        <p:spPr>
          <a:xfrm>
            <a:off x="8668512" y="3689604"/>
            <a:ext cx="2880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50"/>
              </a:lnSpc>
              <a:buNone/>
            </a:pPr>
            <a:r>
              <a:rPr lang="en-US" sz="1000" dirty="0">
                <a:solidFill>
                  <a:srgbClr val="9EAB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Issue the student their own login - only when the school wants one</a:t>
            </a:r>
            <a:endParaRPr lang="en-US" sz="1000" dirty="0"/>
          </a:p>
        </p:txBody>
      </p:sp>
      <p:sp>
        <p:nvSpPr>
          <p:cNvPr id="37" name="Shape 27"/>
          <p:cNvSpPr/>
          <p:nvPr/>
        </p:nvSpPr>
        <p:spPr>
          <a:xfrm>
            <a:off x="8156448" y="4700016"/>
            <a:ext cx="384048" cy="384048"/>
          </a:xfrm>
          <a:prstGeom prst="ellipse">
            <a:avLst/>
          </a:prstGeom>
          <a:solidFill>
            <a:srgbClr val="2E3A70"/>
          </a:solidFill>
          <a:ln w="12700">
            <a:solidFill>
              <a:srgbClr val="2E3A70"/>
            </a:solidFill>
            <a:prstDash val="solid"/>
          </a:ln>
        </p:spPr>
      </p:sp>
      <p:pic>
        <p:nvPicPr>
          <p:cNvPr id="38" name="Image 8" descr="preencoded.png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8261604" y="4805172"/>
            <a:ext cx="173736" cy="173736"/>
          </a:xfrm>
          <a:prstGeom prst="rect">
            <a:avLst/>
          </a:prstGeom>
        </p:spPr>
      </p:pic>
      <p:sp>
        <p:nvSpPr>
          <p:cNvPr id="39" name="Text 28"/>
          <p:cNvSpPr txBox="1"/>
          <p:nvPr/>
        </p:nvSpPr>
        <p:spPr>
          <a:xfrm>
            <a:off x="8668512" y="4645152"/>
            <a:ext cx="28803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Set Balance</a:t>
            </a:r>
            <a:endParaRPr lang="en-US" sz="1250" dirty="0"/>
          </a:p>
        </p:txBody>
      </p:sp>
      <p:sp>
        <p:nvSpPr>
          <p:cNvPr id="40" name="Text 29"/>
          <p:cNvSpPr txBox="1"/>
          <p:nvPr/>
        </p:nvSpPr>
        <p:spPr>
          <a:xfrm>
            <a:off x="8668512" y="4878324"/>
            <a:ext cx="2880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50"/>
              </a:lnSpc>
              <a:buNone/>
            </a:pPr>
            <a:r>
              <a:rPr lang="en-US" sz="1000" dirty="0">
                <a:solidFill>
                  <a:srgbClr val="9EAB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 opening balance for a student carried over from the old system</a:t>
            </a:r>
            <a:endParaRPr lang="en-US" sz="1000" dirty="0"/>
          </a:p>
        </p:txBody>
      </p:sp>
      <p:sp>
        <p:nvSpPr>
          <p:cNvPr id="41" name="Text 30"/>
          <p:cNvSpPr txBox="1"/>
          <p:nvPr/>
        </p:nvSpPr>
        <p:spPr>
          <a:xfrm>
            <a:off x="640080" y="5943600"/>
            <a:ext cx="1090879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E8A3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balance moves only inside a recorded payment or refund - never by an edit.</a:t>
            </a:r>
            <a:endParaRPr lang="en-US" sz="15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38912"/>
            <a:ext cx="1090879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40" kern="0" dirty="0">
                <a:solidFill>
                  <a:srgbClr val="E8A3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FACULTY PORTAL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694944"/>
            <a:ext cx="10908792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 a teacher opens between classes</a:t>
            </a:r>
            <a:endParaRPr lang="en-US" sz="32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1371600"/>
            <a:ext cx="8945209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Seven tiles, and none of them ask a teacher to be an administrator first.</a:t>
            </a:r>
            <a:endParaRPr lang="en-US" sz="1350" dirty="0"/>
          </a:p>
        </p:txBody>
      </p:sp>
      <p:sp>
        <p:nvSpPr>
          <p:cNvPr id="5" name="Shape 3"/>
          <p:cNvSpPr/>
          <p:nvPr/>
        </p:nvSpPr>
        <p:spPr>
          <a:xfrm>
            <a:off x="640080" y="1956816"/>
            <a:ext cx="384048" cy="384048"/>
          </a:xfrm>
          <a:prstGeom prst="ellipse">
            <a:avLst/>
          </a:prstGeom>
          <a:solidFill>
            <a:srgbClr val="CADCFC"/>
          </a:solidFill>
          <a:ln w="12700">
            <a:solidFill>
              <a:srgbClr val="CADCFC"/>
            </a:solidFill>
            <a:prstDash val="solid"/>
          </a:ln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45236" y="2061972"/>
            <a:ext cx="173736" cy="173736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1152144" y="1901952"/>
            <a:ext cx="47137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My Schedule</a:t>
            </a:r>
            <a:endParaRPr lang="en-US" sz="1250" dirty="0"/>
          </a:p>
        </p:txBody>
      </p:sp>
      <p:sp>
        <p:nvSpPr>
          <p:cNvPr id="8" name="Text 5"/>
          <p:cNvSpPr txBox="1"/>
          <p:nvPr/>
        </p:nvSpPr>
        <p:spPr>
          <a:xfrm>
            <a:off x="1152144" y="2135124"/>
            <a:ext cx="471373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50"/>
              </a:lnSpc>
              <a:buNone/>
            </a:pPr>
            <a:r>
              <a:rPr lang="en-US" sz="100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Your own week - what you teach, when, where, to whom</a:t>
            </a:r>
            <a:endParaRPr lang="en-US" sz="1000" dirty="0"/>
          </a:p>
        </p:txBody>
      </p:sp>
      <p:sp>
        <p:nvSpPr>
          <p:cNvPr id="9" name="Shape 6"/>
          <p:cNvSpPr/>
          <p:nvPr/>
        </p:nvSpPr>
        <p:spPr>
          <a:xfrm>
            <a:off x="640080" y="2980944"/>
            <a:ext cx="384048" cy="384048"/>
          </a:xfrm>
          <a:prstGeom prst="ellipse">
            <a:avLst/>
          </a:prstGeom>
          <a:solidFill>
            <a:srgbClr val="CADCFC"/>
          </a:solidFill>
          <a:ln w="12700">
            <a:solidFill>
              <a:srgbClr val="CADCFC"/>
            </a:solidFill>
            <a:prstDash val="solid"/>
          </a:ln>
        </p:spPr>
      </p:sp>
      <p:pic>
        <p:nvPicPr>
          <p:cNvPr id="10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5236" y="3086100"/>
            <a:ext cx="173736" cy="173736"/>
          </a:xfrm>
          <a:prstGeom prst="rect">
            <a:avLst/>
          </a:prstGeom>
        </p:spPr>
      </p:pic>
      <p:sp>
        <p:nvSpPr>
          <p:cNvPr id="11" name="Text 7"/>
          <p:cNvSpPr txBox="1"/>
          <p:nvPr/>
        </p:nvSpPr>
        <p:spPr>
          <a:xfrm>
            <a:off x="1152144" y="2926080"/>
            <a:ext cx="47137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Coursework</a:t>
            </a:r>
            <a:endParaRPr lang="en-US" sz="1250" dirty="0"/>
          </a:p>
        </p:txBody>
      </p:sp>
      <p:sp>
        <p:nvSpPr>
          <p:cNvPr id="12" name="Text 8"/>
          <p:cNvSpPr txBox="1"/>
          <p:nvPr/>
        </p:nvSpPr>
        <p:spPr>
          <a:xfrm>
            <a:off x="1152144" y="3159252"/>
            <a:ext cx="471373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50"/>
              </a:lnSpc>
              <a:buNone/>
            </a:pPr>
            <a:r>
              <a:rPr lang="en-US" sz="100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Lesson plans, lessons, assignments, projects, exams and quizzes in one list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640080" y="4005072"/>
            <a:ext cx="384048" cy="384048"/>
          </a:xfrm>
          <a:prstGeom prst="ellipse">
            <a:avLst/>
          </a:prstGeom>
          <a:solidFill>
            <a:srgbClr val="CADCFC"/>
          </a:solidFill>
          <a:ln w="12700">
            <a:solidFill>
              <a:srgbClr val="CADCFC"/>
            </a:solidFill>
            <a:prstDash val="solid"/>
          </a:ln>
        </p:spPr>
      </p:sp>
      <p:pic>
        <p:nvPicPr>
          <p:cNvPr id="14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45236" y="4110228"/>
            <a:ext cx="173736" cy="173736"/>
          </a:xfrm>
          <a:prstGeom prst="rect">
            <a:avLst/>
          </a:prstGeom>
        </p:spPr>
      </p:pic>
      <p:sp>
        <p:nvSpPr>
          <p:cNvPr id="15" name="Text 10"/>
          <p:cNvSpPr txBox="1"/>
          <p:nvPr/>
        </p:nvSpPr>
        <p:spPr>
          <a:xfrm>
            <a:off x="1152144" y="3950208"/>
            <a:ext cx="47137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Grade Submission</a:t>
            </a:r>
            <a:endParaRPr lang="en-US" sz="1250" dirty="0"/>
          </a:p>
        </p:txBody>
      </p:sp>
      <p:sp>
        <p:nvSpPr>
          <p:cNvPr id="16" name="Text 11"/>
          <p:cNvSpPr txBox="1"/>
          <p:nvPr/>
        </p:nvSpPr>
        <p:spPr>
          <a:xfrm>
            <a:off x="1152144" y="4183380"/>
            <a:ext cx="471373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50"/>
              </a:lnSpc>
              <a:buNone/>
            </a:pPr>
            <a:r>
              <a:rPr lang="en-US" sz="100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Pick subject and section, load the roster, enter scores against a maximum</a:t>
            </a:r>
            <a:endParaRPr lang="en-US" sz="1000" dirty="0"/>
          </a:p>
        </p:txBody>
      </p:sp>
      <p:sp>
        <p:nvSpPr>
          <p:cNvPr id="17" name="Shape 12"/>
          <p:cNvSpPr/>
          <p:nvPr/>
        </p:nvSpPr>
        <p:spPr>
          <a:xfrm>
            <a:off x="640080" y="5029200"/>
            <a:ext cx="384048" cy="384048"/>
          </a:xfrm>
          <a:prstGeom prst="ellipse">
            <a:avLst/>
          </a:prstGeom>
          <a:solidFill>
            <a:srgbClr val="CADCFC"/>
          </a:solidFill>
          <a:ln w="12700">
            <a:solidFill>
              <a:srgbClr val="CADCFC"/>
            </a:solidFill>
            <a:prstDash val="solid"/>
          </a:ln>
        </p:spPr>
      </p:sp>
      <p:pic>
        <p:nvPicPr>
          <p:cNvPr id="18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45236" y="5134356"/>
            <a:ext cx="173736" cy="173736"/>
          </a:xfrm>
          <a:prstGeom prst="rect">
            <a:avLst/>
          </a:prstGeom>
        </p:spPr>
      </p:pic>
      <p:sp>
        <p:nvSpPr>
          <p:cNvPr id="19" name="Text 13"/>
          <p:cNvSpPr txBox="1"/>
          <p:nvPr/>
        </p:nvSpPr>
        <p:spPr>
          <a:xfrm>
            <a:off x="1152144" y="4974336"/>
            <a:ext cx="47137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Import grades</a:t>
            </a:r>
            <a:endParaRPr lang="en-US" sz="1250" dirty="0"/>
          </a:p>
        </p:txBody>
      </p:sp>
      <p:sp>
        <p:nvSpPr>
          <p:cNvPr id="20" name="Text 14"/>
          <p:cNvSpPr txBox="1"/>
          <p:nvPr/>
        </p:nvSpPr>
        <p:spPr>
          <a:xfrm>
            <a:off x="1152144" y="5207508"/>
            <a:ext cx="471373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50"/>
              </a:lnSpc>
              <a:buNone/>
            </a:pPr>
            <a:r>
              <a:rPr lang="en-US" sz="100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Bring a term's marks in from a spreadsheet instead of typing them</a:t>
            </a:r>
            <a:endParaRPr lang="en-US" sz="1000" dirty="0"/>
          </a:p>
        </p:txBody>
      </p:sp>
      <p:sp>
        <p:nvSpPr>
          <p:cNvPr id="21" name="Shape 15"/>
          <p:cNvSpPr/>
          <p:nvPr/>
        </p:nvSpPr>
        <p:spPr>
          <a:xfrm>
            <a:off x="6323076" y="1956816"/>
            <a:ext cx="384048" cy="384048"/>
          </a:xfrm>
          <a:prstGeom prst="ellipse">
            <a:avLst/>
          </a:prstGeom>
          <a:solidFill>
            <a:srgbClr val="CADCFC"/>
          </a:solidFill>
          <a:ln w="12700">
            <a:solidFill>
              <a:srgbClr val="CADCFC"/>
            </a:solidFill>
            <a:prstDash val="solid"/>
          </a:ln>
        </p:spPr>
      </p:sp>
      <p:pic>
        <p:nvPicPr>
          <p:cNvPr id="22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428232" y="2061972"/>
            <a:ext cx="173736" cy="173736"/>
          </a:xfrm>
          <a:prstGeom prst="rect">
            <a:avLst/>
          </a:prstGeom>
        </p:spPr>
      </p:pic>
      <p:sp>
        <p:nvSpPr>
          <p:cNvPr id="23" name="Text 16"/>
          <p:cNvSpPr txBox="1"/>
          <p:nvPr/>
        </p:nvSpPr>
        <p:spPr>
          <a:xfrm>
            <a:off x="6835140" y="1901952"/>
            <a:ext cx="47137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Material Requests</a:t>
            </a:r>
            <a:endParaRPr lang="en-US" sz="1250" dirty="0"/>
          </a:p>
        </p:txBody>
      </p:sp>
      <p:sp>
        <p:nvSpPr>
          <p:cNvPr id="24" name="Text 17"/>
          <p:cNvSpPr txBox="1"/>
          <p:nvPr/>
        </p:nvSpPr>
        <p:spPr>
          <a:xfrm>
            <a:off x="6835140" y="2135124"/>
            <a:ext cx="471373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50"/>
              </a:lnSpc>
              <a:buNone/>
            </a:pPr>
            <a:r>
              <a:rPr lang="en-US" sz="100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File what you need; it lands in the same approvals inbox the Director reads</a:t>
            </a:r>
            <a:endParaRPr lang="en-US" sz="1000" dirty="0"/>
          </a:p>
        </p:txBody>
      </p:sp>
      <p:sp>
        <p:nvSpPr>
          <p:cNvPr id="25" name="Shape 18"/>
          <p:cNvSpPr/>
          <p:nvPr/>
        </p:nvSpPr>
        <p:spPr>
          <a:xfrm>
            <a:off x="6323076" y="2980944"/>
            <a:ext cx="384048" cy="384048"/>
          </a:xfrm>
          <a:prstGeom prst="ellipse">
            <a:avLst/>
          </a:prstGeom>
          <a:solidFill>
            <a:srgbClr val="CADCFC"/>
          </a:solidFill>
          <a:ln w="12700">
            <a:solidFill>
              <a:srgbClr val="CADCFC"/>
            </a:solidFill>
            <a:prstDash val="solid"/>
          </a:ln>
        </p:spPr>
      </p:sp>
      <p:pic>
        <p:nvPicPr>
          <p:cNvPr id="26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428232" y="3086100"/>
            <a:ext cx="173736" cy="173736"/>
          </a:xfrm>
          <a:prstGeom prst="rect">
            <a:avLst/>
          </a:prstGeom>
        </p:spPr>
      </p:pic>
      <p:sp>
        <p:nvSpPr>
          <p:cNvPr id="27" name="Text 19"/>
          <p:cNvSpPr txBox="1"/>
          <p:nvPr/>
        </p:nvSpPr>
        <p:spPr>
          <a:xfrm>
            <a:off x="6835140" y="2926080"/>
            <a:ext cx="47137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Scan Attendance</a:t>
            </a:r>
            <a:endParaRPr lang="en-US" sz="1250" dirty="0"/>
          </a:p>
        </p:txBody>
      </p:sp>
      <p:sp>
        <p:nvSpPr>
          <p:cNvPr id="28" name="Text 20"/>
          <p:cNvSpPr txBox="1"/>
          <p:nvPr/>
        </p:nvSpPr>
        <p:spPr>
          <a:xfrm>
            <a:off x="6835140" y="3159252"/>
            <a:ext cx="471373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50"/>
              </a:lnSpc>
              <a:buNone/>
            </a:pPr>
            <a:r>
              <a:rPr lang="en-US" sz="100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Mark your class present by scanning their IDs</a:t>
            </a:r>
            <a:endParaRPr lang="en-US" sz="1000" dirty="0"/>
          </a:p>
        </p:txBody>
      </p:sp>
      <p:sp>
        <p:nvSpPr>
          <p:cNvPr id="29" name="Shape 21"/>
          <p:cNvSpPr/>
          <p:nvPr/>
        </p:nvSpPr>
        <p:spPr>
          <a:xfrm>
            <a:off x="6323076" y="4005072"/>
            <a:ext cx="384048" cy="384048"/>
          </a:xfrm>
          <a:prstGeom prst="ellipse">
            <a:avLst/>
          </a:prstGeom>
          <a:solidFill>
            <a:srgbClr val="CADCFC"/>
          </a:solidFill>
          <a:ln w="12700">
            <a:solidFill>
              <a:srgbClr val="CADCFC"/>
            </a:solidFill>
            <a:prstDash val="solid"/>
          </a:ln>
        </p:spPr>
      </p:sp>
      <p:pic>
        <p:nvPicPr>
          <p:cNvPr id="30" name="Image 6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428232" y="4110228"/>
            <a:ext cx="173736" cy="173736"/>
          </a:xfrm>
          <a:prstGeom prst="rect">
            <a:avLst/>
          </a:prstGeom>
        </p:spPr>
      </p:pic>
      <p:sp>
        <p:nvSpPr>
          <p:cNvPr id="31" name="Text 22"/>
          <p:cNvSpPr txBox="1"/>
          <p:nvPr/>
        </p:nvSpPr>
        <p:spPr>
          <a:xfrm>
            <a:off x="6835140" y="3950208"/>
            <a:ext cx="47137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Emergency Alerts</a:t>
            </a:r>
            <a:endParaRPr lang="en-US" sz="1250" dirty="0"/>
          </a:p>
        </p:txBody>
      </p:sp>
      <p:sp>
        <p:nvSpPr>
          <p:cNvPr id="32" name="Text 23"/>
          <p:cNvSpPr txBox="1"/>
          <p:nvPr/>
        </p:nvSpPr>
        <p:spPr>
          <a:xfrm>
            <a:off x="6835140" y="4183380"/>
            <a:ext cx="471373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50"/>
              </a:lnSpc>
              <a:buNone/>
            </a:pPr>
            <a:r>
              <a:rPr lang="en-US" sz="100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Raise or read an alert without leaving the room</a:t>
            </a:r>
            <a:endParaRPr lang="en-US" sz="1000" dirty="0"/>
          </a:p>
        </p:txBody>
      </p:sp>
      <p:sp>
        <p:nvSpPr>
          <p:cNvPr id="33" name="Shape 24"/>
          <p:cNvSpPr/>
          <p:nvPr/>
        </p:nvSpPr>
        <p:spPr>
          <a:xfrm>
            <a:off x="6323076" y="5029200"/>
            <a:ext cx="384048" cy="384048"/>
          </a:xfrm>
          <a:prstGeom prst="ellipse">
            <a:avLst/>
          </a:prstGeom>
          <a:solidFill>
            <a:srgbClr val="CADCFC"/>
          </a:solidFill>
          <a:ln w="12700">
            <a:solidFill>
              <a:srgbClr val="CADCFC"/>
            </a:solidFill>
            <a:prstDash val="solid"/>
          </a:ln>
        </p:spPr>
      </p:sp>
      <p:pic>
        <p:nvPicPr>
          <p:cNvPr id="34" name="Image 7" descr="preencoded.p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428232" y="5134356"/>
            <a:ext cx="173736" cy="173736"/>
          </a:xfrm>
          <a:prstGeom prst="rect">
            <a:avLst/>
          </a:prstGeom>
        </p:spPr>
      </p:pic>
      <p:sp>
        <p:nvSpPr>
          <p:cNvPr id="35" name="Text 25"/>
          <p:cNvSpPr txBox="1"/>
          <p:nvPr/>
        </p:nvSpPr>
        <p:spPr>
          <a:xfrm>
            <a:off x="6835140" y="4974336"/>
            <a:ext cx="47137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Announcements</a:t>
            </a:r>
            <a:endParaRPr lang="en-US" sz="1250" dirty="0"/>
          </a:p>
        </p:txBody>
      </p:sp>
      <p:sp>
        <p:nvSpPr>
          <p:cNvPr id="36" name="Text 26"/>
          <p:cNvSpPr txBox="1"/>
          <p:nvPr/>
        </p:nvSpPr>
        <p:spPr>
          <a:xfrm>
            <a:off x="6835140" y="5207508"/>
            <a:ext cx="471373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50"/>
              </a:lnSpc>
              <a:buNone/>
            </a:pPr>
            <a:r>
              <a:rPr lang="en-US" sz="100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Post to your own sections under your own name</a:t>
            </a:r>
            <a:endParaRPr lang="en-US" sz="1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38912"/>
            <a:ext cx="1090879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40" kern="0" dirty="0">
                <a:solidFill>
                  <a:srgbClr val="E8A3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COURSEWORK, ANSWER KEYS AND SUBMISSIONS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694944"/>
            <a:ext cx="10908792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Set work, mark it, and let it mark itself</a:t>
            </a:r>
            <a:endParaRPr lang="en-US" sz="32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1371600"/>
            <a:ext cx="8945209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Six kinds of coursework share one screen: Lesson Plan, Lesson, Assignment, Project, Exam and Quiz.</a:t>
            </a:r>
            <a:endParaRPr lang="en-US" sz="1350" dirty="0"/>
          </a:p>
        </p:txBody>
      </p:sp>
      <p:sp>
        <p:nvSpPr>
          <p:cNvPr id="5" name="Shape 3"/>
          <p:cNvSpPr/>
          <p:nvPr/>
        </p:nvSpPr>
        <p:spPr>
          <a:xfrm>
            <a:off x="640080" y="2194560"/>
            <a:ext cx="2569464" cy="2971800"/>
          </a:xfrm>
          <a:prstGeom prst="roundRect">
            <a:avLst>
              <a:gd name="adj" fmla="val 3559"/>
            </a:avLst>
          </a:prstGeom>
          <a:solidFill>
            <a:srgbClr val="F3F6FD"/>
          </a:solidFill>
          <a:ln w="9525">
            <a:solidFill>
              <a:srgbClr val="DCE4F5"/>
            </a:solidFill>
            <a:prstDash val="solid"/>
          </a:ln>
          <a:effectLst>
            <a:outerShdw sx="100000" sy="100000" kx="0" ky="0" algn="bl" rotWithShape="0" blurRad="127000" dist="25400" dir="5400000">
              <a:srgbClr val="1E2761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877824" y="2414016"/>
            <a:ext cx="475488" cy="475488"/>
          </a:xfrm>
          <a:prstGeom prst="ellipse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92124" y="2528316"/>
            <a:ext cx="228600" cy="228600"/>
          </a:xfrm>
          <a:prstGeom prst="rect">
            <a:avLst/>
          </a:prstGeom>
        </p:spPr>
      </p:pic>
      <p:sp>
        <p:nvSpPr>
          <p:cNvPr id="8" name="Text 5"/>
          <p:cNvSpPr txBox="1"/>
          <p:nvPr/>
        </p:nvSpPr>
        <p:spPr>
          <a:xfrm>
            <a:off x="877824" y="2980944"/>
            <a:ext cx="209397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Set the work</a:t>
            </a:r>
            <a:endParaRPr lang="en-US" sz="1400" dirty="0"/>
          </a:p>
        </p:txBody>
      </p:sp>
      <p:sp>
        <p:nvSpPr>
          <p:cNvPr id="9" name="Text 6"/>
          <p:cNvSpPr txBox="1"/>
          <p:nvPr/>
        </p:nvSpPr>
        <p:spPr>
          <a:xfrm>
            <a:off x="877824" y="3264408"/>
            <a:ext cx="2093976" cy="1691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Type, title, description, subject, section, due date and total points. Leave "Publish now" off and it saves as a draft only staff can see.</a:t>
            </a:r>
            <a:endParaRPr lang="en-US" sz="1100" dirty="0"/>
          </a:p>
        </p:txBody>
      </p:sp>
      <p:sp>
        <p:nvSpPr>
          <p:cNvPr id="10" name="Shape 7"/>
          <p:cNvSpPr/>
          <p:nvPr/>
        </p:nvSpPr>
        <p:spPr>
          <a:xfrm>
            <a:off x="3419856" y="2194560"/>
            <a:ext cx="2569464" cy="2971800"/>
          </a:xfrm>
          <a:prstGeom prst="roundRect">
            <a:avLst>
              <a:gd name="adj" fmla="val 3559"/>
            </a:avLst>
          </a:prstGeom>
          <a:solidFill>
            <a:srgbClr val="F3F6FD"/>
          </a:solidFill>
          <a:ln w="9525">
            <a:solidFill>
              <a:srgbClr val="DCE4F5"/>
            </a:solidFill>
            <a:prstDash val="solid"/>
          </a:ln>
          <a:effectLst>
            <a:outerShdw sx="100000" sy="100000" kx="0" ky="0" algn="bl" rotWithShape="0" blurRad="127000" dist="25400" dir="5400000">
              <a:srgbClr val="1E2761">
                <a:alpha val="10000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3657600" y="2414016"/>
            <a:ext cx="475488" cy="475488"/>
          </a:xfrm>
          <a:prstGeom prst="ellipse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771900" y="2528316"/>
            <a:ext cx="228600" cy="228600"/>
          </a:xfrm>
          <a:prstGeom prst="rect">
            <a:avLst/>
          </a:prstGeom>
        </p:spPr>
      </p:pic>
      <p:sp>
        <p:nvSpPr>
          <p:cNvPr id="13" name="Text 9"/>
          <p:cNvSpPr txBox="1"/>
          <p:nvPr/>
        </p:nvSpPr>
        <p:spPr>
          <a:xfrm>
            <a:off x="3657600" y="2980944"/>
            <a:ext cx="209397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Answer key</a:t>
            </a:r>
            <a:endParaRPr lang="en-US" sz="1400" dirty="0"/>
          </a:p>
        </p:txBody>
      </p:sp>
      <p:sp>
        <p:nvSpPr>
          <p:cNvPr id="14" name="Text 10"/>
          <p:cNvSpPr txBox="1"/>
          <p:nvPr/>
        </p:nvSpPr>
        <p:spPr>
          <a:xfrm>
            <a:off x="3657600" y="3264408"/>
            <a:ext cx="2093976" cy="1691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correct answers one per line and set the marks per question. Save the key and everything already handed in is re-marked against it.</a:t>
            </a:r>
            <a:endParaRPr lang="en-US" sz="1100" dirty="0"/>
          </a:p>
        </p:txBody>
      </p:sp>
      <p:sp>
        <p:nvSpPr>
          <p:cNvPr id="15" name="Shape 11"/>
          <p:cNvSpPr/>
          <p:nvPr/>
        </p:nvSpPr>
        <p:spPr>
          <a:xfrm>
            <a:off x="6199632" y="2194560"/>
            <a:ext cx="2569464" cy="2971800"/>
          </a:xfrm>
          <a:prstGeom prst="roundRect">
            <a:avLst>
              <a:gd name="adj" fmla="val 3559"/>
            </a:avLst>
          </a:prstGeom>
          <a:solidFill>
            <a:srgbClr val="F3F6FD"/>
          </a:solidFill>
          <a:ln w="9525">
            <a:solidFill>
              <a:srgbClr val="DCE4F5"/>
            </a:solidFill>
            <a:prstDash val="solid"/>
          </a:ln>
          <a:effectLst>
            <a:outerShdw sx="100000" sy="100000" kx="0" ky="0" algn="bl" rotWithShape="0" blurRad="127000" dist="25400" dir="5400000">
              <a:srgbClr val="1E2761">
                <a:alpha val="10000"/>
              </a:srgbClr>
            </a:outerShdw>
          </a:effectLst>
        </p:spPr>
      </p:sp>
      <p:sp>
        <p:nvSpPr>
          <p:cNvPr id="16" name="Shape 12"/>
          <p:cNvSpPr/>
          <p:nvPr/>
        </p:nvSpPr>
        <p:spPr>
          <a:xfrm>
            <a:off x="6437376" y="2414016"/>
            <a:ext cx="475488" cy="475488"/>
          </a:xfrm>
          <a:prstGeom prst="ellipse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pic>
        <p:nvPicPr>
          <p:cNvPr id="17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51676" y="2528316"/>
            <a:ext cx="228600" cy="228600"/>
          </a:xfrm>
          <a:prstGeom prst="rect">
            <a:avLst/>
          </a:prstGeom>
        </p:spPr>
      </p:pic>
      <p:sp>
        <p:nvSpPr>
          <p:cNvPr id="18" name="Text 13"/>
          <p:cNvSpPr txBox="1"/>
          <p:nvPr/>
        </p:nvSpPr>
        <p:spPr>
          <a:xfrm>
            <a:off x="6437376" y="2980944"/>
            <a:ext cx="209397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Submissions</a:t>
            </a:r>
            <a:endParaRPr lang="en-US" sz="1400" dirty="0"/>
          </a:p>
        </p:txBody>
      </p:sp>
      <p:sp>
        <p:nvSpPr>
          <p:cNvPr id="19" name="Text 14"/>
          <p:cNvSpPr txBox="1"/>
          <p:nvPr/>
        </p:nvSpPr>
        <p:spPr>
          <a:xfrm>
            <a:off x="6437376" y="3264408"/>
            <a:ext cx="2093976" cy="1691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Who handed in, who is outstanding, who was late. Open one, give it a score and written feedback, or let the key score it.</a:t>
            </a:r>
            <a:endParaRPr lang="en-US" sz="1100" dirty="0"/>
          </a:p>
        </p:txBody>
      </p:sp>
      <p:sp>
        <p:nvSpPr>
          <p:cNvPr id="20" name="Shape 15"/>
          <p:cNvSpPr/>
          <p:nvPr/>
        </p:nvSpPr>
        <p:spPr>
          <a:xfrm>
            <a:off x="8979408" y="2194560"/>
            <a:ext cx="2569464" cy="2971800"/>
          </a:xfrm>
          <a:prstGeom prst="roundRect">
            <a:avLst>
              <a:gd name="adj" fmla="val 3559"/>
            </a:avLst>
          </a:prstGeom>
          <a:solidFill>
            <a:srgbClr val="F3F6FD"/>
          </a:solidFill>
          <a:ln w="9525">
            <a:solidFill>
              <a:srgbClr val="DCE4F5"/>
            </a:solidFill>
            <a:prstDash val="solid"/>
          </a:ln>
          <a:effectLst>
            <a:outerShdw sx="100000" sy="100000" kx="0" ky="0" algn="bl" rotWithShape="0" blurRad="127000" dist="25400" dir="5400000">
              <a:srgbClr val="1E2761">
                <a:alpha val="10000"/>
              </a:srgbClr>
            </a:outerShdw>
          </a:effectLst>
        </p:spPr>
      </p:sp>
      <p:sp>
        <p:nvSpPr>
          <p:cNvPr id="21" name="Shape 16"/>
          <p:cNvSpPr/>
          <p:nvPr/>
        </p:nvSpPr>
        <p:spPr>
          <a:xfrm>
            <a:off x="9217152" y="2414016"/>
            <a:ext cx="475488" cy="475488"/>
          </a:xfrm>
          <a:prstGeom prst="ellipse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pic>
        <p:nvPicPr>
          <p:cNvPr id="22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331452" y="2528316"/>
            <a:ext cx="228600" cy="228600"/>
          </a:xfrm>
          <a:prstGeom prst="rect">
            <a:avLst/>
          </a:prstGeom>
        </p:spPr>
      </p:pic>
      <p:sp>
        <p:nvSpPr>
          <p:cNvPr id="23" name="Text 17"/>
          <p:cNvSpPr txBox="1"/>
          <p:nvPr/>
        </p:nvSpPr>
        <p:spPr>
          <a:xfrm>
            <a:off x="9217152" y="2980944"/>
            <a:ext cx="209397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student side</a:t>
            </a:r>
            <a:endParaRPr lang="en-US" sz="1400" dirty="0"/>
          </a:p>
        </p:txBody>
      </p:sp>
      <p:sp>
        <p:nvSpPr>
          <p:cNvPr id="24" name="Text 18"/>
          <p:cNvSpPr txBox="1"/>
          <p:nvPr/>
        </p:nvSpPr>
        <p:spPr>
          <a:xfrm>
            <a:off x="9217152" y="3264408"/>
            <a:ext cx="2093976" cy="1691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student answers question by question, sees the mark and the teacher's feedback, and can change their answer while it is still open.</a:t>
            </a:r>
            <a:endParaRPr lang="en-US" sz="1100" dirty="0"/>
          </a:p>
        </p:txBody>
      </p:sp>
      <p:sp>
        <p:nvSpPr>
          <p:cNvPr id="25" name="Text 19"/>
          <p:cNvSpPr txBox="1"/>
          <p:nvPr/>
        </p:nvSpPr>
        <p:spPr>
          <a:xfrm>
            <a:off x="640080" y="5440680"/>
            <a:ext cx="1090879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draft stays invisible to students until the teacher publishes it.</a:t>
            </a:r>
            <a:endParaRPr lang="en-US" sz="15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38912"/>
            <a:ext cx="1090879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40" kern="0" dirty="0">
                <a:solidFill>
                  <a:srgbClr val="E8A3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GUIDANCE AND STAFF PORTALS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694944"/>
            <a:ext cx="10908792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Two smaller roles, deliberately kept apart</a:t>
            </a:r>
            <a:endParaRPr lang="en-US" sz="32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1371600"/>
            <a:ext cx="8945209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of these records is the most closely held in the system. The other is a work log nobody, including its author, can edit.</a:t>
            </a:r>
            <a:endParaRPr lang="en-US" sz="1350" dirty="0"/>
          </a:p>
        </p:txBody>
      </p:sp>
      <p:sp>
        <p:nvSpPr>
          <p:cNvPr id="5" name="Shape 3"/>
          <p:cNvSpPr/>
          <p:nvPr/>
        </p:nvSpPr>
        <p:spPr>
          <a:xfrm>
            <a:off x="640080" y="2148840"/>
            <a:ext cx="2569464" cy="2423160"/>
          </a:xfrm>
          <a:prstGeom prst="roundRect">
            <a:avLst>
              <a:gd name="adj" fmla="val 3774"/>
            </a:avLst>
          </a:prstGeom>
          <a:solidFill>
            <a:srgbClr val="F3F6FD"/>
          </a:solidFill>
          <a:ln w="9525">
            <a:solidFill>
              <a:srgbClr val="DCE4F5"/>
            </a:solidFill>
            <a:prstDash val="solid"/>
          </a:ln>
          <a:effectLst>
            <a:outerShdw sx="100000" sy="100000" kx="0" ky="0" algn="bl" rotWithShape="0" blurRad="127000" dist="25400" dir="5400000">
              <a:srgbClr val="1E2761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877824" y="2368296"/>
            <a:ext cx="475488" cy="475488"/>
          </a:xfrm>
          <a:prstGeom prst="ellipse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92124" y="2482596"/>
            <a:ext cx="228600" cy="228600"/>
          </a:xfrm>
          <a:prstGeom prst="rect">
            <a:avLst/>
          </a:prstGeom>
        </p:spPr>
      </p:pic>
      <p:sp>
        <p:nvSpPr>
          <p:cNvPr id="8" name="Text 5"/>
          <p:cNvSpPr txBox="1"/>
          <p:nvPr/>
        </p:nvSpPr>
        <p:spPr>
          <a:xfrm>
            <a:off x="877824" y="2935224"/>
            <a:ext cx="209397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Guidance Records</a:t>
            </a:r>
            <a:endParaRPr lang="en-US" sz="1400" dirty="0"/>
          </a:p>
        </p:txBody>
      </p:sp>
      <p:sp>
        <p:nvSpPr>
          <p:cNvPr id="9" name="Text 6"/>
          <p:cNvSpPr txBox="1"/>
          <p:nvPr/>
        </p:nvSpPr>
        <p:spPr>
          <a:xfrm>
            <a:off x="877824" y="3218688"/>
            <a:ext cx="2093976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Counselling notes against one student, by category. The guidance office, the Director and the division Principal - and nobody else, not even the class adviser.</a:t>
            </a:r>
            <a:endParaRPr lang="en-US" sz="1100" dirty="0"/>
          </a:p>
        </p:txBody>
      </p:sp>
      <p:sp>
        <p:nvSpPr>
          <p:cNvPr id="10" name="Shape 7"/>
          <p:cNvSpPr/>
          <p:nvPr/>
        </p:nvSpPr>
        <p:spPr>
          <a:xfrm>
            <a:off x="3419856" y="2148840"/>
            <a:ext cx="2569464" cy="2423160"/>
          </a:xfrm>
          <a:prstGeom prst="roundRect">
            <a:avLst>
              <a:gd name="adj" fmla="val 3774"/>
            </a:avLst>
          </a:prstGeom>
          <a:solidFill>
            <a:srgbClr val="F3F6FD"/>
          </a:solidFill>
          <a:ln w="9525">
            <a:solidFill>
              <a:srgbClr val="DCE4F5"/>
            </a:solidFill>
            <a:prstDash val="solid"/>
          </a:ln>
          <a:effectLst>
            <a:outerShdw sx="100000" sy="100000" kx="0" ky="0" algn="bl" rotWithShape="0" blurRad="127000" dist="25400" dir="5400000">
              <a:srgbClr val="1E2761">
                <a:alpha val="10000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3657600" y="2368296"/>
            <a:ext cx="475488" cy="475488"/>
          </a:xfrm>
          <a:prstGeom prst="ellipse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771900" y="2482596"/>
            <a:ext cx="228600" cy="228600"/>
          </a:xfrm>
          <a:prstGeom prst="rect">
            <a:avLst/>
          </a:prstGeom>
        </p:spPr>
      </p:pic>
      <p:sp>
        <p:nvSpPr>
          <p:cNvPr id="13" name="Text 9"/>
          <p:cNvSpPr txBox="1"/>
          <p:nvPr/>
        </p:nvSpPr>
        <p:spPr>
          <a:xfrm>
            <a:off x="3657600" y="2935224"/>
            <a:ext cx="209397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Student Summons</a:t>
            </a:r>
            <a:endParaRPr lang="en-US" sz="1400" dirty="0"/>
          </a:p>
        </p:txBody>
      </p:sp>
      <p:sp>
        <p:nvSpPr>
          <p:cNvPr id="14" name="Text 10"/>
          <p:cNvSpPr txBox="1"/>
          <p:nvPr/>
        </p:nvSpPr>
        <p:spPr>
          <a:xfrm>
            <a:off x="3657600" y="3218688"/>
            <a:ext cx="2093976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Call a student to the office with a reason and a time. Visible to the student and the linked parent too: a family should not learn about it afterwards.</a:t>
            </a:r>
            <a:endParaRPr lang="en-US" sz="1100" dirty="0"/>
          </a:p>
        </p:txBody>
      </p:sp>
      <p:sp>
        <p:nvSpPr>
          <p:cNvPr id="15" name="Shape 11"/>
          <p:cNvSpPr/>
          <p:nvPr/>
        </p:nvSpPr>
        <p:spPr>
          <a:xfrm>
            <a:off x="6199632" y="2148840"/>
            <a:ext cx="2569464" cy="2423160"/>
          </a:xfrm>
          <a:prstGeom prst="roundRect">
            <a:avLst>
              <a:gd name="adj" fmla="val 3774"/>
            </a:avLst>
          </a:prstGeom>
          <a:solidFill>
            <a:srgbClr val="F3F6FD"/>
          </a:solidFill>
          <a:ln w="9525">
            <a:solidFill>
              <a:srgbClr val="DCE4F5"/>
            </a:solidFill>
            <a:prstDash val="solid"/>
          </a:ln>
          <a:effectLst>
            <a:outerShdw sx="100000" sy="100000" kx="0" ky="0" algn="bl" rotWithShape="0" blurRad="127000" dist="25400" dir="5400000">
              <a:srgbClr val="1E2761">
                <a:alpha val="10000"/>
              </a:srgbClr>
            </a:outerShdw>
          </a:effectLst>
        </p:spPr>
      </p:sp>
      <p:sp>
        <p:nvSpPr>
          <p:cNvPr id="16" name="Shape 12"/>
          <p:cNvSpPr/>
          <p:nvPr/>
        </p:nvSpPr>
        <p:spPr>
          <a:xfrm>
            <a:off x="6437376" y="2368296"/>
            <a:ext cx="475488" cy="475488"/>
          </a:xfrm>
          <a:prstGeom prst="ellipse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pic>
        <p:nvPicPr>
          <p:cNvPr id="17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51676" y="2482596"/>
            <a:ext cx="228600" cy="228600"/>
          </a:xfrm>
          <a:prstGeom prst="rect">
            <a:avLst/>
          </a:prstGeom>
        </p:spPr>
      </p:pic>
      <p:sp>
        <p:nvSpPr>
          <p:cNvPr id="18" name="Text 13"/>
          <p:cNvSpPr txBox="1"/>
          <p:nvPr/>
        </p:nvSpPr>
        <p:spPr>
          <a:xfrm>
            <a:off x="6437376" y="2935224"/>
            <a:ext cx="209397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Staff Checklist</a:t>
            </a:r>
            <a:endParaRPr lang="en-US" sz="1400" dirty="0"/>
          </a:p>
        </p:txBody>
      </p:sp>
      <p:sp>
        <p:nvSpPr>
          <p:cNvPr id="19" name="Text 14"/>
          <p:cNvSpPr txBox="1"/>
          <p:nvPr/>
        </p:nvSpPr>
        <p:spPr>
          <a:xfrm>
            <a:off x="6437376" y="3218688"/>
            <a:ext cx="2093976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personal task list for today. Add a task, edit it, tick it off. It resets with the date rather than piling up week on week.</a:t>
            </a:r>
            <a:endParaRPr lang="en-US" sz="1100" dirty="0"/>
          </a:p>
        </p:txBody>
      </p:sp>
      <p:sp>
        <p:nvSpPr>
          <p:cNvPr id="20" name="Shape 15"/>
          <p:cNvSpPr/>
          <p:nvPr/>
        </p:nvSpPr>
        <p:spPr>
          <a:xfrm>
            <a:off x="8979408" y="2148840"/>
            <a:ext cx="2569464" cy="2423160"/>
          </a:xfrm>
          <a:prstGeom prst="roundRect">
            <a:avLst>
              <a:gd name="adj" fmla="val 3774"/>
            </a:avLst>
          </a:prstGeom>
          <a:solidFill>
            <a:srgbClr val="F3F6FD"/>
          </a:solidFill>
          <a:ln w="9525">
            <a:solidFill>
              <a:srgbClr val="DCE4F5"/>
            </a:solidFill>
            <a:prstDash val="solid"/>
          </a:ln>
          <a:effectLst>
            <a:outerShdw sx="100000" sy="100000" kx="0" ky="0" algn="bl" rotWithShape="0" blurRad="127000" dist="25400" dir="5400000">
              <a:srgbClr val="1E2761">
                <a:alpha val="10000"/>
              </a:srgbClr>
            </a:outerShdw>
          </a:effectLst>
        </p:spPr>
      </p:sp>
      <p:sp>
        <p:nvSpPr>
          <p:cNvPr id="21" name="Shape 16"/>
          <p:cNvSpPr/>
          <p:nvPr/>
        </p:nvSpPr>
        <p:spPr>
          <a:xfrm>
            <a:off x="9217152" y="2368296"/>
            <a:ext cx="475488" cy="475488"/>
          </a:xfrm>
          <a:prstGeom prst="ellipse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pic>
        <p:nvPicPr>
          <p:cNvPr id="22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331452" y="2482596"/>
            <a:ext cx="228600" cy="228600"/>
          </a:xfrm>
          <a:prstGeom prst="rect">
            <a:avLst/>
          </a:prstGeom>
        </p:spPr>
      </p:pic>
      <p:sp>
        <p:nvSpPr>
          <p:cNvPr id="23" name="Text 17"/>
          <p:cNvSpPr txBox="1"/>
          <p:nvPr/>
        </p:nvSpPr>
        <p:spPr>
          <a:xfrm>
            <a:off x="9217152" y="2935224"/>
            <a:ext cx="209397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Daily Reports</a:t>
            </a:r>
            <a:endParaRPr lang="en-US" sz="1400" dirty="0"/>
          </a:p>
        </p:txBody>
      </p:sp>
      <p:sp>
        <p:nvSpPr>
          <p:cNvPr id="24" name="Text 18"/>
          <p:cNvSpPr txBox="1"/>
          <p:nvPr/>
        </p:nvSpPr>
        <p:spPr>
          <a:xfrm>
            <a:off x="9217152" y="3218688"/>
            <a:ext cx="2093976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short end-of-day work log. Written once and never editable - a correction is a new entry, so the record stays trustworthy.</a:t>
            </a:r>
            <a:endParaRPr lang="en-US" sz="1100" dirty="0"/>
          </a:p>
        </p:txBody>
      </p:sp>
      <p:sp>
        <p:nvSpPr>
          <p:cNvPr id="25" name="Shape 19"/>
          <p:cNvSpPr/>
          <p:nvPr/>
        </p:nvSpPr>
        <p:spPr>
          <a:xfrm>
            <a:off x="640080" y="5020056"/>
            <a:ext cx="384048" cy="384048"/>
          </a:xfrm>
          <a:prstGeom prst="ellipse">
            <a:avLst/>
          </a:prstGeom>
          <a:solidFill>
            <a:srgbClr val="CADCFC"/>
          </a:solidFill>
          <a:ln w="12700">
            <a:solidFill>
              <a:srgbClr val="CADCFC"/>
            </a:solidFill>
            <a:prstDash val="solid"/>
          </a:ln>
        </p:spPr>
      </p:sp>
      <p:pic>
        <p:nvPicPr>
          <p:cNvPr id="26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45236" y="5125212"/>
            <a:ext cx="173736" cy="173736"/>
          </a:xfrm>
          <a:prstGeom prst="rect">
            <a:avLst/>
          </a:prstGeom>
        </p:spPr>
      </p:pic>
      <p:sp>
        <p:nvSpPr>
          <p:cNvPr id="27" name="Text 20"/>
          <p:cNvSpPr txBox="1"/>
          <p:nvPr/>
        </p:nvSpPr>
        <p:spPr>
          <a:xfrm>
            <a:off x="1152144" y="4965192"/>
            <a:ext cx="29108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Material Requests</a:t>
            </a:r>
            <a:endParaRPr lang="en-US" sz="1250" dirty="0"/>
          </a:p>
        </p:txBody>
      </p:sp>
      <p:sp>
        <p:nvSpPr>
          <p:cNvPr id="28" name="Text 21"/>
          <p:cNvSpPr txBox="1"/>
          <p:nvPr/>
        </p:nvSpPr>
        <p:spPr>
          <a:xfrm>
            <a:off x="1152144" y="5198364"/>
            <a:ext cx="2910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50"/>
              </a:lnSpc>
              <a:buNone/>
            </a:pPr>
            <a:r>
              <a:rPr lang="en-US" sz="100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Staff file into the same approvals inbox faculty use</a:t>
            </a:r>
            <a:endParaRPr lang="en-US" sz="1000" dirty="0"/>
          </a:p>
        </p:txBody>
      </p:sp>
      <p:sp>
        <p:nvSpPr>
          <p:cNvPr id="29" name="Shape 22"/>
          <p:cNvSpPr/>
          <p:nvPr/>
        </p:nvSpPr>
        <p:spPr>
          <a:xfrm>
            <a:off x="4383024" y="5020056"/>
            <a:ext cx="384048" cy="384048"/>
          </a:xfrm>
          <a:prstGeom prst="ellipse">
            <a:avLst/>
          </a:prstGeom>
          <a:solidFill>
            <a:srgbClr val="CADCFC"/>
          </a:solidFill>
          <a:ln w="12700">
            <a:solidFill>
              <a:srgbClr val="CADCFC"/>
            </a:solidFill>
            <a:prstDash val="solid"/>
          </a:ln>
        </p:spPr>
      </p:sp>
      <p:pic>
        <p:nvPicPr>
          <p:cNvPr id="30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488180" y="5125212"/>
            <a:ext cx="173736" cy="173736"/>
          </a:xfrm>
          <a:prstGeom prst="rect">
            <a:avLst/>
          </a:prstGeom>
        </p:spPr>
      </p:pic>
      <p:sp>
        <p:nvSpPr>
          <p:cNvPr id="31" name="Text 23"/>
          <p:cNvSpPr txBox="1"/>
          <p:nvPr/>
        </p:nvSpPr>
        <p:spPr>
          <a:xfrm>
            <a:off x="4895088" y="4965192"/>
            <a:ext cx="29108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Emergency Alerts</a:t>
            </a:r>
            <a:endParaRPr lang="en-US" sz="1250" dirty="0"/>
          </a:p>
        </p:txBody>
      </p:sp>
      <p:sp>
        <p:nvSpPr>
          <p:cNvPr id="32" name="Text 24"/>
          <p:cNvSpPr txBox="1"/>
          <p:nvPr/>
        </p:nvSpPr>
        <p:spPr>
          <a:xfrm>
            <a:off x="4895088" y="5198364"/>
            <a:ext cx="2910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50"/>
              </a:lnSpc>
              <a:buNone/>
            </a:pPr>
            <a:r>
              <a:rPr lang="en-US" sz="100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Guidance sees every alert raised in the school</a:t>
            </a:r>
            <a:endParaRPr lang="en-US" sz="1000" dirty="0"/>
          </a:p>
        </p:txBody>
      </p:sp>
      <p:sp>
        <p:nvSpPr>
          <p:cNvPr id="33" name="Shape 25"/>
          <p:cNvSpPr/>
          <p:nvPr/>
        </p:nvSpPr>
        <p:spPr>
          <a:xfrm>
            <a:off x="8125968" y="5020056"/>
            <a:ext cx="384048" cy="384048"/>
          </a:xfrm>
          <a:prstGeom prst="ellipse">
            <a:avLst/>
          </a:prstGeom>
          <a:solidFill>
            <a:srgbClr val="CADCFC"/>
          </a:solidFill>
          <a:ln w="12700">
            <a:solidFill>
              <a:srgbClr val="CADCFC"/>
            </a:solidFill>
            <a:prstDash val="solid"/>
          </a:ln>
        </p:spPr>
      </p:sp>
      <p:pic>
        <p:nvPicPr>
          <p:cNvPr id="34" name="Image 6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231124" y="5125212"/>
            <a:ext cx="173736" cy="173736"/>
          </a:xfrm>
          <a:prstGeom prst="rect">
            <a:avLst/>
          </a:prstGeom>
        </p:spPr>
      </p:pic>
      <p:sp>
        <p:nvSpPr>
          <p:cNvPr id="35" name="Text 26"/>
          <p:cNvSpPr txBox="1"/>
          <p:nvPr/>
        </p:nvSpPr>
        <p:spPr>
          <a:xfrm>
            <a:off x="8638032" y="4965192"/>
            <a:ext cx="29108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My e-ID</a:t>
            </a:r>
            <a:endParaRPr lang="en-US" sz="1250" dirty="0"/>
          </a:p>
        </p:txBody>
      </p:sp>
      <p:sp>
        <p:nvSpPr>
          <p:cNvPr id="36" name="Text 27"/>
          <p:cNvSpPr txBox="1"/>
          <p:nvPr/>
        </p:nvSpPr>
        <p:spPr>
          <a:xfrm>
            <a:off x="8638032" y="5198364"/>
            <a:ext cx="2910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50"/>
              </a:lnSpc>
              <a:buNone/>
            </a:pPr>
            <a:r>
              <a:rPr lang="en-US" sz="100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Staff carry their own scannable ID for timekeeping</a:t>
            </a:r>
            <a:endParaRPr lang="en-US" sz="10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141B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38912"/>
            <a:ext cx="1090879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40" kern="0" dirty="0">
                <a:solidFill>
                  <a:srgbClr val="E8A3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STUDENT PORTAL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694944"/>
            <a:ext cx="10908792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Ten things a student can check on their phone</a:t>
            </a:r>
            <a:endParaRPr lang="en-US" sz="28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1371600"/>
            <a:ext cx="8945209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school can issue logins to every student, to some, or to none - a student record does not need an account to exist.</a:t>
            </a:r>
            <a:endParaRPr lang="en-US" sz="1350" dirty="0"/>
          </a:p>
        </p:txBody>
      </p:sp>
      <p:sp>
        <p:nvSpPr>
          <p:cNvPr id="5" name="Shape 3"/>
          <p:cNvSpPr/>
          <p:nvPr/>
        </p:nvSpPr>
        <p:spPr>
          <a:xfrm>
            <a:off x="640080" y="2002536"/>
            <a:ext cx="384048" cy="384048"/>
          </a:xfrm>
          <a:prstGeom prst="ellipse">
            <a:avLst/>
          </a:prstGeom>
          <a:solidFill>
            <a:srgbClr val="2E3A70"/>
          </a:solidFill>
          <a:ln w="12700">
            <a:solidFill>
              <a:srgbClr val="2E3A70"/>
            </a:solidFill>
            <a:prstDash val="solid"/>
          </a:ln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45236" y="2107692"/>
            <a:ext cx="173736" cy="173736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1152144" y="1947672"/>
            <a:ext cx="47137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Subjects</a:t>
            </a:r>
            <a:endParaRPr lang="en-US" sz="1250" dirty="0"/>
          </a:p>
        </p:txBody>
      </p:sp>
      <p:sp>
        <p:nvSpPr>
          <p:cNvPr id="8" name="Text 5"/>
          <p:cNvSpPr txBox="1"/>
          <p:nvPr/>
        </p:nvSpPr>
        <p:spPr>
          <a:xfrm>
            <a:off x="1152144" y="2180844"/>
            <a:ext cx="471373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50"/>
              </a:lnSpc>
              <a:buNone/>
            </a:pPr>
            <a:r>
              <a:rPr lang="en-US" sz="1000" dirty="0">
                <a:solidFill>
                  <a:srgbClr val="9EAB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subject, its teacher, and what has been posted in it</a:t>
            </a:r>
            <a:endParaRPr lang="en-US" sz="1000" dirty="0"/>
          </a:p>
        </p:txBody>
      </p:sp>
      <p:sp>
        <p:nvSpPr>
          <p:cNvPr id="9" name="Shape 6"/>
          <p:cNvSpPr/>
          <p:nvPr/>
        </p:nvSpPr>
        <p:spPr>
          <a:xfrm>
            <a:off x="640080" y="2798064"/>
            <a:ext cx="384048" cy="384048"/>
          </a:xfrm>
          <a:prstGeom prst="ellipse">
            <a:avLst/>
          </a:prstGeom>
          <a:solidFill>
            <a:srgbClr val="2E3A70"/>
          </a:solidFill>
          <a:ln w="12700">
            <a:solidFill>
              <a:srgbClr val="2E3A70"/>
            </a:solidFill>
            <a:prstDash val="solid"/>
          </a:ln>
        </p:spPr>
      </p:sp>
      <p:pic>
        <p:nvPicPr>
          <p:cNvPr id="10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5236" y="2903220"/>
            <a:ext cx="173736" cy="173736"/>
          </a:xfrm>
          <a:prstGeom prst="rect">
            <a:avLst/>
          </a:prstGeom>
        </p:spPr>
      </p:pic>
      <p:sp>
        <p:nvSpPr>
          <p:cNvPr id="11" name="Text 7"/>
          <p:cNvSpPr txBox="1"/>
          <p:nvPr/>
        </p:nvSpPr>
        <p:spPr>
          <a:xfrm>
            <a:off x="1152144" y="2743200"/>
            <a:ext cx="47137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My Timetable</a:t>
            </a:r>
            <a:endParaRPr lang="en-US" sz="1250" dirty="0"/>
          </a:p>
        </p:txBody>
      </p:sp>
      <p:sp>
        <p:nvSpPr>
          <p:cNvPr id="12" name="Text 8"/>
          <p:cNvSpPr txBox="1"/>
          <p:nvPr/>
        </p:nvSpPr>
        <p:spPr>
          <a:xfrm>
            <a:off x="1152144" y="2976372"/>
            <a:ext cx="471373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50"/>
              </a:lnSpc>
              <a:buNone/>
            </a:pPr>
            <a:r>
              <a:rPr lang="en-US" sz="1000" dirty="0">
                <a:solidFill>
                  <a:srgbClr val="9EAB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week, day by day, with room and teacher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640080" y="3593592"/>
            <a:ext cx="384048" cy="384048"/>
          </a:xfrm>
          <a:prstGeom prst="ellipse">
            <a:avLst/>
          </a:prstGeom>
          <a:solidFill>
            <a:srgbClr val="2E3A70"/>
          </a:solidFill>
          <a:ln w="12700">
            <a:solidFill>
              <a:srgbClr val="2E3A70"/>
            </a:solidFill>
            <a:prstDash val="solid"/>
          </a:ln>
        </p:spPr>
      </p:sp>
      <p:pic>
        <p:nvPicPr>
          <p:cNvPr id="14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45236" y="3698748"/>
            <a:ext cx="173736" cy="173736"/>
          </a:xfrm>
          <a:prstGeom prst="rect">
            <a:avLst/>
          </a:prstGeom>
        </p:spPr>
      </p:pic>
      <p:sp>
        <p:nvSpPr>
          <p:cNvPr id="15" name="Text 10"/>
          <p:cNvSpPr txBox="1"/>
          <p:nvPr/>
        </p:nvSpPr>
        <p:spPr>
          <a:xfrm>
            <a:off x="1152144" y="3538728"/>
            <a:ext cx="47137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Assignments &amp; Exams</a:t>
            </a:r>
            <a:endParaRPr lang="en-US" sz="1250" dirty="0"/>
          </a:p>
        </p:txBody>
      </p:sp>
      <p:sp>
        <p:nvSpPr>
          <p:cNvPr id="16" name="Text 11"/>
          <p:cNvSpPr txBox="1"/>
          <p:nvPr/>
        </p:nvSpPr>
        <p:spPr>
          <a:xfrm>
            <a:off x="1152144" y="3771900"/>
            <a:ext cx="471373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50"/>
              </a:lnSpc>
              <a:buNone/>
            </a:pPr>
            <a:r>
              <a:rPr lang="en-US" sz="1000" dirty="0">
                <a:solidFill>
                  <a:srgbClr val="9EAB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feed of published work, filterable by kind</a:t>
            </a:r>
            <a:endParaRPr lang="en-US" sz="1000" dirty="0"/>
          </a:p>
        </p:txBody>
      </p:sp>
      <p:sp>
        <p:nvSpPr>
          <p:cNvPr id="17" name="Shape 12"/>
          <p:cNvSpPr/>
          <p:nvPr/>
        </p:nvSpPr>
        <p:spPr>
          <a:xfrm>
            <a:off x="640080" y="4389120"/>
            <a:ext cx="384048" cy="384048"/>
          </a:xfrm>
          <a:prstGeom prst="ellipse">
            <a:avLst/>
          </a:prstGeom>
          <a:solidFill>
            <a:srgbClr val="2E3A70"/>
          </a:solidFill>
          <a:ln w="12700">
            <a:solidFill>
              <a:srgbClr val="2E3A70"/>
            </a:solidFill>
            <a:prstDash val="solid"/>
          </a:ln>
        </p:spPr>
      </p:sp>
      <p:pic>
        <p:nvPicPr>
          <p:cNvPr id="18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45236" y="4494276"/>
            <a:ext cx="173736" cy="173736"/>
          </a:xfrm>
          <a:prstGeom prst="rect">
            <a:avLst/>
          </a:prstGeom>
        </p:spPr>
      </p:pic>
      <p:sp>
        <p:nvSpPr>
          <p:cNvPr id="19" name="Text 13"/>
          <p:cNvSpPr txBox="1"/>
          <p:nvPr/>
        </p:nvSpPr>
        <p:spPr>
          <a:xfrm>
            <a:off x="1152144" y="4334256"/>
            <a:ext cx="47137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Grades</a:t>
            </a:r>
            <a:endParaRPr lang="en-US" sz="1250" dirty="0"/>
          </a:p>
        </p:txBody>
      </p:sp>
      <p:sp>
        <p:nvSpPr>
          <p:cNvPr id="20" name="Text 14"/>
          <p:cNvSpPr txBox="1"/>
          <p:nvPr/>
        </p:nvSpPr>
        <p:spPr>
          <a:xfrm>
            <a:off x="1152144" y="4567428"/>
            <a:ext cx="471373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50"/>
              </a:lnSpc>
              <a:buNone/>
            </a:pPr>
            <a:r>
              <a:rPr lang="en-US" sz="1000" dirty="0">
                <a:solidFill>
                  <a:srgbClr val="9EAB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Marks per subject and term, as the teacher submitted them</a:t>
            </a:r>
            <a:endParaRPr lang="en-US" sz="1000" dirty="0"/>
          </a:p>
        </p:txBody>
      </p:sp>
      <p:sp>
        <p:nvSpPr>
          <p:cNvPr id="21" name="Shape 15"/>
          <p:cNvSpPr/>
          <p:nvPr/>
        </p:nvSpPr>
        <p:spPr>
          <a:xfrm>
            <a:off x="640080" y="5184648"/>
            <a:ext cx="384048" cy="384048"/>
          </a:xfrm>
          <a:prstGeom prst="ellipse">
            <a:avLst/>
          </a:prstGeom>
          <a:solidFill>
            <a:srgbClr val="2E3A70"/>
          </a:solidFill>
          <a:ln w="12700">
            <a:solidFill>
              <a:srgbClr val="2E3A70"/>
            </a:solidFill>
            <a:prstDash val="solid"/>
          </a:ln>
        </p:spPr>
      </p:sp>
      <p:pic>
        <p:nvPicPr>
          <p:cNvPr id="22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45236" y="5289804"/>
            <a:ext cx="173736" cy="173736"/>
          </a:xfrm>
          <a:prstGeom prst="rect">
            <a:avLst/>
          </a:prstGeom>
        </p:spPr>
      </p:pic>
      <p:sp>
        <p:nvSpPr>
          <p:cNvPr id="23" name="Text 16"/>
          <p:cNvSpPr txBox="1"/>
          <p:nvPr/>
        </p:nvSpPr>
        <p:spPr>
          <a:xfrm>
            <a:off x="1152144" y="5129784"/>
            <a:ext cx="47137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Attendance</a:t>
            </a:r>
            <a:endParaRPr lang="en-US" sz="1250" dirty="0"/>
          </a:p>
        </p:txBody>
      </p:sp>
      <p:sp>
        <p:nvSpPr>
          <p:cNvPr id="24" name="Text 17"/>
          <p:cNvSpPr txBox="1"/>
          <p:nvPr/>
        </p:nvSpPr>
        <p:spPr>
          <a:xfrm>
            <a:off x="1152144" y="5362956"/>
            <a:ext cx="471373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50"/>
              </a:lnSpc>
              <a:buNone/>
            </a:pPr>
            <a:r>
              <a:rPr lang="en-US" sz="1000" dirty="0">
                <a:solidFill>
                  <a:srgbClr val="9EAB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Their own record, every scan, in and out</a:t>
            </a:r>
            <a:endParaRPr lang="en-US" sz="1000" dirty="0"/>
          </a:p>
        </p:txBody>
      </p:sp>
      <p:sp>
        <p:nvSpPr>
          <p:cNvPr id="25" name="Shape 18"/>
          <p:cNvSpPr/>
          <p:nvPr/>
        </p:nvSpPr>
        <p:spPr>
          <a:xfrm>
            <a:off x="6323076" y="2002536"/>
            <a:ext cx="384048" cy="384048"/>
          </a:xfrm>
          <a:prstGeom prst="ellipse">
            <a:avLst/>
          </a:prstGeom>
          <a:solidFill>
            <a:srgbClr val="2E3A70"/>
          </a:solidFill>
          <a:ln w="12700">
            <a:solidFill>
              <a:srgbClr val="2E3A70"/>
            </a:solidFill>
            <a:prstDash val="solid"/>
          </a:ln>
        </p:spPr>
      </p:sp>
      <p:pic>
        <p:nvPicPr>
          <p:cNvPr id="26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428232" y="2107692"/>
            <a:ext cx="173736" cy="173736"/>
          </a:xfrm>
          <a:prstGeom prst="rect">
            <a:avLst/>
          </a:prstGeom>
        </p:spPr>
      </p:pic>
      <p:sp>
        <p:nvSpPr>
          <p:cNvPr id="27" name="Text 19"/>
          <p:cNvSpPr txBox="1"/>
          <p:nvPr/>
        </p:nvSpPr>
        <p:spPr>
          <a:xfrm>
            <a:off x="6835140" y="1947672"/>
            <a:ext cx="47137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Payments &amp; Balance</a:t>
            </a:r>
            <a:endParaRPr lang="en-US" sz="1250" dirty="0"/>
          </a:p>
        </p:txBody>
      </p:sp>
      <p:sp>
        <p:nvSpPr>
          <p:cNvPr id="28" name="Text 20"/>
          <p:cNvSpPr txBox="1"/>
          <p:nvPr/>
        </p:nvSpPr>
        <p:spPr>
          <a:xfrm>
            <a:off x="6835140" y="2180844"/>
            <a:ext cx="471373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50"/>
              </a:lnSpc>
              <a:buNone/>
            </a:pPr>
            <a:r>
              <a:rPr lang="en-US" sz="1000" dirty="0">
                <a:solidFill>
                  <a:srgbClr val="9EAB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was charged, what was paid, what is left - and how it adds up</a:t>
            </a:r>
            <a:endParaRPr lang="en-US" sz="1000" dirty="0"/>
          </a:p>
        </p:txBody>
      </p:sp>
      <p:sp>
        <p:nvSpPr>
          <p:cNvPr id="29" name="Shape 21"/>
          <p:cNvSpPr/>
          <p:nvPr/>
        </p:nvSpPr>
        <p:spPr>
          <a:xfrm>
            <a:off x="6323076" y="2798064"/>
            <a:ext cx="384048" cy="384048"/>
          </a:xfrm>
          <a:prstGeom prst="ellipse">
            <a:avLst/>
          </a:prstGeom>
          <a:solidFill>
            <a:srgbClr val="2E3A70"/>
          </a:solidFill>
          <a:ln w="12700">
            <a:solidFill>
              <a:srgbClr val="2E3A70"/>
            </a:solidFill>
            <a:prstDash val="solid"/>
          </a:ln>
        </p:spPr>
      </p:sp>
      <p:pic>
        <p:nvPicPr>
          <p:cNvPr id="30" name="Image 6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428232" y="2903220"/>
            <a:ext cx="173736" cy="173736"/>
          </a:xfrm>
          <a:prstGeom prst="rect">
            <a:avLst/>
          </a:prstGeom>
        </p:spPr>
      </p:pic>
      <p:sp>
        <p:nvSpPr>
          <p:cNvPr id="31" name="Text 22"/>
          <p:cNvSpPr txBox="1"/>
          <p:nvPr/>
        </p:nvSpPr>
        <p:spPr>
          <a:xfrm>
            <a:off x="6835140" y="2743200"/>
            <a:ext cx="47137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Promissory Note</a:t>
            </a:r>
            <a:endParaRPr lang="en-US" sz="1250" dirty="0"/>
          </a:p>
        </p:txBody>
      </p:sp>
      <p:sp>
        <p:nvSpPr>
          <p:cNvPr id="32" name="Text 23"/>
          <p:cNvSpPr txBox="1"/>
          <p:nvPr/>
        </p:nvSpPr>
        <p:spPr>
          <a:xfrm>
            <a:off x="6835140" y="2976372"/>
            <a:ext cx="471373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50"/>
              </a:lnSpc>
              <a:buNone/>
            </a:pPr>
            <a:r>
              <a:rPr lang="en-US" sz="1000" dirty="0">
                <a:solidFill>
                  <a:srgbClr val="9EAB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Ask for an extension with an amount and a reason</a:t>
            </a:r>
            <a:endParaRPr lang="en-US" sz="1000" dirty="0"/>
          </a:p>
        </p:txBody>
      </p:sp>
      <p:sp>
        <p:nvSpPr>
          <p:cNvPr id="33" name="Shape 24"/>
          <p:cNvSpPr/>
          <p:nvPr/>
        </p:nvSpPr>
        <p:spPr>
          <a:xfrm>
            <a:off x="6323076" y="3593592"/>
            <a:ext cx="384048" cy="384048"/>
          </a:xfrm>
          <a:prstGeom prst="ellipse">
            <a:avLst/>
          </a:prstGeom>
          <a:solidFill>
            <a:srgbClr val="2E3A70"/>
          </a:solidFill>
          <a:ln w="12700">
            <a:solidFill>
              <a:srgbClr val="2E3A70"/>
            </a:solidFill>
            <a:prstDash val="solid"/>
          </a:ln>
        </p:spPr>
      </p:sp>
      <p:pic>
        <p:nvPicPr>
          <p:cNvPr id="34" name="Image 7" descr="preencoded.p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428232" y="3698748"/>
            <a:ext cx="173736" cy="173736"/>
          </a:xfrm>
          <a:prstGeom prst="rect">
            <a:avLst/>
          </a:prstGeom>
        </p:spPr>
      </p:pic>
      <p:sp>
        <p:nvSpPr>
          <p:cNvPr id="35" name="Text 25"/>
          <p:cNvSpPr txBox="1"/>
          <p:nvPr/>
        </p:nvSpPr>
        <p:spPr>
          <a:xfrm>
            <a:off x="6835140" y="3538728"/>
            <a:ext cx="47137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Emergency</a:t>
            </a:r>
            <a:endParaRPr lang="en-US" sz="1250" dirty="0"/>
          </a:p>
        </p:txBody>
      </p:sp>
      <p:sp>
        <p:nvSpPr>
          <p:cNvPr id="36" name="Text 26"/>
          <p:cNvSpPr txBox="1"/>
          <p:nvPr/>
        </p:nvSpPr>
        <p:spPr>
          <a:xfrm>
            <a:off x="6835140" y="3771900"/>
            <a:ext cx="471373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50"/>
              </a:lnSpc>
              <a:buNone/>
            </a:pPr>
            <a:r>
              <a:rPr lang="en-US" sz="1000" dirty="0">
                <a:solidFill>
                  <a:srgbClr val="9EAB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button that alerts the adviser and the parents</a:t>
            </a:r>
            <a:endParaRPr lang="en-US" sz="1000" dirty="0"/>
          </a:p>
        </p:txBody>
      </p:sp>
      <p:sp>
        <p:nvSpPr>
          <p:cNvPr id="37" name="Shape 27"/>
          <p:cNvSpPr/>
          <p:nvPr/>
        </p:nvSpPr>
        <p:spPr>
          <a:xfrm>
            <a:off x="6323076" y="4389120"/>
            <a:ext cx="384048" cy="384048"/>
          </a:xfrm>
          <a:prstGeom prst="ellipse">
            <a:avLst/>
          </a:prstGeom>
          <a:solidFill>
            <a:srgbClr val="2E3A70"/>
          </a:solidFill>
          <a:ln w="12700">
            <a:solidFill>
              <a:srgbClr val="2E3A70"/>
            </a:solidFill>
            <a:prstDash val="solid"/>
          </a:ln>
        </p:spPr>
      </p:sp>
      <p:pic>
        <p:nvPicPr>
          <p:cNvPr id="38" name="Image 8" descr="preencoded.png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6428232" y="4494276"/>
            <a:ext cx="173736" cy="173736"/>
          </a:xfrm>
          <a:prstGeom prst="rect">
            <a:avLst/>
          </a:prstGeom>
        </p:spPr>
      </p:pic>
      <p:sp>
        <p:nvSpPr>
          <p:cNvPr id="39" name="Text 28"/>
          <p:cNvSpPr txBox="1"/>
          <p:nvPr/>
        </p:nvSpPr>
        <p:spPr>
          <a:xfrm>
            <a:off x="6835140" y="4334256"/>
            <a:ext cx="47137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Announcements</a:t>
            </a:r>
            <a:endParaRPr lang="en-US" sz="1250" dirty="0"/>
          </a:p>
        </p:txBody>
      </p:sp>
      <p:sp>
        <p:nvSpPr>
          <p:cNvPr id="40" name="Text 29"/>
          <p:cNvSpPr txBox="1"/>
          <p:nvPr/>
        </p:nvSpPr>
        <p:spPr>
          <a:xfrm>
            <a:off x="6835140" y="4567428"/>
            <a:ext cx="471373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50"/>
              </a:lnSpc>
              <a:buNone/>
            </a:pPr>
            <a:r>
              <a:rPr lang="en-US" sz="1000" dirty="0">
                <a:solidFill>
                  <a:srgbClr val="9EAB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Everything addressed to students</a:t>
            </a:r>
            <a:endParaRPr lang="en-US" sz="1000" dirty="0"/>
          </a:p>
        </p:txBody>
      </p:sp>
      <p:sp>
        <p:nvSpPr>
          <p:cNvPr id="41" name="Shape 30"/>
          <p:cNvSpPr/>
          <p:nvPr/>
        </p:nvSpPr>
        <p:spPr>
          <a:xfrm>
            <a:off x="6323076" y="5184648"/>
            <a:ext cx="384048" cy="384048"/>
          </a:xfrm>
          <a:prstGeom prst="ellipse">
            <a:avLst/>
          </a:prstGeom>
          <a:solidFill>
            <a:srgbClr val="2E3A70"/>
          </a:solidFill>
          <a:ln w="12700">
            <a:solidFill>
              <a:srgbClr val="2E3A70"/>
            </a:solidFill>
            <a:prstDash val="solid"/>
          </a:ln>
        </p:spPr>
      </p:sp>
      <p:pic>
        <p:nvPicPr>
          <p:cNvPr id="42" name="Image 9" descr="preencoded.png">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6428232" y="5289804"/>
            <a:ext cx="173736" cy="173736"/>
          </a:xfrm>
          <a:prstGeom prst="rect">
            <a:avLst/>
          </a:prstGeom>
        </p:spPr>
      </p:pic>
      <p:sp>
        <p:nvSpPr>
          <p:cNvPr id="43" name="Text 31"/>
          <p:cNvSpPr txBox="1"/>
          <p:nvPr/>
        </p:nvSpPr>
        <p:spPr>
          <a:xfrm>
            <a:off x="6835140" y="5129784"/>
            <a:ext cx="47137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My QR ID</a:t>
            </a:r>
            <a:endParaRPr lang="en-US" sz="1250" dirty="0"/>
          </a:p>
        </p:txBody>
      </p:sp>
      <p:sp>
        <p:nvSpPr>
          <p:cNvPr id="44" name="Text 32"/>
          <p:cNvSpPr txBox="1"/>
          <p:nvPr/>
        </p:nvSpPr>
        <p:spPr>
          <a:xfrm>
            <a:off x="6835140" y="5362956"/>
            <a:ext cx="471373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50"/>
              </a:lnSpc>
              <a:buNone/>
            </a:pPr>
            <a:r>
              <a:rPr lang="en-US" sz="1000" dirty="0">
                <a:solidFill>
                  <a:srgbClr val="9EAB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school ID card, on the phone and printable</a:t>
            </a:r>
            <a:endParaRPr lang="en-US" sz="10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38912"/>
            <a:ext cx="1090879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40" kern="0" dirty="0">
                <a:solidFill>
                  <a:srgbClr val="E8A3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PARENT PORTAL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694944"/>
            <a:ext cx="10908792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Every child in one place, without a second app</a:t>
            </a:r>
            <a:endParaRPr lang="en-US" sz="28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1371600"/>
            <a:ext cx="8945209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account can be linked to several children. The dashboard is the list of them; opening one gives four tabs.</a:t>
            </a:r>
            <a:endParaRPr lang="en-US" sz="1350" dirty="0"/>
          </a:p>
        </p:txBody>
      </p:sp>
      <p:sp>
        <p:nvSpPr>
          <p:cNvPr id="5" name="Shape 3"/>
          <p:cNvSpPr/>
          <p:nvPr/>
        </p:nvSpPr>
        <p:spPr>
          <a:xfrm>
            <a:off x="640080" y="2286000"/>
            <a:ext cx="2569464" cy="2194560"/>
          </a:xfrm>
          <a:prstGeom prst="roundRect">
            <a:avLst>
              <a:gd name="adj" fmla="val 4167"/>
            </a:avLst>
          </a:prstGeom>
          <a:solidFill>
            <a:srgbClr val="F3F6FD"/>
          </a:solidFill>
          <a:ln w="9525">
            <a:solidFill>
              <a:srgbClr val="DCE4F5"/>
            </a:solidFill>
            <a:prstDash val="solid"/>
          </a:ln>
          <a:effectLst>
            <a:outerShdw sx="100000" sy="100000" kx="0" ky="0" algn="bl" rotWithShape="0" blurRad="127000" dist="25400" dir="5400000">
              <a:srgbClr val="1E2761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877824" y="2505456"/>
            <a:ext cx="475488" cy="475488"/>
          </a:xfrm>
          <a:prstGeom prst="ellipse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92124" y="2619756"/>
            <a:ext cx="228600" cy="228600"/>
          </a:xfrm>
          <a:prstGeom prst="rect">
            <a:avLst/>
          </a:prstGeom>
        </p:spPr>
      </p:pic>
      <p:sp>
        <p:nvSpPr>
          <p:cNvPr id="8" name="Text 5"/>
          <p:cNvSpPr txBox="1"/>
          <p:nvPr/>
        </p:nvSpPr>
        <p:spPr>
          <a:xfrm>
            <a:off x="877824" y="3072384"/>
            <a:ext cx="209397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Attendance</a:t>
            </a:r>
            <a:endParaRPr lang="en-US" sz="1400" dirty="0"/>
          </a:p>
        </p:txBody>
      </p:sp>
      <p:sp>
        <p:nvSpPr>
          <p:cNvPr id="9" name="Text 6"/>
          <p:cNvSpPr txBox="1"/>
          <p:nvPr/>
        </p:nvSpPr>
        <p:spPr>
          <a:xfrm>
            <a:off x="877824" y="3355848"/>
            <a:ext cx="2093976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day their child was scanned in, and whether it was on time.</a:t>
            </a:r>
            <a:endParaRPr lang="en-US" sz="1100" dirty="0"/>
          </a:p>
        </p:txBody>
      </p:sp>
      <p:sp>
        <p:nvSpPr>
          <p:cNvPr id="10" name="Shape 7"/>
          <p:cNvSpPr/>
          <p:nvPr/>
        </p:nvSpPr>
        <p:spPr>
          <a:xfrm>
            <a:off x="3419856" y="2286000"/>
            <a:ext cx="2569464" cy="2194560"/>
          </a:xfrm>
          <a:prstGeom prst="roundRect">
            <a:avLst>
              <a:gd name="adj" fmla="val 4167"/>
            </a:avLst>
          </a:prstGeom>
          <a:solidFill>
            <a:srgbClr val="F3F6FD"/>
          </a:solidFill>
          <a:ln w="9525">
            <a:solidFill>
              <a:srgbClr val="DCE4F5"/>
            </a:solidFill>
            <a:prstDash val="solid"/>
          </a:ln>
          <a:effectLst>
            <a:outerShdw sx="100000" sy="100000" kx="0" ky="0" algn="bl" rotWithShape="0" blurRad="127000" dist="25400" dir="5400000">
              <a:srgbClr val="1E2761">
                <a:alpha val="10000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3657600" y="2505456"/>
            <a:ext cx="475488" cy="475488"/>
          </a:xfrm>
          <a:prstGeom prst="ellipse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771900" y="2619756"/>
            <a:ext cx="228600" cy="228600"/>
          </a:xfrm>
          <a:prstGeom prst="rect">
            <a:avLst/>
          </a:prstGeom>
        </p:spPr>
      </p:pic>
      <p:sp>
        <p:nvSpPr>
          <p:cNvPr id="13" name="Text 9"/>
          <p:cNvSpPr txBox="1"/>
          <p:nvPr/>
        </p:nvSpPr>
        <p:spPr>
          <a:xfrm>
            <a:off x="3657600" y="3072384"/>
            <a:ext cx="209397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Timetable</a:t>
            </a:r>
            <a:endParaRPr lang="en-US" sz="1400" dirty="0"/>
          </a:p>
        </p:txBody>
      </p:sp>
      <p:sp>
        <p:nvSpPr>
          <p:cNvPr id="14" name="Text 10"/>
          <p:cNvSpPr txBox="1"/>
          <p:nvPr/>
        </p:nvSpPr>
        <p:spPr>
          <a:xfrm>
            <a:off x="3657600" y="3355848"/>
            <a:ext cx="2093976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Where the child is meant to be, hour by hour.</a:t>
            </a:r>
            <a:endParaRPr lang="en-US" sz="1100" dirty="0"/>
          </a:p>
        </p:txBody>
      </p:sp>
      <p:sp>
        <p:nvSpPr>
          <p:cNvPr id="15" name="Shape 11"/>
          <p:cNvSpPr/>
          <p:nvPr/>
        </p:nvSpPr>
        <p:spPr>
          <a:xfrm>
            <a:off x="6199632" y="2286000"/>
            <a:ext cx="2569464" cy="2194560"/>
          </a:xfrm>
          <a:prstGeom prst="roundRect">
            <a:avLst>
              <a:gd name="adj" fmla="val 4167"/>
            </a:avLst>
          </a:prstGeom>
          <a:solidFill>
            <a:srgbClr val="F3F6FD"/>
          </a:solidFill>
          <a:ln w="9525">
            <a:solidFill>
              <a:srgbClr val="DCE4F5"/>
            </a:solidFill>
            <a:prstDash val="solid"/>
          </a:ln>
          <a:effectLst>
            <a:outerShdw sx="100000" sy="100000" kx="0" ky="0" algn="bl" rotWithShape="0" blurRad="127000" dist="25400" dir="5400000">
              <a:srgbClr val="1E2761">
                <a:alpha val="10000"/>
              </a:srgbClr>
            </a:outerShdw>
          </a:effectLst>
        </p:spPr>
      </p:sp>
      <p:sp>
        <p:nvSpPr>
          <p:cNvPr id="16" name="Shape 12"/>
          <p:cNvSpPr/>
          <p:nvPr/>
        </p:nvSpPr>
        <p:spPr>
          <a:xfrm>
            <a:off x="6437376" y="2505456"/>
            <a:ext cx="475488" cy="475488"/>
          </a:xfrm>
          <a:prstGeom prst="ellipse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pic>
        <p:nvPicPr>
          <p:cNvPr id="17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51676" y="2619756"/>
            <a:ext cx="228600" cy="228600"/>
          </a:xfrm>
          <a:prstGeom prst="rect">
            <a:avLst/>
          </a:prstGeom>
        </p:spPr>
      </p:pic>
      <p:sp>
        <p:nvSpPr>
          <p:cNvPr id="18" name="Text 13"/>
          <p:cNvSpPr txBox="1"/>
          <p:nvPr/>
        </p:nvSpPr>
        <p:spPr>
          <a:xfrm>
            <a:off x="6437376" y="3072384"/>
            <a:ext cx="209397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Grades</a:t>
            </a:r>
            <a:endParaRPr lang="en-US" sz="1400" dirty="0"/>
          </a:p>
        </p:txBody>
      </p:sp>
      <p:sp>
        <p:nvSpPr>
          <p:cNvPr id="19" name="Text 14"/>
          <p:cNvSpPr txBox="1"/>
          <p:nvPr/>
        </p:nvSpPr>
        <p:spPr>
          <a:xfrm>
            <a:off x="6437376" y="3355848"/>
            <a:ext cx="2093976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Marks as the teacher submitted them, per subject and term.</a:t>
            </a:r>
            <a:endParaRPr lang="en-US" sz="1100" dirty="0"/>
          </a:p>
        </p:txBody>
      </p:sp>
      <p:sp>
        <p:nvSpPr>
          <p:cNvPr id="20" name="Shape 15"/>
          <p:cNvSpPr/>
          <p:nvPr/>
        </p:nvSpPr>
        <p:spPr>
          <a:xfrm>
            <a:off x="8979408" y="2286000"/>
            <a:ext cx="2569464" cy="2194560"/>
          </a:xfrm>
          <a:prstGeom prst="roundRect">
            <a:avLst>
              <a:gd name="adj" fmla="val 4167"/>
            </a:avLst>
          </a:prstGeom>
          <a:solidFill>
            <a:srgbClr val="F3F6FD"/>
          </a:solidFill>
          <a:ln w="9525">
            <a:solidFill>
              <a:srgbClr val="DCE4F5"/>
            </a:solidFill>
            <a:prstDash val="solid"/>
          </a:ln>
          <a:effectLst>
            <a:outerShdw sx="100000" sy="100000" kx="0" ky="0" algn="bl" rotWithShape="0" blurRad="127000" dist="25400" dir="5400000">
              <a:srgbClr val="1E2761">
                <a:alpha val="10000"/>
              </a:srgbClr>
            </a:outerShdw>
          </a:effectLst>
        </p:spPr>
      </p:sp>
      <p:sp>
        <p:nvSpPr>
          <p:cNvPr id="21" name="Shape 16"/>
          <p:cNvSpPr/>
          <p:nvPr/>
        </p:nvSpPr>
        <p:spPr>
          <a:xfrm>
            <a:off x="9217152" y="2505456"/>
            <a:ext cx="475488" cy="475488"/>
          </a:xfrm>
          <a:prstGeom prst="ellipse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pic>
        <p:nvPicPr>
          <p:cNvPr id="22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331452" y="2619756"/>
            <a:ext cx="228600" cy="228600"/>
          </a:xfrm>
          <a:prstGeom prst="rect">
            <a:avLst/>
          </a:prstGeom>
        </p:spPr>
      </p:pic>
      <p:sp>
        <p:nvSpPr>
          <p:cNvPr id="23" name="Text 17"/>
          <p:cNvSpPr txBox="1"/>
          <p:nvPr/>
        </p:nvSpPr>
        <p:spPr>
          <a:xfrm>
            <a:off x="9217152" y="3072384"/>
            <a:ext cx="209397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Statement of Account</a:t>
            </a:r>
            <a:endParaRPr lang="en-US" sz="1400" dirty="0"/>
          </a:p>
        </p:txBody>
      </p:sp>
      <p:sp>
        <p:nvSpPr>
          <p:cNvPr id="24" name="Text 18"/>
          <p:cNvSpPr txBox="1"/>
          <p:nvPr/>
        </p:nvSpPr>
        <p:spPr>
          <a:xfrm>
            <a:off x="9217152" y="3355848"/>
            <a:ext cx="2093976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Charges, payments and the balance - read only. Refunds stay with the school.</a:t>
            </a:r>
            <a:endParaRPr lang="en-US" sz="1100" dirty="0"/>
          </a:p>
        </p:txBody>
      </p:sp>
      <p:sp>
        <p:nvSpPr>
          <p:cNvPr id="25" name="Shape 19"/>
          <p:cNvSpPr/>
          <p:nvPr/>
        </p:nvSpPr>
        <p:spPr>
          <a:xfrm>
            <a:off x="640080" y="5020056"/>
            <a:ext cx="384048" cy="384048"/>
          </a:xfrm>
          <a:prstGeom prst="ellipse">
            <a:avLst/>
          </a:prstGeom>
          <a:solidFill>
            <a:srgbClr val="CADCFC"/>
          </a:solidFill>
          <a:ln w="12700">
            <a:solidFill>
              <a:srgbClr val="CADCFC"/>
            </a:solidFill>
            <a:prstDash val="solid"/>
          </a:ln>
        </p:spPr>
      </p:sp>
      <p:pic>
        <p:nvPicPr>
          <p:cNvPr id="26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45236" y="5125212"/>
            <a:ext cx="173736" cy="173736"/>
          </a:xfrm>
          <a:prstGeom prst="rect">
            <a:avLst/>
          </a:prstGeom>
        </p:spPr>
      </p:pic>
      <p:sp>
        <p:nvSpPr>
          <p:cNvPr id="27" name="Text 20"/>
          <p:cNvSpPr txBox="1"/>
          <p:nvPr/>
        </p:nvSpPr>
        <p:spPr>
          <a:xfrm>
            <a:off x="1152144" y="4965192"/>
            <a:ext cx="29108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Emergency Alerts</a:t>
            </a:r>
            <a:endParaRPr lang="en-US" sz="1250" dirty="0"/>
          </a:p>
        </p:txBody>
      </p:sp>
      <p:sp>
        <p:nvSpPr>
          <p:cNvPr id="28" name="Text 21"/>
          <p:cNvSpPr txBox="1"/>
          <p:nvPr/>
        </p:nvSpPr>
        <p:spPr>
          <a:xfrm>
            <a:off x="1152144" y="5198364"/>
            <a:ext cx="2910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50"/>
              </a:lnSpc>
              <a:buNone/>
            </a:pPr>
            <a:r>
              <a:rPr lang="en-US" sz="100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 unresolved alert about their child is shown as a banner, not hidden behind an icon</a:t>
            </a:r>
            <a:endParaRPr lang="en-US" sz="1000" dirty="0"/>
          </a:p>
        </p:txBody>
      </p:sp>
      <p:sp>
        <p:nvSpPr>
          <p:cNvPr id="29" name="Shape 22"/>
          <p:cNvSpPr/>
          <p:nvPr/>
        </p:nvSpPr>
        <p:spPr>
          <a:xfrm>
            <a:off x="4383024" y="5020056"/>
            <a:ext cx="384048" cy="384048"/>
          </a:xfrm>
          <a:prstGeom prst="ellipse">
            <a:avLst/>
          </a:prstGeom>
          <a:solidFill>
            <a:srgbClr val="CADCFC"/>
          </a:solidFill>
          <a:ln w="12700">
            <a:solidFill>
              <a:srgbClr val="CADCFC"/>
            </a:solidFill>
            <a:prstDash val="solid"/>
          </a:ln>
        </p:spPr>
      </p:sp>
      <p:pic>
        <p:nvPicPr>
          <p:cNvPr id="30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488180" y="5125212"/>
            <a:ext cx="173736" cy="173736"/>
          </a:xfrm>
          <a:prstGeom prst="rect">
            <a:avLst/>
          </a:prstGeom>
        </p:spPr>
      </p:pic>
      <p:sp>
        <p:nvSpPr>
          <p:cNvPr id="31" name="Text 23"/>
          <p:cNvSpPr txBox="1"/>
          <p:nvPr/>
        </p:nvSpPr>
        <p:spPr>
          <a:xfrm>
            <a:off x="4895088" y="4965192"/>
            <a:ext cx="29108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Announcements</a:t>
            </a:r>
            <a:endParaRPr lang="en-US" sz="1250" dirty="0"/>
          </a:p>
        </p:txBody>
      </p:sp>
      <p:sp>
        <p:nvSpPr>
          <p:cNvPr id="32" name="Text 24"/>
          <p:cNvSpPr txBox="1"/>
          <p:nvPr/>
        </p:nvSpPr>
        <p:spPr>
          <a:xfrm>
            <a:off x="4895088" y="5198364"/>
            <a:ext cx="2910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50"/>
              </a:lnSpc>
              <a:buNone/>
            </a:pPr>
            <a:r>
              <a:rPr lang="en-US" sz="100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Everything the school addressed to parents, pushed to the phone</a:t>
            </a:r>
            <a:endParaRPr lang="en-US" sz="1000" dirty="0"/>
          </a:p>
        </p:txBody>
      </p:sp>
      <p:sp>
        <p:nvSpPr>
          <p:cNvPr id="33" name="Shape 25"/>
          <p:cNvSpPr/>
          <p:nvPr/>
        </p:nvSpPr>
        <p:spPr>
          <a:xfrm>
            <a:off x="8125968" y="5020056"/>
            <a:ext cx="384048" cy="384048"/>
          </a:xfrm>
          <a:prstGeom prst="ellipse">
            <a:avLst/>
          </a:prstGeom>
          <a:solidFill>
            <a:srgbClr val="CADCFC"/>
          </a:solidFill>
          <a:ln w="12700">
            <a:solidFill>
              <a:srgbClr val="CADCFC"/>
            </a:solidFill>
            <a:prstDash val="solid"/>
          </a:ln>
        </p:spPr>
      </p:sp>
      <p:pic>
        <p:nvPicPr>
          <p:cNvPr id="34" name="Image 6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231124" y="5125212"/>
            <a:ext cx="173736" cy="173736"/>
          </a:xfrm>
          <a:prstGeom prst="rect">
            <a:avLst/>
          </a:prstGeom>
        </p:spPr>
      </p:pic>
      <p:sp>
        <p:nvSpPr>
          <p:cNvPr id="35" name="Text 26"/>
          <p:cNvSpPr txBox="1"/>
          <p:nvPr/>
        </p:nvSpPr>
        <p:spPr>
          <a:xfrm>
            <a:off x="8638032" y="4965192"/>
            <a:ext cx="29108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Pay online</a:t>
            </a:r>
            <a:endParaRPr lang="en-US" sz="1250" dirty="0"/>
          </a:p>
        </p:txBody>
      </p:sp>
      <p:sp>
        <p:nvSpPr>
          <p:cNvPr id="36" name="Text 27"/>
          <p:cNvSpPr txBox="1"/>
          <p:nvPr/>
        </p:nvSpPr>
        <p:spPr>
          <a:xfrm>
            <a:off x="8638032" y="5198364"/>
            <a:ext cx="2910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50"/>
              </a:lnSpc>
              <a:buNone/>
            </a:pPr>
            <a:r>
              <a:rPr lang="en-US" sz="100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Send the fee by GCash or bank transfer and submit the reference for review</a:t>
            </a:r>
            <a:endParaRPr lang="en-US" sz="10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38912"/>
            <a:ext cx="1090879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40" kern="0" dirty="0">
                <a:solidFill>
                  <a:srgbClr val="E8A3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ATTENDANCE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694944"/>
            <a:ext cx="10908792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camera, a QR code, and no slips of paper</a:t>
            </a:r>
            <a:endParaRPr lang="en-US" sz="32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1371600"/>
            <a:ext cx="8945209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person in the school carries a QR ID. Staff roles carry a scanner. The scan itself decides the rest.</a:t>
            </a:r>
            <a:endParaRPr lang="en-US" sz="1350" dirty="0"/>
          </a:p>
        </p:txBody>
      </p:sp>
      <p:sp>
        <p:nvSpPr>
          <p:cNvPr id="5" name="Shape 3"/>
          <p:cNvSpPr/>
          <p:nvPr/>
        </p:nvSpPr>
        <p:spPr>
          <a:xfrm>
            <a:off x="640080" y="2148840"/>
            <a:ext cx="5349240" cy="2103120"/>
          </a:xfrm>
          <a:prstGeom prst="roundRect">
            <a:avLst>
              <a:gd name="adj" fmla="val 4348"/>
            </a:avLst>
          </a:prstGeom>
          <a:solidFill>
            <a:srgbClr val="F3F6FD"/>
          </a:solidFill>
          <a:ln w="9525">
            <a:solidFill>
              <a:srgbClr val="DCE4F5"/>
            </a:solidFill>
            <a:prstDash val="solid"/>
          </a:ln>
          <a:effectLst>
            <a:outerShdw sx="100000" sy="100000" kx="0" ky="0" algn="bl" rotWithShape="0" blurRad="127000" dist="25400" dir="5400000">
              <a:srgbClr val="1E2761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877824" y="2368296"/>
            <a:ext cx="475488" cy="475488"/>
          </a:xfrm>
          <a:prstGeom prst="ellipse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92124" y="2482596"/>
            <a:ext cx="228600" cy="228600"/>
          </a:xfrm>
          <a:prstGeom prst="rect">
            <a:avLst/>
          </a:prstGeom>
        </p:spPr>
      </p:pic>
      <p:sp>
        <p:nvSpPr>
          <p:cNvPr id="8" name="Text 5"/>
          <p:cNvSpPr txBox="1"/>
          <p:nvPr/>
        </p:nvSpPr>
        <p:spPr>
          <a:xfrm>
            <a:off x="877824" y="2935224"/>
            <a:ext cx="48737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ID card</a:t>
            </a:r>
            <a:endParaRPr lang="en-US" sz="1400" dirty="0"/>
          </a:p>
        </p:txBody>
      </p:sp>
      <p:sp>
        <p:nvSpPr>
          <p:cNvPr id="9" name="Text 6"/>
          <p:cNvSpPr txBox="1"/>
          <p:nvPr/>
        </p:nvSpPr>
        <p:spPr>
          <a:xfrm>
            <a:off x="877824" y="3218688"/>
            <a:ext cx="487375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real card layout with the school logo behind it, the student's photo, and the principal and director signatures from Branding. Print it, or keep it on the phone.</a:t>
            </a:r>
            <a:endParaRPr lang="en-US" sz="1100" dirty="0"/>
          </a:p>
        </p:txBody>
      </p:sp>
      <p:sp>
        <p:nvSpPr>
          <p:cNvPr id="10" name="Shape 7"/>
          <p:cNvSpPr/>
          <p:nvPr/>
        </p:nvSpPr>
        <p:spPr>
          <a:xfrm>
            <a:off x="6199632" y="2148840"/>
            <a:ext cx="5349240" cy="2103120"/>
          </a:xfrm>
          <a:prstGeom prst="roundRect">
            <a:avLst>
              <a:gd name="adj" fmla="val 4348"/>
            </a:avLst>
          </a:prstGeom>
          <a:solidFill>
            <a:srgbClr val="F3F6FD"/>
          </a:solidFill>
          <a:ln w="9525">
            <a:solidFill>
              <a:srgbClr val="DCE4F5"/>
            </a:solidFill>
            <a:prstDash val="solid"/>
          </a:ln>
          <a:effectLst>
            <a:outerShdw sx="100000" sy="100000" kx="0" ky="0" algn="bl" rotWithShape="0" blurRad="127000" dist="25400" dir="5400000">
              <a:srgbClr val="1E2761">
                <a:alpha val="10000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6437376" y="2368296"/>
            <a:ext cx="475488" cy="475488"/>
          </a:xfrm>
          <a:prstGeom prst="ellipse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51676" y="2482596"/>
            <a:ext cx="228600" cy="228600"/>
          </a:xfrm>
          <a:prstGeom prst="rect">
            <a:avLst/>
          </a:prstGeom>
        </p:spPr>
      </p:pic>
      <p:sp>
        <p:nvSpPr>
          <p:cNvPr id="13" name="Text 9"/>
          <p:cNvSpPr txBox="1"/>
          <p:nvPr/>
        </p:nvSpPr>
        <p:spPr>
          <a:xfrm>
            <a:off x="6437376" y="2935224"/>
            <a:ext cx="48737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scan</a:t>
            </a:r>
            <a:endParaRPr lang="en-US" sz="1400" dirty="0"/>
          </a:p>
        </p:txBody>
      </p:sp>
      <p:sp>
        <p:nvSpPr>
          <p:cNvPr id="14" name="Text 10"/>
          <p:cNvSpPr txBox="1"/>
          <p:nvPr/>
        </p:nvSpPr>
        <p:spPr>
          <a:xfrm>
            <a:off x="6437376" y="3218688"/>
            <a:ext cx="487375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Open Scan Attendance, point at the code, and the record is written. Scan again later and it is a time-out, not a duplicate.</a:t>
            </a:r>
            <a:endParaRPr lang="en-US" sz="1100" dirty="0"/>
          </a:p>
        </p:txBody>
      </p:sp>
      <p:sp>
        <p:nvSpPr>
          <p:cNvPr id="15" name="Shape 11"/>
          <p:cNvSpPr/>
          <p:nvPr/>
        </p:nvSpPr>
        <p:spPr>
          <a:xfrm>
            <a:off x="640080" y="4480560"/>
            <a:ext cx="5349240" cy="2103120"/>
          </a:xfrm>
          <a:prstGeom prst="roundRect">
            <a:avLst>
              <a:gd name="adj" fmla="val 4348"/>
            </a:avLst>
          </a:prstGeom>
          <a:solidFill>
            <a:srgbClr val="F3F6FD"/>
          </a:solidFill>
          <a:ln w="9525">
            <a:solidFill>
              <a:srgbClr val="DCE4F5"/>
            </a:solidFill>
            <a:prstDash val="solid"/>
          </a:ln>
          <a:effectLst>
            <a:outerShdw sx="100000" sy="100000" kx="0" ky="0" algn="bl" rotWithShape="0" blurRad="127000" dist="25400" dir="5400000">
              <a:srgbClr val="1E2761">
                <a:alpha val="10000"/>
              </a:srgbClr>
            </a:outerShdw>
          </a:effectLst>
        </p:spPr>
      </p:sp>
      <p:sp>
        <p:nvSpPr>
          <p:cNvPr id="16" name="Shape 12"/>
          <p:cNvSpPr/>
          <p:nvPr/>
        </p:nvSpPr>
        <p:spPr>
          <a:xfrm>
            <a:off x="877824" y="4700016"/>
            <a:ext cx="475488" cy="475488"/>
          </a:xfrm>
          <a:prstGeom prst="ellipse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pic>
        <p:nvPicPr>
          <p:cNvPr id="17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92124" y="4814316"/>
            <a:ext cx="228600" cy="228600"/>
          </a:xfrm>
          <a:prstGeom prst="rect">
            <a:avLst/>
          </a:prstGeom>
        </p:spPr>
      </p:pic>
      <p:sp>
        <p:nvSpPr>
          <p:cNvPr id="18" name="Text 13"/>
          <p:cNvSpPr txBox="1"/>
          <p:nvPr/>
        </p:nvSpPr>
        <p:spPr>
          <a:xfrm>
            <a:off x="877824" y="5266944"/>
            <a:ext cx="48737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Present or late</a:t>
            </a:r>
            <a:endParaRPr lang="en-US" sz="1400" dirty="0"/>
          </a:p>
        </p:txBody>
      </p:sp>
      <p:sp>
        <p:nvSpPr>
          <p:cNvPr id="19" name="Text 14"/>
          <p:cNvSpPr txBox="1"/>
          <p:nvPr/>
        </p:nvSpPr>
        <p:spPr>
          <a:xfrm>
            <a:off x="877824" y="5550408"/>
            <a:ext cx="487375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Decided on the server against the school's cutoff time and the school's timezone - not by the clock on the phone doing the scanning.</a:t>
            </a:r>
            <a:endParaRPr lang="en-US" sz="1100" dirty="0"/>
          </a:p>
        </p:txBody>
      </p:sp>
      <p:sp>
        <p:nvSpPr>
          <p:cNvPr id="20" name="Shape 15"/>
          <p:cNvSpPr/>
          <p:nvPr/>
        </p:nvSpPr>
        <p:spPr>
          <a:xfrm>
            <a:off x="6199632" y="4480560"/>
            <a:ext cx="5349240" cy="2103120"/>
          </a:xfrm>
          <a:prstGeom prst="roundRect">
            <a:avLst>
              <a:gd name="adj" fmla="val 4348"/>
            </a:avLst>
          </a:prstGeom>
          <a:solidFill>
            <a:srgbClr val="F3F6FD"/>
          </a:solidFill>
          <a:ln w="9525">
            <a:solidFill>
              <a:srgbClr val="DCE4F5"/>
            </a:solidFill>
            <a:prstDash val="solid"/>
          </a:ln>
          <a:effectLst>
            <a:outerShdw sx="100000" sy="100000" kx="0" ky="0" algn="bl" rotWithShape="0" blurRad="127000" dist="25400" dir="5400000">
              <a:srgbClr val="1E2761">
                <a:alpha val="10000"/>
              </a:srgbClr>
            </a:outerShdw>
          </a:effectLst>
        </p:spPr>
      </p:sp>
      <p:sp>
        <p:nvSpPr>
          <p:cNvPr id="21" name="Shape 16"/>
          <p:cNvSpPr/>
          <p:nvPr/>
        </p:nvSpPr>
        <p:spPr>
          <a:xfrm>
            <a:off x="6437376" y="4700016"/>
            <a:ext cx="475488" cy="475488"/>
          </a:xfrm>
          <a:prstGeom prst="ellipse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pic>
        <p:nvPicPr>
          <p:cNvPr id="22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551676" y="4814316"/>
            <a:ext cx="228600" cy="228600"/>
          </a:xfrm>
          <a:prstGeom prst="rect">
            <a:avLst/>
          </a:prstGeom>
        </p:spPr>
      </p:pic>
      <p:sp>
        <p:nvSpPr>
          <p:cNvPr id="23" name="Text 17"/>
          <p:cNvSpPr txBox="1"/>
          <p:nvPr/>
        </p:nvSpPr>
        <p:spPr>
          <a:xfrm>
            <a:off x="6437376" y="5266944"/>
            <a:ext cx="48737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Who can see it</a:t>
            </a:r>
            <a:endParaRPr lang="en-US" sz="1400" dirty="0"/>
          </a:p>
        </p:txBody>
      </p:sp>
      <p:sp>
        <p:nvSpPr>
          <p:cNvPr id="24" name="Text 18"/>
          <p:cNvSpPr txBox="1"/>
          <p:nvPr/>
        </p:nvSpPr>
        <p:spPr>
          <a:xfrm>
            <a:off x="6437376" y="5550408"/>
            <a:ext cx="487375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student, their linked parent, and the staff roles allowed to. Attendance cannot be written from a client at all, only by the scan.</a:t>
            </a:r>
            <a:endParaRPr lang="en-US" sz="11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38912"/>
            <a:ext cx="1090879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40" kern="0" dirty="0">
                <a:solidFill>
                  <a:srgbClr val="E8A3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FEES AND PAYMENTS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694944"/>
            <a:ext cx="10908792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From the fee schedule to a receipt in a parent's hand</a:t>
            </a:r>
            <a:endParaRPr lang="en-US" sz="28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1371600"/>
            <a:ext cx="8945209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Six steps, and the family can follow every one of them from their own account.</a:t>
            </a:r>
            <a:endParaRPr lang="en-US" sz="1350" dirty="0"/>
          </a:p>
        </p:txBody>
      </p:sp>
      <p:sp>
        <p:nvSpPr>
          <p:cNvPr id="5" name="Shape 3"/>
          <p:cNvSpPr/>
          <p:nvPr/>
        </p:nvSpPr>
        <p:spPr>
          <a:xfrm>
            <a:off x="640080" y="2048256"/>
            <a:ext cx="384048" cy="384048"/>
          </a:xfrm>
          <a:prstGeom prst="ellipse">
            <a:avLst/>
          </a:prstGeom>
          <a:solidFill>
            <a:srgbClr val="CADCFC"/>
          </a:solidFill>
          <a:ln w="12700">
            <a:solidFill>
              <a:srgbClr val="CADCFC"/>
            </a:solidFill>
            <a:prstDash val="solid"/>
          </a:ln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45236" y="2153412"/>
            <a:ext cx="173736" cy="173736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1152144" y="1993392"/>
            <a:ext cx="47137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Define the fee schedule</a:t>
            </a:r>
            <a:endParaRPr lang="en-US" sz="1250" dirty="0"/>
          </a:p>
        </p:txBody>
      </p:sp>
      <p:sp>
        <p:nvSpPr>
          <p:cNvPr id="8" name="Text 5"/>
          <p:cNvSpPr txBox="1"/>
          <p:nvPr/>
        </p:nvSpPr>
        <p:spPr>
          <a:xfrm>
            <a:off x="1152144" y="2226564"/>
            <a:ext cx="471373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50"/>
              </a:lnSpc>
              <a:buNone/>
            </a:pPr>
            <a:r>
              <a:rPr lang="en-US" sz="100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named set of fees for a division, grade level and school year - tuition, miscellaneous, books, whatever the school charges</a:t>
            </a:r>
            <a:endParaRPr lang="en-US" sz="1000" dirty="0"/>
          </a:p>
        </p:txBody>
      </p:sp>
      <p:sp>
        <p:nvSpPr>
          <p:cNvPr id="9" name="Shape 6"/>
          <p:cNvSpPr/>
          <p:nvPr/>
        </p:nvSpPr>
        <p:spPr>
          <a:xfrm>
            <a:off x="640080" y="3328416"/>
            <a:ext cx="384048" cy="384048"/>
          </a:xfrm>
          <a:prstGeom prst="ellipse">
            <a:avLst/>
          </a:prstGeom>
          <a:solidFill>
            <a:srgbClr val="CADCFC"/>
          </a:solidFill>
          <a:ln w="12700">
            <a:solidFill>
              <a:srgbClr val="CADCFC"/>
            </a:solidFill>
            <a:prstDash val="solid"/>
          </a:ln>
        </p:spPr>
      </p:sp>
      <p:pic>
        <p:nvPicPr>
          <p:cNvPr id="10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5236" y="3433572"/>
            <a:ext cx="173736" cy="173736"/>
          </a:xfrm>
          <a:prstGeom prst="rect">
            <a:avLst/>
          </a:prstGeom>
        </p:spPr>
      </p:pic>
      <p:sp>
        <p:nvSpPr>
          <p:cNvPr id="11" name="Text 7"/>
          <p:cNvSpPr txBox="1"/>
          <p:nvPr/>
        </p:nvSpPr>
        <p:spPr>
          <a:xfrm>
            <a:off x="1152144" y="3273552"/>
            <a:ext cx="47137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Assess the student</a:t>
            </a:r>
            <a:endParaRPr lang="en-US" sz="1250" dirty="0"/>
          </a:p>
        </p:txBody>
      </p:sp>
      <p:sp>
        <p:nvSpPr>
          <p:cNvPr id="12" name="Text 8"/>
          <p:cNvSpPr txBox="1"/>
          <p:nvPr/>
        </p:nvSpPr>
        <p:spPr>
          <a:xfrm>
            <a:off x="1152144" y="3506724"/>
            <a:ext cx="471373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50"/>
              </a:lnSpc>
              <a:buNone/>
            </a:pPr>
            <a:r>
              <a:rPr lang="en-US" sz="100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Charge a schedule against one student, or type an ad-hoc charge line by line. The total is shown before anything is committed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640080" y="4608576"/>
            <a:ext cx="384048" cy="384048"/>
          </a:xfrm>
          <a:prstGeom prst="ellipse">
            <a:avLst/>
          </a:prstGeom>
          <a:solidFill>
            <a:srgbClr val="CADCFC"/>
          </a:solidFill>
          <a:ln w="12700">
            <a:solidFill>
              <a:srgbClr val="CADCFC"/>
            </a:solidFill>
            <a:prstDash val="solid"/>
          </a:ln>
        </p:spPr>
      </p:sp>
      <p:pic>
        <p:nvPicPr>
          <p:cNvPr id="14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45236" y="4713732"/>
            <a:ext cx="173736" cy="173736"/>
          </a:xfrm>
          <a:prstGeom prst="rect">
            <a:avLst/>
          </a:prstGeom>
        </p:spPr>
      </p:pic>
      <p:sp>
        <p:nvSpPr>
          <p:cNvPr id="15" name="Text 10"/>
          <p:cNvSpPr txBox="1"/>
          <p:nvPr/>
        </p:nvSpPr>
        <p:spPr>
          <a:xfrm>
            <a:off x="1152144" y="4553712"/>
            <a:ext cx="47137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 Take the payment</a:t>
            </a:r>
            <a:endParaRPr lang="en-US" sz="1250" dirty="0"/>
          </a:p>
        </p:txBody>
      </p:sp>
      <p:sp>
        <p:nvSpPr>
          <p:cNvPr id="16" name="Text 11"/>
          <p:cNvSpPr txBox="1"/>
          <p:nvPr/>
        </p:nvSpPr>
        <p:spPr>
          <a:xfrm>
            <a:off x="1152144" y="4786884"/>
            <a:ext cx="471373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50"/>
              </a:lnSpc>
              <a:buNone/>
            </a:pPr>
            <a:r>
              <a:rPr lang="en-US" sz="100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Type the number on the ID card and the student's name, class and balance appear. Nothing sends until the ID names somebody</a:t>
            </a:r>
            <a:endParaRPr lang="en-US" sz="1000" dirty="0"/>
          </a:p>
        </p:txBody>
      </p:sp>
      <p:sp>
        <p:nvSpPr>
          <p:cNvPr id="17" name="Shape 12"/>
          <p:cNvSpPr/>
          <p:nvPr/>
        </p:nvSpPr>
        <p:spPr>
          <a:xfrm>
            <a:off x="6323076" y="2048256"/>
            <a:ext cx="384048" cy="384048"/>
          </a:xfrm>
          <a:prstGeom prst="ellipse">
            <a:avLst/>
          </a:prstGeom>
          <a:solidFill>
            <a:srgbClr val="CADCFC"/>
          </a:solidFill>
          <a:ln w="12700">
            <a:solidFill>
              <a:srgbClr val="CADCFC"/>
            </a:solidFill>
            <a:prstDash val="solid"/>
          </a:ln>
        </p:spPr>
      </p:sp>
      <p:pic>
        <p:nvPicPr>
          <p:cNvPr id="18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28232" y="2153412"/>
            <a:ext cx="173736" cy="173736"/>
          </a:xfrm>
          <a:prstGeom prst="rect">
            <a:avLst/>
          </a:prstGeom>
        </p:spPr>
      </p:pic>
      <p:sp>
        <p:nvSpPr>
          <p:cNvPr id="19" name="Text 13"/>
          <p:cNvSpPr txBox="1"/>
          <p:nvPr/>
        </p:nvSpPr>
        <p:spPr>
          <a:xfrm>
            <a:off x="6835140" y="1993392"/>
            <a:ext cx="47137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 Refund if needed</a:t>
            </a:r>
            <a:endParaRPr lang="en-US" sz="1250" dirty="0"/>
          </a:p>
        </p:txBody>
      </p:sp>
      <p:sp>
        <p:nvSpPr>
          <p:cNvPr id="20" name="Text 14"/>
          <p:cNvSpPr txBox="1"/>
          <p:nvPr/>
        </p:nvSpPr>
        <p:spPr>
          <a:xfrm>
            <a:off x="6835140" y="2226564"/>
            <a:ext cx="471373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50"/>
              </a:lnSpc>
              <a:buNone/>
            </a:pPr>
            <a:r>
              <a:rPr lang="en-US" sz="100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refund is its own row against the original payment. Director and Admin only, enforced on the server</a:t>
            </a:r>
            <a:endParaRPr lang="en-US" sz="1000" dirty="0"/>
          </a:p>
        </p:txBody>
      </p:sp>
      <p:sp>
        <p:nvSpPr>
          <p:cNvPr id="21" name="Shape 15"/>
          <p:cNvSpPr/>
          <p:nvPr/>
        </p:nvSpPr>
        <p:spPr>
          <a:xfrm>
            <a:off x="6323076" y="3328416"/>
            <a:ext cx="384048" cy="384048"/>
          </a:xfrm>
          <a:prstGeom prst="ellipse">
            <a:avLst/>
          </a:prstGeom>
          <a:solidFill>
            <a:srgbClr val="CADCFC"/>
          </a:solidFill>
          <a:ln w="12700">
            <a:solidFill>
              <a:srgbClr val="CADCFC"/>
            </a:solidFill>
            <a:prstDash val="solid"/>
          </a:ln>
        </p:spPr>
      </p:sp>
      <p:pic>
        <p:nvPicPr>
          <p:cNvPr id="22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428232" y="3433572"/>
            <a:ext cx="173736" cy="173736"/>
          </a:xfrm>
          <a:prstGeom prst="rect">
            <a:avLst/>
          </a:prstGeom>
        </p:spPr>
      </p:pic>
      <p:sp>
        <p:nvSpPr>
          <p:cNvPr id="23" name="Text 16"/>
          <p:cNvSpPr txBox="1"/>
          <p:nvPr/>
        </p:nvSpPr>
        <p:spPr>
          <a:xfrm>
            <a:off x="6835140" y="3273552"/>
            <a:ext cx="47137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5. Show the family the arithmetic</a:t>
            </a:r>
            <a:endParaRPr lang="en-US" sz="1250" dirty="0"/>
          </a:p>
        </p:txBody>
      </p:sp>
      <p:sp>
        <p:nvSpPr>
          <p:cNvPr id="24" name="Text 17"/>
          <p:cNvSpPr txBox="1"/>
          <p:nvPr/>
        </p:nvSpPr>
        <p:spPr>
          <a:xfrm>
            <a:off x="6835140" y="3506724"/>
            <a:ext cx="471373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50"/>
              </a:lnSpc>
              <a:buNone/>
            </a:pPr>
            <a:r>
              <a:rPr lang="en-US" sz="100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Charged, paid, and what is left - with the assessments listed, so a balance is never a number nobody can explain</a:t>
            </a:r>
            <a:endParaRPr lang="en-US" sz="1000" dirty="0"/>
          </a:p>
        </p:txBody>
      </p:sp>
      <p:sp>
        <p:nvSpPr>
          <p:cNvPr id="25" name="Shape 18"/>
          <p:cNvSpPr/>
          <p:nvPr/>
        </p:nvSpPr>
        <p:spPr>
          <a:xfrm>
            <a:off x="6323076" y="4608576"/>
            <a:ext cx="384048" cy="384048"/>
          </a:xfrm>
          <a:prstGeom prst="ellipse">
            <a:avLst/>
          </a:prstGeom>
          <a:solidFill>
            <a:srgbClr val="CADCFC"/>
          </a:solidFill>
          <a:ln w="12700">
            <a:solidFill>
              <a:srgbClr val="CADCFC"/>
            </a:solidFill>
            <a:prstDash val="solid"/>
          </a:ln>
        </p:spPr>
      </p:sp>
      <p:pic>
        <p:nvPicPr>
          <p:cNvPr id="26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428232" y="4713732"/>
            <a:ext cx="173736" cy="173736"/>
          </a:xfrm>
          <a:prstGeom prst="rect">
            <a:avLst/>
          </a:prstGeom>
        </p:spPr>
      </p:pic>
      <p:sp>
        <p:nvSpPr>
          <p:cNvPr id="27" name="Text 19"/>
          <p:cNvSpPr txBox="1"/>
          <p:nvPr/>
        </p:nvSpPr>
        <p:spPr>
          <a:xfrm>
            <a:off x="6835140" y="4553712"/>
            <a:ext cx="47137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6. Void a mistake, do not delete it</a:t>
            </a:r>
            <a:endParaRPr lang="en-US" sz="1250" dirty="0"/>
          </a:p>
        </p:txBody>
      </p:sp>
      <p:sp>
        <p:nvSpPr>
          <p:cNvPr id="28" name="Text 20"/>
          <p:cNvSpPr txBox="1"/>
          <p:nvPr/>
        </p:nvSpPr>
        <p:spPr>
          <a:xfrm>
            <a:off x="6835140" y="4786884"/>
            <a:ext cx="471373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50"/>
              </a:lnSpc>
              <a:buNone/>
            </a:pPr>
            <a:r>
              <a:rPr lang="en-US" sz="100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wrong assessment is voided and stays visible. The history of a family's account is never quietly rewritten</a:t>
            </a:r>
            <a:endParaRPr lang="en-US" sz="10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141B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38912"/>
            <a:ext cx="1090879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40" kern="0" dirty="0">
                <a:solidFill>
                  <a:srgbClr val="E8A3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ONLINE PAYMENTS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694944"/>
            <a:ext cx="10908792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GCash and bank transfers, reviewed before they count</a:t>
            </a:r>
            <a:endParaRPr lang="en-US" sz="28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1371600"/>
            <a:ext cx="8945209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gateway to sign up for and no percentage taken. The school publishes its own account, and a person approves what comes in.</a:t>
            </a:r>
            <a:endParaRPr lang="en-US" sz="1350" dirty="0"/>
          </a:p>
        </p:txBody>
      </p:sp>
      <p:sp>
        <p:nvSpPr>
          <p:cNvPr id="5" name="Shape 3"/>
          <p:cNvSpPr/>
          <p:nvPr/>
        </p:nvSpPr>
        <p:spPr>
          <a:xfrm>
            <a:off x="640080" y="2331720"/>
            <a:ext cx="2569464" cy="2788920"/>
          </a:xfrm>
          <a:prstGeom prst="roundRect">
            <a:avLst>
              <a:gd name="adj" fmla="val 3559"/>
            </a:avLst>
          </a:prstGeom>
          <a:solidFill>
            <a:srgbClr val="1E2761"/>
          </a:solidFill>
          <a:ln w="9525">
            <a:solidFill>
              <a:srgbClr val="3A4783"/>
            </a:solidFill>
            <a:prstDash val="solid"/>
          </a:ln>
          <a:effectLst>
            <a:outerShdw sx="100000" sy="100000" kx="0" ky="0" algn="bl" rotWithShape="0" blurRad="127000" dist="25400" dir="5400000">
              <a:srgbClr val="1E2761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877824" y="2551176"/>
            <a:ext cx="475488" cy="475488"/>
          </a:xfrm>
          <a:prstGeom prst="ellipse">
            <a:avLst/>
          </a:prstGeom>
          <a:solidFill>
            <a:srgbClr val="E8A33D"/>
          </a:solidFill>
          <a:ln w="12700">
            <a:solidFill>
              <a:srgbClr val="E8A33D"/>
            </a:solidFill>
            <a:prstDash val="solid"/>
          </a:ln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92124" y="2665476"/>
            <a:ext cx="228600" cy="228600"/>
          </a:xfrm>
          <a:prstGeom prst="rect">
            <a:avLst/>
          </a:prstGeom>
        </p:spPr>
      </p:pic>
      <p:sp>
        <p:nvSpPr>
          <p:cNvPr id="8" name="Text 5"/>
          <p:cNvSpPr txBox="1"/>
          <p:nvPr/>
        </p:nvSpPr>
        <p:spPr>
          <a:xfrm>
            <a:off x="877824" y="3118104"/>
            <a:ext cx="209397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school sets it up</a:t>
            </a:r>
            <a:endParaRPr lang="en-US" sz="1400" dirty="0"/>
          </a:p>
        </p:txBody>
      </p:sp>
      <p:sp>
        <p:nvSpPr>
          <p:cNvPr id="9" name="Text 6"/>
          <p:cNvSpPr txBox="1"/>
          <p:nvPr/>
        </p:nvSpPr>
        <p:spPr>
          <a:xfrm>
            <a:off x="877824" y="3401568"/>
            <a:ext cx="2093976" cy="1508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9EAB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Account name, number, a QR image families can scan, and the instructions they read first.</a:t>
            </a:r>
            <a:endParaRPr lang="en-US" sz="1100" dirty="0"/>
          </a:p>
        </p:txBody>
      </p:sp>
      <p:sp>
        <p:nvSpPr>
          <p:cNvPr id="10" name="Shape 7"/>
          <p:cNvSpPr/>
          <p:nvPr/>
        </p:nvSpPr>
        <p:spPr>
          <a:xfrm>
            <a:off x="3419856" y="2331720"/>
            <a:ext cx="2569464" cy="2788920"/>
          </a:xfrm>
          <a:prstGeom prst="roundRect">
            <a:avLst>
              <a:gd name="adj" fmla="val 3559"/>
            </a:avLst>
          </a:prstGeom>
          <a:solidFill>
            <a:srgbClr val="1E2761"/>
          </a:solidFill>
          <a:ln w="9525">
            <a:solidFill>
              <a:srgbClr val="3A4783"/>
            </a:solidFill>
            <a:prstDash val="solid"/>
          </a:ln>
          <a:effectLst>
            <a:outerShdw sx="100000" sy="100000" kx="0" ky="0" algn="bl" rotWithShape="0" blurRad="127000" dist="25400" dir="5400000">
              <a:srgbClr val="1E2761">
                <a:alpha val="10000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3657600" y="2551176"/>
            <a:ext cx="475488" cy="475488"/>
          </a:xfrm>
          <a:prstGeom prst="ellipse">
            <a:avLst/>
          </a:prstGeom>
          <a:solidFill>
            <a:srgbClr val="E8A33D"/>
          </a:solidFill>
          <a:ln w="12700">
            <a:solidFill>
              <a:srgbClr val="E8A33D"/>
            </a:solidFill>
            <a:prstDash val="solid"/>
          </a:ln>
        </p:spPr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771900" y="2665476"/>
            <a:ext cx="228600" cy="228600"/>
          </a:xfrm>
          <a:prstGeom prst="rect">
            <a:avLst/>
          </a:prstGeom>
        </p:spPr>
      </p:pic>
      <p:sp>
        <p:nvSpPr>
          <p:cNvPr id="13" name="Text 9"/>
          <p:cNvSpPr txBox="1"/>
          <p:nvPr/>
        </p:nvSpPr>
        <p:spPr>
          <a:xfrm>
            <a:off x="3657600" y="3118104"/>
            <a:ext cx="209397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family sends it</a:t>
            </a:r>
            <a:endParaRPr lang="en-US" sz="1400" dirty="0"/>
          </a:p>
        </p:txBody>
      </p:sp>
      <p:sp>
        <p:nvSpPr>
          <p:cNvPr id="14" name="Text 10"/>
          <p:cNvSpPr txBox="1"/>
          <p:nvPr/>
        </p:nvSpPr>
        <p:spPr>
          <a:xfrm>
            <a:off x="3657600" y="3401568"/>
            <a:ext cx="2093976" cy="1508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9EAB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They pay by their own app, then submit the reference number, the amount and what it was for.</a:t>
            </a:r>
            <a:endParaRPr lang="en-US" sz="1100" dirty="0"/>
          </a:p>
        </p:txBody>
      </p:sp>
      <p:sp>
        <p:nvSpPr>
          <p:cNvPr id="15" name="Shape 11"/>
          <p:cNvSpPr/>
          <p:nvPr/>
        </p:nvSpPr>
        <p:spPr>
          <a:xfrm>
            <a:off x="6199632" y="2331720"/>
            <a:ext cx="2569464" cy="2788920"/>
          </a:xfrm>
          <a:prstGeom prst="roundRect">
            <a:avLst>
              <a:gd name="adj" fmla="val 3559"/>
            </a:avLst>
          </a:prstGeom>
          <a:solidFill>
            <a:srgbClr val="1E2761"/>
          </a:solidFill>
          <a:ln w="9525">
            <a:solidFill>
              <a:srgbClr val="3A4783"/>
            </a:solidFill>
            <a:prstDash val="solid"/>
          </a:ln>
          <a:effectLst>
            <a:outerShdw sx="100000" sy="100000" kx="0" ky="0" algn="bl" rotWithShape="0" blurRad="127000" dist="25400" dir="5400000">
              <a:srgbClr val="1E2761">
                <a:alpha val="10000"/>
              </a:srgbClr>
            </a:outerShdw>
          </a:effectLst>
        </p:spPr>
      </p:sp>
      <p:sp>
        <p:nvSpPr>
          <p:cNvPr id="16" name="Shape 12"/>
          <p:cNvSpPr/>
          <p:nvPr/>
        </p:nvSpPr>
        <p:spPr>
          <a:xfrm>
            <a:off x="6437376" y="2551176"/>
            <a:ext cx="475488" cy="475488"/>
          </a:xfrm>
          <a:prstGeom prst="ellipse">
            <a:avLst/>
          </a:prstGeom>
          <a:solidFill>
            <a:srgbClr val="E8A33D"/>
          </a:solidFill>
          <a:ln w="12700">
            <a:solidFill>
              <a:srgbClr val="E8A33D"/>
            </a:solidFill>
            <a:prstDash val="solid"/>
          </a:ln>
        </p:spPr>
      </p:sp>
      <p:pic>
        <p:nvPicPr>
          <p:cNvPr id="17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51676" y="2665476"/>
            <a:ext cx="228600" cy="228600"/>
          </a:xfrm>
          <a:prstGeom prst="rect">
            <a:avLst/>
          </a:prstGeom>
        </p:spPr>
      </p:pic>
      <p:sp>
        <p:nvSpPr>
          <p:cNvPr id="18" name="Text 13"/>
          <p:cNvSpPr txBox="1"/>
          <p:nvPr/>
        </p:nvSpPr>
        <p:spPr>
          <a:xfrm>
            <a:off x="6437376" y="3118104"/>
            <a:ext cx="209397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cashier reviews</a:t>
            </a:r>
            <a:endParaRPr lang="en-US" sz="1400" dirty="0"/>
          </a:p>
        </p:txBody>
      </p:sp>
      <p:sp>
        <p:nvSpPr>
          <p:cNvPr id="19" name="Text 14"/>
          <p:cNvSpPr txBox="1"/>
          <p:nvPr/>
        </p:nvSpPr>
        <p:spPr>
          <a:xfrm>
            <a:off x="6437376" y="3401568"/>
            <a:ext cx="2093976" cy="1508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9EAB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queue of everything awaiting review. Approve and it becomes a real payment with a receipt; reject and the family is told.</a:t>
            </a:r>
            <a:endParaRPr lang="en-US" sz="1100" dirty="0"/>
          </a:p>
        </p:txBody>
      </p:sp>
      <p:sp>
        <p:nvSpPr>
          <p:cNvPr id="20" name="Shape 15"/>
          <p:cNvSpPr/>
          <p:nvPr/>
        </p:nvSpPr>
        <p:spPr>
          <a:xfrm>
            <a:off x="8979408" y="2331720"/>
            <a:ext cx="2569464" cy="2788920"/>
          </a:xfrm>
          <a:prstGeom prst="roundRect">
            <a:avLst>
              <a:gd name="adj" fmla="val 3559"/>
            </a:avLst>
          </a:prstGeom>
          <a:solidFill>
            <a:srgbClr val="1E2761"/>
          </a:solidFill>
          <a:ln w="9525">
            <a:solidFill>
              <a:srgbClr val="3A4783"/>
            </a:solidFill>
            <a:prstDash val="solid"/>
          </a:ln>
          <a:effectLst>
            <a:outerShdw sx="100000" sy="100000" kx="0" ky="0" algn="bl" rotWithShape="0" blurRad="127000" dist="25400" dir="5400000">
              <a:srgbClr val="1E2761">
                <a:alpha val="10000"/>
              </a:srgbClr>
            </a:outerShdw>
          </a:effectLst>
        </p:spPr>
      </p:sp>
      <p:sp>
        <p:nvSpPr>
          <p:cNvPr id="21" name="Shape 16"/>
          <p:cNvSpPr/>
          <p:nvPr/>
        </p:nvSpPr>
        <p:spPr>
          <a:xfrm>
            <a:off x="9217152" y="2551176"/>
            <a:ext cx="475488" cy="475488"/>
          </a:xfrm>
          <a:prstGeom prst="ellipse">
            <a:avLst/>
          </a:prstGeom>
          <a:solidFill>
            <a:srgbClr val="E8A33D"/>
          </a:solidFill>
          <a:ln w="12700">
            <a:solidFill>
              <a:srgbClr val="E8A33D"/>
            </a:solidFill>
            <a:prstDash val="solid"/>
          </a:ln>
        </p:spPr>
      </p:sp>
      <p:pic>
        <p:nvPicPr>
          <p:cNvPr id="22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331452" y="2665476"/>
            <a:ext cx="228600" cy="228600"/>
          </a:xfrm>
          <a:prstGeom prst="rect">
            <a:avLst/>
          </a:prstGeom>
        </p:spPr>
      </p:pic>
      <p:sp>
        <p:nvSpPr>
          <p:cNvPr id="23" name="Text 17"/>
          <p:cNvSpPr txBox="1"/>
          <p:nvPr/>
        </p:nvSpPr>
        <p:spPr>
          <a:xfrm>
            <a:off x="9217152" y="3118104"/>
            <a:ext cx="209397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cashier is told</a:t>
            </a:r>
            <a:endParaRPr lang="en-US" sz="1400" dirty="0"/>
          </a:p>
        </p:txBody>
      </p:sp>
      <p:sp>
        <p:nvSpPr>
          <p:cNvPr id="24" name="Text 18"/>
          <p:cNvSpPr txBox="1"/>
          <p:nvPr/>
        </p:nvSpPr>
        <p:spPr>
          <a:xfrm>
            <a:off x="9217152" y="3401568"/>
            <a:ext cx="2093976" cy="1508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9EAB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new submission raises an alert wherever the cashier is in the app - not only on the review screen.</a:t>
            </a:r>
            <a:endParaRPr lang="en-US" sz="1100" dirty="0"/>
          </a:p>
        </p:txBody>
      </p:sp>
      <p:sp>
        <p:nvSpPr>
          <p:cNvPr id="25" name="Text 19"/>
          <p:cNvSpPr txBox="1"/>
          <p:nvPr/>
        </p:nvSpPr>
        <p:spPr>
          <a:xfrm>
            <a:off x="640080" y="5532120"/>
            <a:ext cx="1090879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E8A3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No merchant account to open, no gateway percentage, and no payment counted until a person says so.</a:t>
            </a:r>
            <a:endParaRPr lang="en-US" sz="15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38912"/>
            <a:ext cx="1090879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40" kern="0" dirty="0">
                <a:solidFill>
                  <a:srgbClr val="E8A3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RECORDS AND FORMS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694944"/>
            <a:ext cx="10908792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Transcript and Form 137, printed and logged</a:t>
            </a:r>
            <a:endParaRPr lang="en-US" sz="28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1371600"/>
            <a:ext cx="8945209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two documents a school is asked for most, generated from the records already in the system.</a:t>
            </a:r>
            <a:endParaRPr lang="en-US" sz="1350" dirty="0"/>
          </a:p>
        </p:txBody>
      </p:sp>
      <p:sp>
        <p:nvSpPr>
          <p:cNvPr id="5" name="Shape 3"/>
          <p:cNvSpPr/>
          <p:nvPr/>
        </p:nvSpPr>
        <p:spPr>
          <a:xfrm>
            <a:off x="640080" y="2194560"/>
            <a:ext cx="2569464" cy="2971800"/>
          </a:xfrm>
          <a:prstGeom prst="roundRect">
            <a:avLst>
              <a:gd name="adj" fmla="val 3559"/>
            </a:avLst>
          </a:prstGeom>
          <a:solidFill>
            <a:srgbClr val="F3F6FD"/>
          </a:solidFill>
          <a:ln w="9525">
            <a:solidFill>
              <a:srgbClr val="DCE4F5"/>
            </a:solidFill>
            <a:prstDash val="solid"/>
          </a:ln>
          <a:effectLst>
            <a:outerShdw sx="100000" sy="100000" kx="0" ky="0" algn="bl" rotWithShape="0" blurRad="127000" dist="25400" dir="5400000">
              <a:srgbClr val="1E2761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877824" y="2414016"/>
            <a:ext cx="475488" cy="475488"/>
          </a:xfrm>
          <a:prstGeom prst="ellipse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92124" y="2528316"/>
            <a:ext cx="228600" cy="228600"/>
          </a:xfrm>
          <a:prstGeom prst="rect">
            <a:avLst/>
          </a:prstGeom>
        </p:spPr>
      </p:pic>
      <p:sp>
        <p:nvSpPr>
          <p:cNvPr id="8" name="Text 5"/>
          <p:cNvSpPr txBox="1"/>
          <p:nvPr/>
        </p:nvSpPr>
        <p:spPr>
          <a:xfrm>
            <a:off x="877824" y="2980944"/>
            <a:ext cx="209397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Print it</a:t>
            </a:r>
            <a:endParaRPr lang="en-US" sz="1400" dirty="0"/>
          </a:p>
        </p:txBody>
      </p:sp>
      <p:sp>
        <p:nvSpPr>
          <p:cNvPr id="9" name="Text 6"/>
          <p:cNvSpPr txBox="1"/>
          <p:nvPr/>
        </p:nvSpPr>
        <p:spPr>
          <a:xfrm>
            <a:off x="877824" y="3264408"/>
            <a:ext cx="2093976" cy="1691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Transcript of Records or Form 137, laid out on the school's own letterhead with its logo, address, school year and the principal and director signatures.</a:t>
            </a:r>
            <a:endParaRPr lang="en-US" sz="1100" dirty="0"/>
          </a:p>
        </p:txBody>
      </p:sp>
      <p:sp>
        <p:nvSpPr>
          <p:cNvPr id="10" name="Shape 7"/>
          <p:cNvSpPr/>
          <p:nvPr/>
        </p:nvSpPr>
        <p:spPr>
          <a:xfrm>
            <a:off x="3419856" y="2194560"/>
            <a:ext cx="2569464" cy="2971800"/>
          </a:xfrm>
          <a:prstGeom prst="roundRect">
            <a:avLst>
              <a:gd name="adj" fmla="val 3559"/>
            </a:avLst>
          </a:prstGeom>
          <a:solidFill>
            <a:srgbClr val="F3F6FD"/>
          </a:solidFill>
          <a:ln w="9525">
            <a:solidFill>
              <a:srgbClr val="DCE4F5"/>
            </a:solidFill>
            <a:prstDash val="solid"/>
          </a:ln>
          <a:effectLst>
            <a:outerShdw sx="100000" sy="100000" kx="0" ky="0" algn="bl" rotWithShape="0" blurRad="127000" dist="25400" dir="5400000">
              <a:srgbClr val="1E2761">
                <a:alpha val="10000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3657600" y="2414016"/>
            <a:ext cx="475488" cy="475488"/>
          </a:xfrm>
          <a:prstGeom prst="ellipse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771900" y="2528316"/>
            <a:ext cx="228600" cy="228600"/>
          </a:xfrm>
          <a:prstGeom prst="rect">
            <a:avLst/>
          </a:prstGeom>
        </p:spPr>
      </p:pic>
      <p:sp>
        <p:nvSpPr>
          <p:cNvPr id="13" name="Text 9"/>
          <p:cNvSpPr txBox="1"/>
          <p:nvPr/>
        </p:nvSpPr>
        <p:spPr>
          <a:xfrm>
            <a:off x="3657600" y="2980944"/>
            <a:ext cx="209397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Say why</a:t>
            </a:r>
            <a:endParaRPr lang="en-US" sz="1400" dirty="0"/>
          </a:p>
        </p:txBody>
      </p:sp>
      <p:sp>
        <p:nvSpPr>
          <p:cNvPr id="14" name="Text 10"/>
          <p:cNvSpPr txBox="1"/>
          <p:nvPr/>
        </p:nvSpPr>
        <p:spPr>
          <a:xfrm>
            <a:off x="3657600" y="3264408"/>
            <a:ext cx="2093976" cy="1691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Purpose, who it was released to, their relationship to the student, and any remarks - captured at the moment of release, not remembered later.</a:t>
            </a:r>
            <a:endParaRPr lang="en-US" sz="1100" dirty="0"/>
          </a:p>
        </p:txBody>
      </p:sp>
      <p:sp>
        <p:nvSpPr>
          <p:cNvPr id="15" name="Shape 11"/>
          <p:cNvSpPr/>
          <p:nvPr/>
        </p:nvSpPr>
        <p:spPr>
          <a:xfrm>
            <a:off x="6199632" y="2194560"/>
            <a:ext cx="2569464" cy="2971800"/>
          </a:xfrm>
          <a:prstGeom prst="roundRect">
            <a:avLst>
              <a:gd name="adj" fmla="val 3559"/>
            </a:avLst>
          </a:prstGeom>
          <a:solidFill>
            <a:srgbClr val="F3F6FD"/>
          </a:solidFill>
          <a:ln w="9525">
            <a:solidFill>
              <a:srgbClr val="DCE4F5"/>
            </a:solidFill>
            <a:prstDash val="solid"/>
          </a:ln>
          <a:effectLst>
            <a:outerShdw sx="100000" sy="100000" kx="0" ky="0" algn="bl" rotWithShape="0" blurRad="127000" dist="25400" dir="5400000">
              <a:srgbClr val="1E2761">
                <a:alpha val="10000"/>
              </a:srgbClr>
            </a:outerShdw>
          </a:effectLst>
        </p:spPr>
      </p:sp>
      <p:sp>
        <p:nvSpPr>
          <p:cNvPr id="16" name="Shape 12"/>
          <p:cNvSpPr/>
          <p:nvPr/>
        </p:nvSpPr>
        <p:spPr>
          <a:xfrm>
            <a:off x="6437376" y="2414016"/>
            <a:ext cx="475488" cy="475488"/>
          </a:xfrm>
          <a:prstGeom prst="ellipse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pic>
        <p:nvPicPr>
          <p:cNvPr id="17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51676" y="2528316"/>
            <a:ext cx="228600" cy="228600"/>
          </a:xfrm>
          <a:prstGeom prst="rect">
            <a:avLst/>
          </a:prstGeom>
        </p:spPr>
      </p:pic>
      <p:sp>
        <p:nvSpPr>
          <p:cNvPr id="18" name="Text 13"/>
          <p:cNvSpPr txBox="1"/>
          <p:nvPr/>
        </p:nvSpPr>
        <p:spPr>
          <a:xfrm>
            <a:off x="6437376" y="2980944"/>
            <a:ext cx="209397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Keep the history</a:t>
            </a:r>
            <a:endParaRPr lang="en-US" sz="1400" dirty="0"/>
          </a:p>
        </p:txBody>
      </p:sp>
      <p:sp>
        <p:nvSpPr>
          <p:cNvPr id="19" name="Text 14"/>
          <p:cNvSpPr txBox="1"/>
          <p:nvPr/>
        </p:nvSpPr>
        <p:spPr>
          <a:xfrm>
            <a:off x="6437376" y="3264408"/>
            <a:ext cx="2093976" cy="1691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release is listed with its date and copy count. When the receiving school writes back asking when Form 137 was sent, the answer is on the screen.</a:t>
            </a:r>
            <a:endParaRPr lang="en-US" sz="1100" dirty="0"/>
          </a:p>
        </p:txBody>
      </p:sp>
      <p:sp>
        <p:nvSpPr>
          <p:cNvPr id="20" name="Shape 15"/>
          <p:cNvSpPr/>
          <p:nvPr/>
        </p:nvSpPr>
        <p:spPr>
          <a:xfrm>
            <a:off x="8979408" y="2194560"/>
            <a:ext cx="2569464" cy="2971800"/>
          </a:xfrm>
          <a:prstGeom prst="roundRect">
            <a:avLst>
              <a:gd name="adj" fmla="val 3559"/>
            </a:avLst>
          </a:prstGeom>
          <a:solidFill>
            <a:srgbClr val="F3F6FD"/>
          </a:solidFill>
          <a:ln w="9525">
            <a:solidFill>
              <a:srgbClr val="DCE4F5"/>
            </a:solidFill>
            <a:prstDash val="solid"/>
          </a:ln>
          <a:effectLst>
            <a:outerShdw sx="100000" sy="100000" kx="0" ky="0" algn="bl" rotWithShape="0" blurRad="127000" dist="25400" dir="5400000">
              <a:srgbClr val="1E2761">
                <a:alpha val="10000"/>
              </a:srgbClr>
            </a:outerShdw>
          </a:effectLst>
        </p:spPr>
      </p:sp>
      <p:sp>
        <p:nvSpPr>
          <p:cNvPr id="21" name="Shape 16"/>
          <p:cNvSpPr/>
          <p:nvPr/>
        </p:nvSpPr>
        <p:spPr>
          <a:xfrm>
            <a:off x="9217152" y="2414016"/>
            <a:ext cx="475488" cy="475488"/>
          </a:xfrm>
          <a:prstGeom prst="ellipse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pic>
        <p:nvPicPr>
          <p:cNvPr id="22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331452" y="2528316"/>
            <a:ext cx="228600" cy="228600"/>
          </a:xfrm>
          <a:prstGeom prst="rect">
            <a:avLst/>
          </a:prstGeom>
        </p:spPr>
      </p:pic>
      <p:sp>
        <p:nvSpPr>
          <p:cNvPr id="23" name="Text 17"/>
          <p:cNvSpPr txBox="1"/>
          <p:nvPr/>
        </p:nvSpPr>
        <p:spPr>
          <a:xfrm>
            <a:off x="9217152" y="2980944"/>
            <a:ext cx="209397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Print again</a:t>
            </a:r>
            <a:endParaRPr lang="en-US" sz="1400" dirty="0"/>
          </a:p>
        </p:txBody>
      </p:sp>
      <p:sp>
        <p:nvSpPr>
          <p:cNvPr id="24" name="Text 18"/>
          <p:cNvSpPr txBox="1"/>
          <p:nvPr/>
        </p:nvSpPr>
        <p:spPr>
          <a:xfrm>
            <a:off x="9217152" y="3264408"/>
            <a:ext cx="2093976" cy="1691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reprint is recorded as a reprint. The count of copies in circulation stays honest.</a:t>
            </a:r>
            <a:endParaRPr lang="en-US" sz="1100" dirty="0"/>
          </a:p>
        </p:txBody>
      </p:sp>
      <p:sp>
        <p:nvSpPr>
          <p:cNvPr id="25" name="Text 19"/>
          <p:cNvSpPr txBox="1"/>
          <p:nvPr/>
        </p:nvSpPr>
        <p:spPr>
          <a:xfrm>
            <a:off x="640080" y="5440680"/>
            <a:ext cx="1090879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Nothing is copied out by hand, so nothing is copied out wrong.</a:t>
            </a:r>
            <a:endParaRPr lang="en-US" sz="15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38912"/>
            <a:ext cx="1090879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40" kern="0" dirty="0">
                <a:solidFill>
                  <a:srgbClr val="E8A3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CLASS SCHEDULE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694944"/>
            <a:ext cx="10908792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One room, one teacher, one section, one slot</a:t>
            </a:r>
            <a:endParaRPr lang="en-US" sz="32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1371600"/>
            <a:ext cx="8945209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Build the week block by block: subject, section, teacher, room, day, start and end.</a:t>
            </a:r>
            <a:endParaRPr lang="en-US" sz="1350" dirty="0"/>
          </a:p>
        </p:txBody>
      </p:sp>
      <p:sp>
        <p:nvSpPr>
          <p:cNvPr id="5" name="Shape 3"/>
          <p:cNvSpPr/>
          <p:nvPr/>
        </p:nvSpPr>
        <p:spPr>
          <a:xfrm>
            <a:off x="640080" y="2148840"/>
            <a:ext cx="5349240" cy="2103120"/>
          </a:xfrm>
          <a:prstGeom prst="roundRect">
            <a:avLst>
              <a:gd name="adj" fmla="val 4348"/>
            </a:avLst>
          </a:prstGeom>
          <a:solidFill>
            <a:srgbClr val="F3F6FD"/>
          </a:solidFill>
          <a:ln w="9525">
            <a:solidFill>
              <a:srgbClr val="DCE4F5"/>
            </a:solidFill>
            <a:prstDash val="solid"/>
          </a:ln>
          <a:effectLst>
            <a:outerShdw sx="100000" sy="100000" kx="0" ky="0" algn="bl" rotWithShape="0" blurRad="127000" dist="25400" dir="5400000">
              <a:srgbClr val="1E2761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877824" y="2368296"/>
            <a:ext cx="475488" cy="475488"/>
          </a:xfrm>
          <a:prstGeom prst="ellipse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92124" y="2482596"/>
            <a:ext cx="228600" cy="228600"/>
          </a:xfrm>
          <a:prstGeom prst="rect">
            <a:avLst/>
          </a:prstGeom>
        </p:spPr>
      </p:pic>
      <p:sp>
        <p:nvSpPr>
          <p:cNvPr id="8" name="Text 5"/>
          <p:cNvSpPr txBox="1"/>
          <p:nvPr/>
        </p:nvSpPr>
        <p:spPr>
          <a:xfrm>
            <a:off x="877824" y="2935224"/>
            <a:ext cx="48737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Clashes are refused</a:t>
            </a:r>
            <a:endParaRPr lang="en-US" sz="1400" dirty="0"/>
          </a:p>
        </p:txBody>
      </p:sp>
      <p:sp>
        <p:nvSpPr>
          <p:cNvPr id="9" name="Text 6"/>
          <p:cNvSpPr txBox="1"/>
          <p:nvPr/>
        </p:nvSpPr>
        <p:spPr>
          <a:xfrm>
            <a:off x="877824" y="3218688"/>
            <a:ext cx="487375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Two classes in the same room, the same teacher in two places, or one section double-booked - the app names the conflict and will not save it. Checked again on the server before it is written.</a:t>
            </a:r>
            <a:endParaRPr lang="en-US" sz="1100" dirty="0"/>
          </a:p>
        </p:txBody>
      </p:sp>
      <p:sp>
        <p:nvSpPr>
          <p:cNvPr id="10" name="Shape 7"/>
          <p:cNvSpPr/>
          <p:nvPr/>
        </p:nvSpPr>
        <p:spPr>
          <a:xfrm>
            <a:off x="6199632" y="2148840"/>
            <a:ext cx="5349240" cy="2103120"/>
          </a:xfrm>
          <a:prstGeom prst="roundRect">
            <a:avLst>
              <a:gd name="adj" fmla="val 4348"/>
            </a:avLst>
          </a:prstGeom>
          <a:solidFill>
            <a:srgbClr val="F3F6FD"/>
          </a:solidFill>
          <a:ln w="9525">
            <a:solidFill>
              <a:srgbClr val="DCE4F5"/>
            </a:solidFill>
            <a:prstDash val="solid"/>
          </a:ln>
          <a:effectLst>
            <a:outerShdw sx="100000" sy="100000" kx="0" ky="0" algn="bl" rotWithShape="0" blurRad="127000" dist="25400" dir="5400000">
              <a:srgbClr val="1E2761">
                <a:alpha val="10000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6437376" y="2368296"/>
            <a:ext cx="475488" cy="475488"/>
          </a:xfrm>
          <a:prstGeom prst="ellipse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51676" y="2482596"/>
            <a:ext cx="228600" cy="228600"/>
          </a:xfrm>
          <a:prstGeom prst="rect">
            <a:avLst/>
          </a:prstGeom>
        </p:spPr>
      </p:pic>
      <p:sp>
        <p:nvSpPr>
          <p:cNvPr id="13" name="Text 9"/>
          <p:cNvSpPr txBox="1"/>
          <p:nvPr/>
        </p:nvSpPr>
        <p:spPr>
          <a:xfrm>
            <a:off x="6437376" y="2935224"/>
            <a:ext cx="48737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Times the way people type them</a:t>
            </a:r>
            <a:endParaRPr lang="en-US" sz="1400" dirty="0"/>
          </a:p>
        </p:txBody>
      </p:sp>
      <p:sp>
        <p:nvSpPr>
          <p:cNvPr id="14" name="Text 10"/>
          <p:cNvSpPr txBox="1"/>
          <p:nvPr/>
        </p:nvSpPr>
        <p:spPr>
          <a:xfrm>
            <a:off x="6437376" y="3218688"/>
            <a:ext cx="487375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7:30 AM, 7:30am, 07:30, 0730 - all understood. Nobody should have to learn a time format to build a timetable.</a:t>
            </a:r>
            <a:endParaRPr lang="en-US" sz="1100" dirty="0"/>
          </a:p>
        </p:txBody>
      </p:sp>
      <p:sp>
        <p:nvSpPr>
          <p:cNvPr id="15" name="Shape 11"/>
          <p:cNvSpPr/>
          <p:nvPr/>
        </p:nvSpPr>
        <p:spPr>
          <a:xfrm>
            <a:off x="640080" y="4480560"/>
            <a:ext cx="5349240" cy="2103120"/>
          </a:xfrm>
          <a:prstGeom prst="roundRect">
            <a:avLst>
              <a:gd name="adj" fmla="val 4348"/>
            </a:avLst>
          </a:prstGeom>
          <a:solidFill>
            <a:srgbClr val="F3F6FD"/>
          </a:solidFill>
          <a:ln w="9525">
            <a:solidFill>
              <a:srgbClr val="DCE4F5"/>
            </a:solidFill>
            <a:prstDash val="solid"/>
          </a:ln>
          <a:effectLst>
            <a:outerShdw sx="100000" sy="100000" kx="0" ky="0" algn="bl" rotWithShape="0" blurRad="127000" dist="25400" dir="5400000">
              <a:srgbClr val="1E2761">
                <a:alpha val="10000"/>
              </a:srgbClr>
            </a:outerShdw>
          </a:effectLst>
        </p:spPr>
      </p:sp>
      <p:sp>
        <p:nvSpPr>
          <p:cNvPr id="16" name="Shape 12"/>
          <p:cNvSpPr/>
          <p:nvPr/>
        </p:nvSpPr>
        <p:spPr>
          <a:xfrm>
            <a:off x="877824" y="4700016"/>
            <a:ext cx="475488" cy="475488"/>
          </a:xfrm>
          <a:prstGeom prst="ellipse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pic>
        <p:nvPicPr>
          <p:cNvPr id="17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92124" y="4814316"/>
            <a:ext cx="228600" cy="228600"/>
          </a:xfrm>
          <a:prstGeom prst="rect">
            <a:avLst/>
          </a:prstGeom>
        </p:spPr>
      </p:pic>
      <p:sp>
        <p:nvSpPr>
          <p:cNvPr id="18" name="Text 13"/>
          <p:cNvSpPr txBox="1"/>
          <p:nvPr/>
        </p:nvSpPr>
        <p:spPr>
          <a:xfrm>
            <a:off x="877824" y="5266944"/>
            <a:ext cx="48737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Printed as a grid</a:t>
            </a:r>
            <a:endParaRPr lang="en-US" sz="1400" dirty="0"/>
          </a:p>
        </p:txBody>
      </p:sp>
      <p:sp>
        <p:nvSpPr>
          <p:cNvPr id="19" name="Text 14"/>
          <p:cNvSpPr txBox="1"/>
          <p:nvPr/>
        </p:nvSpPr>
        <p:spPr>
          <a:xfrm>
            <a:off x="877824" y="5550408"/>
            <a:ext cx="487375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week as a wall chart, with the section or the teacher dropped from the cells when it is the same all the way down.</a:t>
            </a:r>
            <a:endParaRPr lang="en-US" sz="1100" dirty="0"/>
          </a:p>
        </p:txBody>
      </p:sp>
      <p:sp>
        <p:nvSpPr>
          <p:cNvPr id="20" name="Shape 15"/>
          <p:cNvSpPr/>
          <p:nvPr/>
        </p:nvSpPr>
        <p:spPr>
          <a:xfrm>
            <a:off x="6199632" y="4480560"/>
            <a:ext cx="5349240" cy="2103120"/>
          </a:xfrm>
          <a:prstGeom prst="roundRect">
            <a:avLst>
              <a:gd name="adj" fmla="val 4348"/>
            </a:avLst>
          </a:prstGeom>
          <a:solidFill>
            <a:srgbClr val="F3F6FD"/>
          </a:solidFill>
          <a:ln w="9525">
            <a:solidFill>
              <a:srgbClr val="DCE4F5"/>
            </a:solidFill>
            <a:prstDash val="solid"/>
          </a:ln>
          <a:effectLst>
            <a:outerShdw sx="100000" sy="100000" kx="0" ky="0" algn="bl" rotWithShape="0" blurRad="127000" dist="25400" dir="5400000">
              <a:srgbClr val="1E2761">
                <a:alpha val="10000"/>
              </a:srgbClr>
            </a:outerShdw>
          </a:effectLst>
        </p:spPr>
      </p:sp>
      <p:sp>
        <p:nvSpPr>
          <p:cNvPr id="21" name="Shape 16"/>
          <p:cNvSpPr/>
          <p:nvPr/>
        </p:nvSpPr>
        <p:spPr>
          <a:xfrm>
            <a:off x="6437376" y="4700016"/>
            <a:ext cx="475488" cy="475488"/>
          </a:xfrm>
          <a:prstGeom prst="ellipse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pic>
        <p:nvPicPr>
          <p:cNvPr id="22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551676" y="4814316"/>
            <a:ext cx="228600" cy="228600"/>
          </a:xfrm>
          <a:prstGeom prst="rect">
            <a:avLst/>
          </a:prstGeom>
        </p:spPr>
      </p:pic>
      <p:sp>
        <p:nvSpPr>
          <p:cNvPr id="23" name="Text 17"/>
          <p:cNvSpPr txBox="1"/>
          <p:nvPr/>
        </p:nvSpPr>
        <p:spPr>
          <a:xfrm>
            <a:off x="6437376" y="5266944"/>
            <a:ext cx="48737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Everyone sees their own</a:t>
            </a:r>
            <a:endParaRPr lang="en-US" sz="1400" dirty="0"/>
          </a:p>
        </p:txBody>
      </p:sp>
      <p:sp>
        <p:nvSpPr>
          <p:cNvPr id="24" name="Text 18"/>
          <p:cNvSpPr txBox="1"/>
          <p:nvPr/>
        </p:nvSpPr>
        <p:spPr>
          <a:xfrm>
            <a:off x="6437376" y="5550408"/>
            <a:ext cx="487375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teacher gets their week, the student gets theirs, the parent gets their child's - all from the same blocks.</a:t>
            </a:r>
            <a:endParaRPr lang="en-US" sz="11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38912"/>
            <a:ext cx="1090879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40" kern="0" dirty="0">
                <a:solidFill>
                  <a:srgbClr val="E8A3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REPORTS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694944"/>
            <a:ext cx="10908792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four numbers a school is actually asked for</a:t>
            </a:r>
            <a:endParaRPr lang="en-US" sz="28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1371600"/>
            <a:ext cx="8945209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Choose a period - this school year, this month, the last 30 days - and read it on screen, export it to Excel, or print it.</a:t>
            </a:r>
            <a:endParaRPr lang="en-US" sz="1350" dirty="0"/>
          </a:p>
        </p:txBody>
      </p:sp>
      <p:sp>
        <p:nvSpPr>
          <p:cNvPr id="5" name="Shape 3"/>
          <p:cNvSpPr/>
          <p:nvPr/>
        </p:nvSpPr>
        <p:spPr>
          <a:xfrm>
            <a:off x="640080" y="2240280"/>
            <a:ext cx="2569464" cy="2331720"/>
          </a:xfrm>
          <a:prstGeom prst="roundRect">
            <a:avLst>
              <a:gd name="adj" fmla="val 3922"/>
            </a:avLst>
          </a:prstGeom>
          <a:solidFill>
            <a:srgbClr val="F3F6FD"/>
          </a:solidFill>
          <a:ln w="9525">
            <a:solidFill>
              <a:srgbClr val="DCE4F5"/>
            </a:solidFill>
            <a:prstDash val="solid"/>
          </a:ln>
          <a:effectLst>
            <a:outerShdw sx="100000" sy="100000" kx="0" ky="0" algn="bl" rotWithShape="0" blurRad="127000" dist="25400" dir="5400000">
              <a:srgbClr val="1E2761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877824" y="2459736"/>
            <a:ext cx="475488" cy="475488"/>
          </a:xfrm>
          <a:prstGeom prst="ellipse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92124" y="2574036"/>
            <a:ext cx="228600" cy="228600"/>
          </a:xfrm>
          <a:prstGeom prst="rect">
            <a:avLst/>
          </a:prstGeom>
        </p:spPr>
      </p:pic>
      <p:sp>
        <p:nvSpPr>
          <p:cNvPr id="8" name="Text 5"/>
          <p:cNvSpPr txBox="1"/>
          <p:nvPr/>
        </p:nvSpPr>
        <p:spPr>
          <a:xfrm>
            <a:off x="877824" y="3026664"/>
            <a:ext cx="209397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Enrolment by division</a:t>
            </a:r>
            <a:endParaRPr lang="en-US" sz="1400" dirty="0"/>
          </a:p>
        </p:txBody>
      </p:sp>
      <p:sp>
        <p:nvSpPr>
          <p:cNvPr id="9" name="Text 6"/>
          <p:cNvSpPr txBox="1"/>
          <p:nvPr/>
        </p:nvSpPr>
        <p:spPr>
          <a:xfrm>
            <a:off x="877824" y="3310128"/>
            <a:ext cx="2093976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Head count by division and grade level, every status shown - not just the enrolled ones.</a:t>
            </a:r>
            <a:endParaRPr lang="en-US" sz="1100" dirty="0"/>
          </a:p>
        </p:txBody>
      </p:sp>
      <p:sp>
        <p:nvSpPr>
          <p:cNvPr id="10" name="Shape 7"/>
          <p:cNvSpPr/>
          <p:nvPr/>
        </p:nvSpPr>
        <p:spPr>
          <a:xfrm>
            <a:off x="3419856" y="2240280"/>
            <a:ext cx="2569464" cy="2331720"/>
          </a:xfrm>
          <a:prstGeom prst="roundRect">
            <a:avLst>
              <a:gd name="adj" fmla="val 3922"/>
            </a:avLst>
          </a:prstGeom>
          <a:solidFill>
            <a:srgbClr val="F3F6FD"/>
          </a:solidFill>
          <a:ln w="9525">
            <a:solidFill>
              <a:srgbClr val="DCE4F5"/>
            </a:solidFill>
            <a:prstDash val="solid"/>
          </a:ln>
          <a:effectLst>
            <a:outerShdw sx="100000" sy="100000" kx="0" ky="0" algn="bl" rotWithShape="0" blurRad="127000" dist="25400" dir="5400000">
              <a:srgbClr val="1E2761">
                <a:alpha val="10000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3657600" y="2459736"/>
            <a:ext cx="475488" cy="475488"/>
          </a:xfrm>
          <a:prstGeom prst="ellipse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771900" y="2574036"/>
            <a:ext cx="228600" cy="228600"/>
          </a:xfrm>
          <a:prstGeom prst="rect">
            <a:avLst/>
          </a:prstGeom>
        </p:spPr>
      </p:pic>
      <p:sp>
        <p:nvSpPr>
          <p:cNvPr id="13" name="Text 9"/>
          <p:cNvSpPr txBox="1"/>
          <p:nvPr/>
        </p:nvSpPr>
        <p:spPr>
          <a:xfrm>
            <a:off x="3657600" y="3026664"/>
            <a:ext cx="209397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Collections and receivables</a:t>
            </a:r>
            <a:endParaRPr lang="en-US" sz="1400" dirty="0"/>
          </a:p>
        </p:txBody>
      </p:sp>
      <p:sp>
        <p:nvSpPr>
          <p:cNvPr id="14" name="Text 10"/>
          <p:cNvSpPr txBox="1"/>
          <p:nvPr/>
        </p:nvSpPr>
        <p:spPr>
          <a:xfrm>
            <a:off x="3657600" y="3310128"/>
            <a:ext cx="2093976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was charged, what came in, and what is still owed.</a:t>
            </a:r>
            <a:endParaRPr lang="en-US" sz="1100" dirty="0"/>
          </a:p>
        </p:txBody>
      </p:sp>
      <p:sp>
        <p:nvSpPr>
          <p:cNvPr id="15" name="Shape 11"/>
          <p:cNvSpPr/>
          <p:nvPr/>
        </p:nvSpPr>
        <p:spPr>
          <a:xfrm>
            <a:off x="6199632" y="2240280"/>
            <a:ext cx="2569464" cy="2331720"/>
          </a:xfrm>
          <a:prstGeom prst="roundRect">
            <a:avLst>
              <a:gd name="adj" fmla="val 3922"/>
            </a:avLst>
          </a:prstGeom>
          <a:solidFill>
            <a:srgbClr val="F3F6FD"/>
          </a:solidFill>
          <a:ln w="9525">
            <a:solidFill>
              <a:srgbClr val="DCE4F5"/>
            </a:solidFill>
            <a:prstDash val="solid"/>
          </a:ln>
          <a:effectLst>
            <a:outerShdw sx="100000" sy="100000" kx="0" ky="0" algn="bl" rotWithShape="0" blurRad="127000" dist="25400" dir="5400000">
              <a:srgbClr val="1E2761">
                <a:alpha val="10000"/>
              </a:srgbClr>
            </a:outerShdw>
          </a:effectLst>
        </p:spPr>
      </p:sp>
      <p:sp>
        <p:nvSpPr>
          <p:cNvPr id="16" name="Shape 12"/>
          <p:cNvSpPr/>
          <p:nvPr/>
        </p:nvSpPr>
        <p:spPr>
          <a:xfrm>
            <a:off x="6437376" y="2459736"/>
            <a:ext cx="475488" cy="475488"/>
          </a:xfrm>
          <a:prstGeom prst="ellipse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pic>
        <p:nvPicPr>
          <p:cNvPr id="17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51676" y="2574036"/>
            <a:ext cx="228600" cy="228600"/>
          </a:xfrm>
          <a:prstGeom prst="rect">
            <a:avLst/>
          </a:prstGeom>
        </p:spPr>
      </p:pic>
      <p:sp>
        <p:nvSpPr>
          <p:cNvPr id="18" name="Text 13"/>
          <p:cNvSpPr txBox="1"/>
          <p:nvPr/>
        </p:nvSpPr>
        <p:spPr>
          <a:xfrm>
            <a:off x="6437376" y="3026664"/>
            <a:ext cx="209397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Attendance rate by section</a:t>
            </a:r>
            <a:endParaRPr lang="en-US" sz="1400" dirty="0"/>
          </a:p>
        </p:txBody>
      </p:sp>
      <p:sp>
        <p:nvSpPr>
          <p:cNvPr id="19" name="Text 14"/>
          <p:cNvSpPr txBox="1"/>
          <p:nvPr/>
        </p:nvSpPr>
        <p:spPr>
          <a:xfrm>
            <a:off x="6437376" y="3310128"/>
            <a:ext cx="2093976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Present, late and absent by section, with the rate. Excused days sit outside the rate.</a:t>
            </a:r>
            <a:endParaRPr lang="en-US" sz="1100" dirty="0"/>
          </a:p>
        </p:txBody>
      </p:sp>
      <p:sp>
        <p:nvSpPr>
          <p:cNvPr id="20" name="Shape 15"/>
          <p:cNvSpPr/>
          <p:nvPr/>
        </p:nvSpPr>
        <p:spPr>
          <a:xfrm>
            <a:off x="8979408" y="2240280"/>
            <a:ext cx="2569464" cy="2331720"/>
          </a:xfrm>
          <a:prstGeom prst="roundRect">
            <a:avLst>
              <a:gd name="adj" fmla="val 3922"/>
            </a:avLst>
          </a:prstGeom>
          <a:solidFill>
            <a:srgbClr val="F3F6FD"/>
          </a:solidFill>
          <a:ln w="9525">
            <a:solidFill>
              <a:srgbClr val="DCE4F5"/>
            </a:solidFill>
            <a:prstDash val="solid"/>
          </a:ln>
          <a:effectLst>
            <a:outerShdw sx="100000" sy="100000" kx="0" ky="0" algn="bl" rotWithShape="0" blurRad="127000" dist="25400" dir="5400000">
              <a:srgbClr val="1E2761">
                <a:alpha val="10000"/>
              </a:srgbClr>
            </a:outerShdw>
          </a:effectLst>
        </p:spPr>
      </p:sp>
      <p:sp>
        <p:nvSpPr>
          <p:cNvPr id="21" name="Shape 16"/>
          <p:cNvSpPr/>
          <p:nvPr/>
        </p:nvSpPr>
        <p:spPr>
          <a:xfrm>
            <a:off x="9217152" y="2459736"/>
            <a:ext cx="475488" cy="475488"/>
          </a:xfrm>
          <a:prstGeom prst="ellipse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pic>
        <p:nvPicPr>
          <p:cNvPr id="22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331452" y="2574036"/>
            <a:ext cx="228600" cy="228600"/>
          </a:xfrm>
          <a:prstGeom prst="rect">
            <a:avLst/>
          </a:prstGeom>
        </p:spPr>
      </p:pic>
      <p:sp>
        <p:nvSpPr>
          <p:cNvPr id="23" name="Text 17"/>
          <p:cNvSpPr txBox="1"/>
          <p:nvPr/>
        </p:nvSpPr>
        <p:spPr>
          <a:xfrm>
            <a:off x="9217152" y="3026664"/>
            <a:ext cx="209397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Grade distribution</a:t>
            </a:r>
            <a:endParaRPr lang="en-US" sz="1400" dirty="0"/>
          </a:p>
        </p:txBody>
      </p:sp>
      <p:sp>
        <p:nvSpPr>
          <p:cNvPr id="24" name="Text 18"/>
          <p:cNvSpPr txBox="1"/>
          <p:nvPr/>
        </p:nvSpPr>
        <p:spPr>
          <a:xfrm>
            <a:off x="9217152" y="3310128"/>
            <a:ext cx="2093976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Marks banded against the DepEd descriptors, per subject.</a:t>
            </a:r>
            <a:endParaRPr lang="en-US" sz="1100" dirty="0"/>
          </a:p>
        </p:txBody>
      </p:sp>
      <p:sp>
        <p:nvSpPr>
          <p:cNvPr id="25" name="Shape 19"/>
          <p:cNvSpPr/>
          <p:nvPr/>
        </p:nvSpPr>
        <p:spPr>
          <a:xfrm>
            <a:off x="640080" y="5065776"/>
            <a:ext cx="384048" cy="384048"/>
          </a:xfrm>
          <a:prstGeom prst="ellipse">
            <a:avLst/>
          </a:prstGeom>
          <a:solidFill>
            <a:srgbClr val="CADCFC"/>
          </a:solidFill>
          <a:ln w="12700">
            <a:solidFill>
              <a:srgbClr val="CADCFC"/>
            </a:solidFill>
            <a:prstDash val="solid"/>
          </a:ln>
        </p:spPr>
      </p:sp>
      <p:pic>
        <p:nvPicPr>
          <p:cNvPr id="26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45236" y="5170932"/>
            <a:ext cx="173736" cy="173736"/>
          </a:xfrm>
          <a:prstGeom prst="rect">
            <a:avLst/>
          </a:prstGeom>
        </p:spPr>
      </p:pic>
      <p:sp>
        <p:nvSpPr>
          <p:cNvPr id="27" name="Text 20"/>
          <p:cNvSpPr txBox="1"/>
          <p:nvPr/>
        </p:nvSpPr>
        <p:spPr>
          <a:xfrm>
            <a:off x="1152144" y="5010912"/>
            <a:ext cx="47137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Export to Excel</a:t>
            </a:r>
            <a:endParaRPr lang="en-US" sz="1250" dirty="0"/>
          </a:p>
        </p:txBody>
      </p:sp>
      <p:sp>
        <p:nvSpPr>
          <p:cNvPr id="28" name="Text 21"/>
          <p:cNvSpPr txBox="1"/>
          <p:nvPr/>
        </p:nvSpPr>
        <p:spPr>
          <a:xfrm>
            <a:off x="1152144" y="5244084"/>
            <a:ext cx="471373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50"/>
              </a:lnSpc>
              <a:buNone/>
            </a:pPr>
            <a:r>
              <a:rPr lang="en-US" sz="100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same table, as a spreadsheet you can rework</a:t>
            </a:r>
            <a:endParaRPr lang="en-US" sz="1000" dirty="0"/>
          </a:p>
        </p:txBody>
      </p:sp>
      <p:sp>
        <p:nvSpPr>
          <p:cNvPr id="29" name="Shape 22"/>
          <p:cNvSpPr/>
          <p:nvPr/>
        </p:nvSpPr>
        <p:spPr>
          <a:xfrm>
            <a:off x="6323076" y="5065776"/>
            <a:ext cx="384048" cy="384048"/>
          </a:xfrm>
          <a:prstGeom prst="ellipse">
            <a:avLst/>
          </a:prstGeom>
          <a:solidFill>
            <a:srgbClr val="CADCFC"/>
          </a:solidFill>
          <a:ln w="12700">
            <a:solidFill>
              <a:srgbClr val="CADCFC"/>
            </a:solidFill>
            <a:prstDash val="solid"/>
          </a:ln>
        </p:spPr>
      </p:sp>
      <p:pic>
        <p:nvPicPr>
          <p:cNvPr id="30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428232" y="5170932"/>
            <a:ext cx="173736" cy="173736"/>
          </a:xfrm>
          <a:prstGeom prst="rect">
            <a:avLst/>
          </a:prstGeom>
        </p:spPr>
      </p:pic>
      <p:sp>
        <p:nvSpPr>
          <p:cNvPr id="31" name="Text 23"/>
          <p:cNvSpPr txBox="1"/>
          <p:nvPr/>
        </p:nvSpPr>
        <p:spPr>
          <a:xfrm>
            <a:off x="6835140" y="5010912"/>
            <a:ext cx="47137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Print</a:t>
            </a:r>
            <a:endParaRPr lang="en-US" sz="1250" dirty="0"/>
          </a:p>
        </p:txBody>
      </p:sp>
      <p:sp>
        <p:nvSpPr>
          <p:cNvPr id="32" name="Text 24"/>
          <p:cNvSpPr txBox="1"/>
          <p:nvPr/>
        </p:nvSpPr>
        <p:spPr>
          <a:xfrm>
            <a:off x="6835140" y="5244084"/>
            <a:ext cx="471373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50"/>
              </a:lnSpc>
              <a:buNone/>
            </a:pPr>
            <a:r>
              <a:rPr lang="en-US" sz="100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PDF with the school's heading and the totals row shaded</a:t>
            </a:r>
            <a:endParaRPr lang="en-US" sz="10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141B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38912"/>
            <a:ext cx="1090879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40" kern="0" dirty="0">
                <a:solidFill>
                  <a:srgbClr val="E8A3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WHEN SOMETHING GOES WRONG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694944"/>
            <a:ext cx="10908792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One button, and the right people know</a:t>
            </a:r>
            <a:endParaRPr lang="en-US" sz="32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1371600"/>
            <a:ext cx="8945209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Raised from a student's phone, seen by the staff who can act, and told to the family the same minute.</a:t>
            </a:r>
            <a:endParaRPr lang="en-US" sz="1350" dirty="0"/>
          </a:p>
        </p:txBody>
      </p:sp>
      <p:sp>
        <p:nvSpPr>
          <p:cNvPr id="5" name="Shape 3"/>
          <p:cNvSpPr/>
          <p:nvPr/>
        </p:nvSpPr>
        <p:spPr>
          <a:xfrm>
            <a:off x="640080" y="2194560"/>
            <a:ext cx="2569464" cy="2743200"/>
          </a:xfrm>
          <a:prstGeom prst="roundRect">
            <a:avLst>
              <a:gd name="adj" fmla="val 3559"/>
            </a:avLst>
          </a:prstGeom>
          <a:solidFill>
            <a:srgbClr val="1E2761"/>
          </a:solidFill>
          <a:ln w="9525">
            <a:solidFill>
              <a:srgbClr val="3A4783"/>
            </a:solidFill>
            <a:prstDash val="solid"/>
          </a:ln>
          <a:effectLst>
            <a:outerShdw sx="100000" sy="100000" kx="0" ky="0" algn="bl" rotWithShape="0" blurRad="127000" dist="25400" dir="5400000">
              <a:srgbClr val="1E2761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877824" y="2414016"/>
            <a:ext cx="475488" cy="475488"/>
          </a:xfrm>
          <a:prstGeom prst="ellipse">
            <a:avLst/>
          </a:prstGeom>
          <a:solidFill>
            <a:srgbClr val="E8A33D"/>
          </a:solidFill>
          <a:ln w="12700">
            <a:solidFill>
              <a:srgbClr val="E8A33D"/>
            </a:solidFill>
            <a:prstDash val="solid"/>
          </a:ln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92124" y="2528316"/>
            <a:ext cx="228600" cy="228600"/>
          </a:xfrm>
          <a:prstGeom prst="rect">
            <a:avLst/>
          </a:prstGeom>
        </p:spPr>
      </p:pic>
      <p:sp>
        <p:nvSpPr>
          <p:cNvPr id="8" name="Text 5"/>
          <p:cNvSpPr txBox="1"/>
          <p:nvPr/>
        </p:nvSpPr>
        <p:spPr>
          <a:xfrm>
            <a:off x="877824" y="2980944"/>
            <a:ext cx="209397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Raise it</a:t>
            </a:r>
            <a:endParaRPr lang="en-US" sz="1400" dirty="0"/>
          </a:p>
        </p:txBody>
      </p:sp>
      <p:sp>
        <p:nvSpPr>
          <p:cNvPr id="9" name="Text 6"/>
          <p:cNvSpPr txBox="1"/>
          <p:nvPr/>
        </p:nvSpPr>
        <p:spPr>
          <a:xfrm>
            <a:off x="877824" y="3264408"/>
            <a:ext cx="2093976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9EAB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student presses one button and says what happened. Their adviser and their parents are notified.</a:t>
            </a:r>
            <a:endParaRPr lang="en-US" sz="1100" dirty="0"/>
          </a:p>
        </p:txBody>
      </p:sp>
      <p:sp>
        <p:nvSpPr>
          <p:cNvPr id="10" name="Shape 7"/>
          <p:cNvSpPr/>
          <p:nvPr/>
        </p:nvSpPr>
        <p:spPr>
          <a:xfrm>
            <a:off x="3419856" y="2194560"/>
            <a:ext cx="2569464" cy="2743200"/>
          </a:xfrm>
          <a:prstGeom prst="roundRect">
            <a:avLst>
              <a:gd name="adj" fmla="val 3559"/>
            </a:avLst>
          </a:prstGeom>
          <a:solidFill>
            <a:srgbClr val="1E2761"/>
          </a:solidFill>
          <a:ln w="9525">
            <a:solidFill>
              <a:srgbClr val="3A4783"/>
            </a:solidFill>
            <a:prstDash val="solid"/>
          </a:ln>
          <a:effectLst>
            <a:outerShdw sx="100000" sy="100000" kx="0" ky="0" algn="bl" rotWithShape="0" blurRad="127000" dist="25400" dir="5400000">
              <a:srgbClr val="1E2761">
                <a:alpha val="10000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3657600" y="2414016"/>
            <a:ext cx="475488" cy="475488"/>
          </a:xfrm>
          <a:prstGeom prst="ellipse">
            <a:avLst/>
          </a:prstGeom>
          <a:solidFill>
            <a:srgbClr val="E8A33D"/>
          </a:solidFill>
          <a:ln w="12700">
            <a:solidFill>
              <a:srgbClr val="E8A33D"/>
            </a:solidFill>
            <a:prstDash val="solid"/>
          </a:ln>
        </p:spPr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771900" y="2528316"/>
            <a:ext cx="228600" cy="228600"/>
          </a:xfrm>
          <a:prstGeom prst="rect">
            <a:avLst/>
          </a:prstGeom>
        </p:spPr>
      </p:pic>
      <p:sp>
        <p:nvSpPr>
          <p:cNvPr id="13" name="Text 9"/>
          <p:cNvSpPr txBox="1"/>
          <p:nvPr/>
        </p:nvSpPr>
        <p:spPr>
          <a:xfrm>
            <a:off x="3657600" y="2980944"/>
            <a:ext cx="209397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See it</a:t>
            </a:r>
            <a:endParaRPr lang="en-US" sz="1400" dirty="0"/>
          </a:p>
        </p:txBody>
      </p:sp>
      <p:sp>
        <p:nvSpPr>
          <p:cNvPr id="14" name="Text 10"/>
          <p:cNvSpPr txBox="1"/>
          <p:nvPr/>
        </p:nvSpPr>
        <p:spPr>
          <a:xfrm>
            <a:off x="3657600" y="3264408"/>
            <a:ext cx="2093976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9EAB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Faculty, Guidance, Principal, Admin and the Director see live alerts, and any of them can resolve one.</a:t>
            </a:r>
            <a:endParaRPr lang="en-US" sz="1100" dirty="0"/>
          </a:p>
        </p:txBody>
      </p:sp>
      <p:sp>
        <p:nvSpPr>
          <p:cNvPr id="15" name="Shape 11"/>
          <p:cNvSpPr/>
          <p:nvPr/>
        </p:nvSpPr>
        <p:spPr>
          <a:xfrm>
            <a:off x="6199632" y="2194560"/>
            <a:ext cx="2569464" cy="2743200"/>
          </a:xfrm>
          <a:prstGeom prst="roundRect">
            <a:avLst>
              <a:gd name="adj" fmla="val 3559"/>
            </a:avLst>
          </a:prstGeom>
          <a:solidFill>
            <a:srgbClr val="1E2761"/>
          </a:solidFill>
          <a:ln w="9525">
            <a:solidFill>
              <a:srgbClr val="3A4783"/>
            </a:solidFill>
            <a:prstDash val="solid"/>
          </a:ln>
          <a:effectLst>
            <a:outerShdw sx="100000" sy="100000" kx="0" ky="0" algn="bl" rotWithShape="0" blurRad="127000" dist="25400" dir="5400000">
              <a:srgbClr val="1E2761">
                <a:alpha val="10000"/>
              </a:srgbClr>
            </a:outerShdw>
          </a:effectLst>
        </p:spPr>
      </p:sp>
      <p:sp>
        <p:nvSpPr>
          <p:cNvPr id="16" name="Shape 12"/>
          <p:cNvSpPr/>
          <p:nvPr/>
        </p:nvSpPr>
        <p:spPr>
          <a:xfrm>
            <a:off x="6437376" y="2414016"/>
            <a:ext cx="475488" cy="475488"/>
          </a:xfrm>
          <a:prstGeom prst="ellipse">
            <a:avLst/>
          </a:prstGeom>
          <a:solidFill>
            <a:srgbClr val="E8A33D"/>
          </a:solidFill>
          <a:ln w="12700">
            <a:solidFill>
              <a:srgbClr val="E8A33D"/>
            </a:solidFill>
            <a:prstDash val="solid"/>
          </a:ln>
        </p:spPr>
      </p:sp>
      <p:pic>
        <p:nvPicPr>
          <p:cNvPr id="17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51676" y="2528316"/>
            <a:ext cx="228600" cy="228600"/>
          </a:xfrm>
          <a:prstGeom prst="rect">
            <a:avLst/>
          </a:prstGeom>
        </p:spPr>
      </p:pic>
      <p:sp>
        <p:nvSpPr>
          <p:cNvPr id="18" name="Text 13"/>
          <p:cNvSpPr txBox="1"/>
          <p:nvPr/>
        </p:nvSpPr>
        <p:spPr>
          <a:xfrm>
            <a:off x="6437376" y="2980944"/>
            <a:ext cx="209397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Tell the family</a:t>
            </a:r>
            <a:endParaRPr lang="en-US" sz="1400" dirty="0"/>
          </a:p>
        </p:txBody>
      </p:sp>
      <p:sp>
        <p:nvSpPr>
          <p:cNvPr id="19" name="Text 14"/>
          <p:cNvSpPr txBox="1"/>
          <p:nvPr/>
        </p:nvSpPr>
        <p:spPr>
          <a:xfrm>
            <a:off x="6437376" y="3264408"/>
            <a:ext cx="2093976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9EAB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parent gets a push, and a banner on their dashboard in case the push never arrived.</a:t>
            </a:r>
            <a:endParaRPr lang="en-US" sz="1100" dirty="0"/>
          </a:p>
        </p:txBody>
      </p:sp>
      <p:sp>
        <p:nvSpPr>
          <p:cNvPr id="20" name="Shape 15"/>
          <p:cNvSpPr/>
          <p:nvPr/>
        </p:nvSpPr>
        <p:spPr>
          <a:xfrm>
            <a:off x="8979408" y="2194560"/>
            <a:ext cx="2569464" cy="2743200"/>
          </a:xfrm>
          <a:prstGeom prst="roundRect">
            <a:avLst>
              <a:gd name="adj" fmla="val 3559"/>
            </a:avLst>
          </a:prstGeom>
          <a:solidFill>
            <a:srgbClr val="1E2761"/>
          </a:solidFill>
          <a:ln w="9525">
            <a:solidFill>
              <a:srgbClr val="3A4783"/>
            </a:solidFill>
            <a:prstDash val="solid"/>
          </a:ln>
          <a:effectLst>
            <a:outerShdw sx="100000" sy="100000" kx="0" ky="0" algn="bl" rotWithShape="0" blurRad="127000" dist="25400" dir="5400000">
              <a:srgbClr val="1E2761">
                <a:alpha val="10000"/>
              </a:srgbClr>
            </a:outerShdw>
          </a:effectLst>
        </p:spPr>
      </p:sp>
      <p:sp>
        <p:nvSpPr>
          <p:cNvPr id="21" name="Shape 16"/>
          <p:cNvSpPr/>
          <p:nvPr/>
        </p:nvSpPr>
        <p:spPr>
          <a:xfrm>
            <a:off x="9217152" y="2414016"/>
            <a:ext cx="475488" cy="475488"/>
          </a:xfrm>
          <a:prstGeom prst="ellipse">
            <a:avLst/>
          </a:prstGeom>
          <a:solidFill>
            <a:srgbClr val="E8A33D"/>
          </a:solidFill>
          <a:ln w="12700">
            <a:solidFill>
              <a:srgbClr val="E8A33D"/>
            </a:solidFill>
            <a:prstDash val="solid"/>
          </a:ln>
        </p:spPr>
      </p:sp>
      <p:pic>
        <p:nvPicPr>
          <p:cNvPr id="22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331452" y="2528316"/>
            <a:ext cx="228600" cy="228600"/>
          </a:xfrm>
          <a:prstGeom prst="rect">
            <a:avLst/>
          </a:prstGeom>
        </p:spPr>
      </p:pic>
      <p:sp>
        <p:nvSpPr>
          <p:cNvPr id="23" name="Text 17"/>
          <p:cNvSpPr txBox="1"/>
          <p:nvPr/>
        </p:nvSpPr>
        <p:spPr>
          <a:xfrm>
            <a:off x="9217152" y="2980944"/>
            <a:ext cx="209397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Dial out</a:t>
            </a:r>
            <a:endParaRPr lang="en-US" sz="1400" dirty="0"/>
          </a:p>
        </p:txBody>
      </p:sp>
      <p:sp>
        <p:nvSpPr>
          <p:cNvPr id="24" name="Text 18"/>
          <p:cNvSpPr txBox="1"/>
          <p:nvPr/>
        </p:nvSpPr>
        <p:spPr>
          <a:xfrm>
            <a:off x="9217152" y="3264408"/>
            <a:ext cx="2093976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9EAB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school's published numbers - clinic, guard, barangay, hospital - one tap from any portal.</a:t>
            </a:r>
            <a:endParaRPr lang="en-US" sz="1100" dirty="0"/>
          </a:p>
        </p:txBody>
      </p:sp>
      <p:sp>
        <p:nvSpPr>
          <p:cNvPr id="25" name="Text 19"/>
          <p:cNvSpPr txBox="1"/>
          <p:nvPr/>
        </p:nvSpPr>
        <p:spPr>
          <a:xfrm>
            <a:off x="640080" y="5349240"/>
            <a:ext cx="1090879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E8A3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Every alert is logged with who raised it, when, and who resolved it.</a:t>
            </a:r>
            <a:endParaRPr lang="en-US" sz="16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38912"/>
            <a:ext cx="1090879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40" kern="0" dirty="0">
                <a:solidFill>
                  <a:srgbClr val="E8A3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MOVING IN FROM WHAT YOU HAVE NOW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694944"/>
            <a:ext cx="10908792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Excel in, Excel out - on five different lists</a:t>
            </a:r>
            <a:endParaRPr lang="en-US" sz="28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1371600"/>
            <a:ext cx="8945209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school changing systems has years of data in spreadsheets. It does not get retyped.</a:t>
            </a:r>
            <a:endParaRPr lang="en-US" sz="1350" dirty="0"/>
          </a:p>
        </p:txBody>
      </p:sp>
      <p:sp>
        <p:nvSpPr>
          <p:cNvPr id="5" name="Shape 3"/>
          <p:cNvSpPr/>
          <p:nvPr/>
        </p:nvSpPr>
        <p:spPr>
          <a:xfrm>
            <a:off x="640080" y="2231136"/>
            <a:ext cx="384048" cy="384048"/>
          </a:xfrm>
          <a:prstGeom prst="ellipse">
            <a:avLst/>
          </a:prstGeom>
          <a:solidFill>
            <a:srgbClr val="CADCFC"/>
          </a:solidFill>
          <a:ln w="12700">
            <a:solidFill>
              <a:srgbClr val="CADCFC"/>
            </a:solidFill>
            <a:prstDash val="solid"/>
          </a:ln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45236" y="2336292"/>
            <a:ext cx="173736" cy="173736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1152144" y="2176272"/>
            <a:ext cx="29108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Students</a:t>
            </a:r>
            <a:endParaRPr lang="en-US" sz="1250" dirty="0"/>
          </a:p>
        </p:txBody>
      </p:sp>
      <p:sp>
        <p:nvSpPr>
          <p:cNvPr id="8" name="Text 5"/>
          <p:cNvSpPr txBox="1"/>
          <p:nvPr/>
        </p:nvSpPr>
        <p:spPr>
          <a:xfrm>
            <a:off x="1152144" y="2409444"/>
            <a:ext cx="2910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50"/>
              </a:lnSpc>
              <a:buNone/>
            </a:pPr>
            <a:r>
              <a:rPr lang="en-US" sz="100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whole roster, with divisions, sections and guardians</a:t>
            </a:r>
            <a:endParaRPr lang="en-US" sz="1000" dirty="0"/>
          </a:p>
        </p:txBody>
      </p:sp>
      <p:sp>
        <p:nvSpPr>
          <p:cNvPr id="9" name="Shape 6"/>
          <p:cNvSpPr/>
          <p:nvPr/>
        </p:nvSpPr>
        <p:spPr>
          <a:xfrm>
            <a:off x="640080" y="3465576"/>
            <a:ext cx="384048" cy="384048"/>
          </a:xfrm>
          <a:prstGeom prst="ellipse">
            <a:avLst/>
          </a:prstGeom>
          <a:solidFill>
            <a:srgbClr val="CADCFC"/>
          </a:solidFill>
          <a:ln w="12700">
            <a:solidFill>
              <a:srgbClr val="CADCFC"/>
            </a:solidFill>
            <a:prstDash val="solid"/>
          </a:ln>
        </p:spPr>
      </p:sp>
      <p:pic>
        <p:nvPicPr>
          <p:cNvPr id="10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5236" y="3570732"/>
            <a:ext cx="173736" cy="173736"/>
          </a:xfrm>
          <a:prstGeom prst="rect">
            <a:avLst/>
          </a:prstGeom>
        </p:spPr>
      </p:pic>
      <p:sp>
        <p:nvSpPr>
          <p:cNvPr id="11" name="Text 7"/>
          <p:cNvSpPr txBox="1"/>
          <p:nvPr/>
        </p:nvSpPr>
        <p:spPr>
          <a:xfrm>
            <a:off x="1152144" y="3410712"/>
            <a:ext cx="29108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Employees</a:t>
            </a:r>
            <a:endParaRPr lang="en-US" sz="1250" dirty="0"/>
          </a:p>
        </p:txBody>
      </p:sp>
      <p:sp>
        <p:nvSpPr>
          <p:cNvPr id="12" name="Text 8"/>
          <p:cNvSpPr txBox="1"/>
          <p:nvPr/>
        </p:nvSpPr>
        <p:spPr>
          <a:xfrm>
            <a:off x="1152144" y="3643884"/>
            <a:ext cx="2910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50"/>
              </a:lnSpc>
              <a:buNone/>
            </a:pPr>
            <a:r>
              <a:rPr lang="en-US" sz="100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Staff with department, position and division scope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4383024" y="2231136"/>
            <a:ext cx="384048" cy="384048"/>
          </a:xfrm>
          <a:prstGeom prst="ellipse">
            <a:avLst/>
          </a:prstGeom>
          <a:solidFill>
            <a:srgbClr val="CADCFC"/>
          </a:solidFill>
          <a:ln w="12700">
            <a:solidFill>
              <a:srgbClr val="CADCFC"/>
            </a:solidFill>
            <a:prstDash val="solid"/>
          </a:ln>
        </p:spPr>
      </p:sp>
      <p:pic>
        <p:nvPicPr>
          <p:cNvPr id="14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488180" y="2336292"/>
            <a:ext cx="173736" cy="173736"/>
          </a:xfrm>
          <a:prstGeom prst="rect">
            <a:avLst/>
          </a:prstGeom>
        </p:spPr>
      </p:pic>
      <p:sp>
        <p:nvSpPr>
          <p:cNvPr id="15" name="Text 10"/>
          <p:cNvSpPr txBox="1"/>
          <p:nvPr/>
        </p:nvSpPr>
        <p:spPr>
          <a:xfrm>
            <a:off x="4895088" y="2176272"/>
            <a:ext cx="29108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Grades</a:t>
            </a:r>
            <a:endParaRPr lang="en-US" sz="1250" dirty="0"/>
          </a:p>
        </p:txBody>
      </p:sp>
      <p:sp>
        <p:nvSpPr>
          <p:cNvPr id="16" name="Text 11"/>
          <p:cNvSpPr txBox="1"/>
          <p:nvPr/>
        </p:nvSpPr>
        <p:spPr>
          <a:xfrm>
            <a:off x="4895088" y="2409444"/>
            <a:ext cx="2910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50"/>
              </a:lnSpc>
              <a:buNone/>
            </a:pPr>
            <a:r>
              <a:rPr lang="en-US" sz="100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term's marks, per subject and section</a:t>
            </a:r>
            <a:endParaRPr lang="en-US" sz="1000" dirty="0"/>
          </a:p>
        </p:txBody>
      </p:sp>
      <p:sp>
        <p:nvSpPr>
          <p:cNvPr id="17" name="Shape 12"/>
          <p:cNvSpPr/>
          <p:nvPr/>
        </p:nvSpPr>
        <p:spPr>
          <a:xfrm>
            <a:off x="4383024" y="3465576"/>
            <a:ext cx="384048" cy="384048"/>
          </a:xfrm>
          <a:prstGeom prst="ellipse">
            <a:avLst/>
          </a:prstGeom>
          <a:solidFill>
            <a:srgbClr val="CADCFC"/>
          </a:solidFill>
          <a:ln w="12700">
            <a:solidFill>
              <a:srgbClr val="CADCFC"/>
            </a:solidFill>
            <a:prstDash val="solid"/>
          </a:ln>
        </p:spPr>
      </p:sp>
      <p:pic>
        <p:nvPicPr>
          <p:cNvPr id="18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488180" y="3570732"/>
            <a:ext cx="173736" cy="173736"/>
          </a:xfrm>
          <a:prstGeom prst="rect">
            <a:avLst/>
          </a:prstGeom>
        </p:spPr>
      </p:pic>
      <p:sp>
        <p:nvSpPr>
          <p:cNvPr id="19" name="Text 13"/>
          <p:cNvSpPr txBox="1"/>
          <p:nvPr/>
        </p:nvSpPr>
        <p:spPr>
          <a:xfrm>
            <a:off x="4895088" y="3410712"/>
            <a:ext cx="29108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Expenses</a:t>
            </a:r>
            <a:endParaRPr lang="en-US" sz="1250" dirty="0"/>
          </a:p>
        </p:txBody>
      </p:sp>
      <p:sp>
        <p:nvSpPr>
          <p:cNvPr id="20" name="Text 14"/>
          <p:cNvSpPr txBox="1"/>
          <p:nvPr/>
        </p:nvSpPr>
        <p:spPr>
          <a:xfrm>
            <a:off x="4895088" y="3643884"/>
            <a:ext cx="2910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50"/>
              </a:lnSpc>
              <a:buNone/>
            </a:pPr>
            <a:r>
              <a:rPr lang="en-US" sz="100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school's spending, by category and date</a:t>
            </a:r>
            <a:endParaRPr lang="en-US" sz="1000" dirty="0"/>
          </a:p>
        </p:txBody>
      </p:sp>
      <p:sp>
        <p:nvSpPr>
          <p:cNvPr id="21" name="Shape 15"/>
          <p:cNvSpPr/>
          <p:nvPr/>
        </p:nvSpPr>
        <p:spPr>
          <a:xfrm>
            <a:off x="8125968" y="2231136"/>
            <a:ext cx="384048" cy="384048"/>
          </a:xfrm>
          <a:prstGeom prst="ellipse">
            <a:avLst/>
          </a:prstGeom>
          <a:solidFill>
            <a:srgbClr val="CADCFC"/>
          </a:solidFill>
          <a:ln w="12700">
            <a:solidFill>
              <a:srgbClr val="CADCFC"/>
            </a:solidFill>
            <a:prstDash val="solid"/>
          </a:ln>
        </p:spPr>
      </p:sp>
      <p:pic>
        <p:nvPicPr>
          <p:cNvPr id="22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231124" y="2336292"/>
            <a:ext cx="173736" cy="173736"/>
          </a:xfrm>
          <a:prstGeom prst="rect">
            <a:avLst/>
          </a:prstGeom>
        </p:spPr>
      </p:pic>
      <p:sp>
        <p:nvSpPr>
          <p:cNvPr id="23" name="Text 16"/>
          <p:cNvSpPr txBox="1"/>
          <p:nvPr/>
        </p:nvSpPr>
        <p:spPr>
          <a:xfrm>
            <a:off x="8638032" y="2176272"/>
            <a:ext cx="29108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Teacher assignments</a:t>
            </a:r>
            <a:endParaRPr lang="en-US" sz="1250" dirty="0"/>
          </a:p>
        </p:txBody>
      </p:sp>
      <p:sp>
        <p:nvSpPr>
          <p:cNvPr id="24" name="Text 17"/>
          <p:cNvSpPr txBox="1"/>
          <p:nvPr/>
        </p:nvSpPr>
        <p:spPr>
          <a:xfrm>
            <a:off x="8638032" y="2409444"/>
            <a:ext cx="2910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50"/>
              </a:lnSpc>
              <a:buNone/>
            </a:pPr>
            <a:r>
              <a:rPr lang="en-US" sz="100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Who teaches what, to whom, this year</a:t>
            </a:r>
            <a:endParaRPr lang="en-US" sz="1000" dirty="0"/>
          </a:p>
        </p:txBody>
      </p:sp>
      <p:sp>
        <p:nvSpPr>
          <p:cNvPr id="25" name="Shape 18"/>
          <p:cNvSpPr/>
          <p:nvPr/>
        </p:nvSpPr>
        <p:spPr>
          <a:xfrm>
            <a:off x="8125968" y="3465576"/>
            <a:ext cx="384048" cy="384048"/>
          </a:xfrm>
          <a:prstGeom prst="ellipse">
            <a:avLst/>
          </a:prstGeom>
          <a:solidFill>
            <a:srgbClr val="CADCFC"/>
          </a:solidFill>
          <a:ln w="12700">
            <a:solidFill>
              <a:srgbClr val="CADCFC"/>
            </a:solidFill>
            <a:prstDash val="solid"/>
          </a:ln>
        </p:spPr>
      </p:sp>
      <p:pic>
        <p:nvPicPr>
          <p:cNvPr id="26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231124" y="3570732"/>
            <a:ext cx="173736" cy="173736"/>
          </a:xfrm>
          <a:prstGeom prst="rect">
            <a:avLst/>
          </a:prstGeom>
        </p:spPr>
      </p:pic>
      <p:sp>
        <p:nvSpPr>
          <p:cNvPr id="27" name="Text 19"/>
          <p:cNvSpPr txBox="1"/>
          <p:nvPr/>
        </p:nvSpPr>
        <p:spPr>
          <a:xfrm>
            <a:off x="8638032" y="3410712"/>
            <a:ext cx="29108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Blank template</a:t>
            </a:r>
            <a:endParaRPr lang="en-US" sz="1250" dirty="0"/>
          </a:p>
        </p:txBody>
      </p:sp>
      <p:sp>
        <p:nvSpPr>
          <p:cNvPr id="28" name="Text 20"/>
          <p:cNvSpPr txBox="1"/>
          <p:nvPr/>
        </p:nvSpPr>
        <p:spPr>
          <a:xfrm>
            <a:off x="8638032" y="3643884"/>
            <a:ext cx="2910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50"/>
              </a:lnSpc>
              <a:buNone/>
            </a:pPr>
            <a:r>
              <a:rPr lang="en-US" sz="100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Download the exact .xlsx shape the import expects</a:t>
            </a:r>
            <a:endParaRPr lang="en-US" sz="1000" dirty="0"/>
          </a:p>
        </p:txBody>
      </p:sp>
      <p:sp>
        <p:nvSpPr>
          <p:cNvPr id="29" name="Shape 21"/>
          <p:cNvSpPr/>
          <p:nvPr/>
        </p:nvSpPr>
        <p:spPr>
          <a:xfrm>
            <a:off x="640080" y="4983480"/>
            <a:ext cx="10908792" cy="868680"/>
          </a:xfrm>
          <a:prstGeom prst="roundRect">
            <a:avLst>
              <a:gd name="adj" fmla="val 10526"/>
            </a:avLst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30" name="Shape 22"/>
          <p:cNvSpPr/>
          <p:nvPr/>
        </p:nvSpPr>
        <p:spPr>
          <a:xfrm>
            <a:off x="932688" y="5189220"/>
            <a:ext cx="457200" cy="457200"/>
          </a:xfrm>
          <a:prstGeom prst="ellipse">
            <a:avLst/>
          </a:prstGeom>
          <a:solidFill>
            <a:srgbClr val="E8A33D"/>
          </a:solidFill>
          <a:ln w="12700">
            <a:solidFill>
              <a:srgbClr val="333333"/>
            </a:solidFill>
            <a:prstDash val="solid"/>
          </a:ln>
        </p:spPr>
      </p:sp>
      <p:pic>
        <p:nvPicPr>
          <p:cNvPr id="31" name="Image 6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046988" y="5303520"/>
            <a:ext cx="228600" cy="228600"/>
          </a:xfrm>
          <a:prstGeom prst="rect">
            <a:avLst/>
          </a:prstGeom>
        </p:spPr>
      </p:pic>
      <p:sp>
        <p:nvSpPr>
          <p:cNvPr id="32" name="Text 23"/>
          <p:cNvSpPr txBox="1"/>
          <p:nvPr/>
        </p:nvSpPr>
        <p:spPr>
          <a:xfrm>
            <a:off x="1600200" y="4983480"/>
            <a:ext cx="958291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CADCF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Every import shows you what it read before it writes anything, and every export comes back as .xlsx or .csv.</a:t>
            </a:r>
            <a:endParaRPr lang="en-US" sz="15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38912"/>
            <a:ext cx="1090879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40" kern="0" dirty="0">
                <a:solidFill>
                  <a:srgbClr val="E8A3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SECURITY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694944"/>
            <a:ext cx="10908792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Not hidden in the app - refused by the database</a:t>
            </a:r>
            <a:endParaRPr lang="en-US" sz="28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1371600"/>
            <a:ext cx="8945209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rule below is enforced where the data lives, so it holds even if somebody bypasses the app entirely.</a:t>
            </a:r>
            <a:endParaRPr lang="en-US" sz="1350" dirty="0"/>
          </a:p>
        </p:txBody>
      </p:sp>
      <p:sp>
        <p:nvSpPr>
          <p:cNvPr id="5" name="Shape 3"/>
          <p:cNvSpPr/>
          <p:nvPr/>
        </p:nvSpPr>
        <p:spPr>
          <a:xfrm>
            <a:off x="640080" y="2148840"/>
            <a:ext cx="5349240" cy="2103120"/>
          </a:xfrm>
          <a:prstGeom prst="roundRect">
            <a:avLst>
              <a:gd name="adj" fmla="val 4348"/>
            </a:avLst>
          </a:prstGeom>
          <a:solidFill>
            <a:srgbClr val="F3F6FD"/>
          </a:solidFill>
          <a:ln w="9525">
            <a:solidFill>
              <a:srgbClr val="DCE4F5"/>
            </a:solidFill>
            <a:prstDash val="solid"/>
          </a:ln>
          <a:effectLst>
            <a:outerShdw sx="100000" sy="100000" kx="0" ky="0" algn="bl" rotWithShape="0" blurRad="127000" dist="25400" dir="5400000">
              <a:srgbClr val="1E2761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877824" y="2368296"/>
            <a:ext cx="475488" cy="475488"/>
          </a:xfrm>
          <a:prstGeom prst="ellipse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92124" y="2482596"/>
            <a:ext cx="228600" cy="228600"/>
          </a:xfrm>
          <a:prstGeom prst="rect">
            <a:avLst/>
          </a:prstGeom>
        </p:spPr>
      </p:pic>
      <p:sp>
        <p:nvSpPr>
          <p:cNvPr id="8" name="Text 5"/>
          <p:cNvSpPr txBox="1"/>
          <p:nvPr/>
        </p:nvSpPr>
        <p:spPr>
          <a:xfrm>
            <a:off x="877824" y="2935224"/>
            <a:ext cx="48737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school cannot see another</a:t>
            </a:r>
            <a:endParaRPr lang="en-US" sz="1400" dirty="0"/>
          </a:p>
        </p:txBody>
      </p:sp>
      <p:sp>
        <p:nvSpPr>
          <p:cNvPr id="9" name="Text 6"/>
          <p:cNvSpPr txBox="1"/>
          <p:nvPr/>
        </p:nvSpPr>
        <p:spPr>
          <a:xfrm>
            <a:off x="877824" y="3218688"/>
            <a:ext cx="487375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record lives under its own school, and an account carries the school it belongs to. There is no query that crosses the line.</a:t>
            </a:r>
            <a:endParaRPr lang="en-US" sz="1100" dirty="0"/>
          </a:p>
        </p:txBody>
      </p:sp>
      <p:sp>
        <p:nvSpPr>
          <p:cNvPr id="10" name="Shape 7"/>
          <p:cNvSpPr/>
          <p:nvPr/>
        </p:nvSpPr>
        <p:spPr>
          <a:xfrm>
            <a:off x="6199632" y="2148840"/>
            <a:ext cx="5349240" cy="2103120"/>
          </a:xfrm>
          <a:prstGeom prst="roundRect">
            <a:avLst>
              <a:gd name="adj" fmla="val 4348"/>
            </a:avLst>
          </a:prstGeom>
          <a:solidFill>
            <a:srgbClr val="F3F6FD"/>
          </a:solidFill>
          <a:ln w="9525">
            <a:solidFill>
              <a:srgbClr val="DCE4F5"/>
            </a:solidFill>
            <a:prstDash val="solid"/>
          </a:ln>
          <a:effectLst>
            <a:outerShdw sx="100000" sy="100000" kx="0" ky="0" algn="bl" rotWithShape="0" blurRad="127000" dist="25400" dir="5400000">
              <a:srgbClr val="1E2761">
                <a:alpha val="10000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6437376" y="2368296"/>
            <a:ext cx="475488" cy="475488"/>
          </a:xfrm>
          <a:prstGeom prst="ellipse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51676" y="2482596"/>
            <a:ext cx="228600" cy="228600"/>
          </a:xfrm>
          <a:prstGeom prst="rect">
            <a:avLst/>
          </a:prstGeom>
        </p:spPr>
      </p:pic>
      <p:sp>
        <p:nvSpPr>
          <p:cNvPr id="13" name="Text 9"/>
          <p:cNvSpPr txBox="1"/>
          <p:nvPr/>
        </p:nvSpPr>
        <p:spPr>
          <a:xfrm>
            <a:off x="6437376" y="2935224"/>
            <a:ext cx="48737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Divisions hold too</a:t>
            </a:r>
            <a:endParaRPr lang="en-US" sz="1400" dirty="0"/>
          </a:p>
        </p:txBody>
      </p:sp>
      <p:sp>
        <p:nvSpPr>
          <p:cNvPr id="14" name="Text 10"/>
          <p:cNvSpPr txBox="1"/>
          <p:nvPr/>
        </p:nvSpPr>
        <p:spPr>
          <a:xfrm>
            <a:off x="6437376" y="3218688"/>
            <a:ext cx="487375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Junior High teacher scoped to their division cannot open a Senior High record - the read is denied, not filtered.</a:t>
            </a:r>
            <a:endParaRPr lang="en-US" sz="1100" dirty="0"/>
          </a:p>
        </p:txBody>
      </p:sp>
      <p:sp>
        <p:nvSpPr>
          <p:cNvPr id="15" name="Shape 11"/>
          <p:cNvSpPr/>
          <p:nvPr/>
        </p:nvSpPr>
        <p:spPr>
          <a:xfrm>
            <a:off x="640080" y="4480560"/>
            <a:ext cx="5349240" cy="2103120"/>
          </a:xfrm>
          <a:prstGeom prst="roundRect">
            <a:avLst>
              <a:gd name="adj" fmla="val 4348"/>
            </a:avLst>
          </a:prstGeom>
          <a:solidFill>
            <a:srgbClr val="F3F6FD"/>
          </a:solidFill>
          <a:ln w="9525">
            <a:solidFill>
              <a:srgbClr val="DCE4F5"/>
            </a:solidFill>
            <a:prstDash val="solid"/>
          </a:ln>
          <a:effectLst>
            <a:outerShdw sx="100000" sy="100000" kx="0" ky="0" algn="bl" rotWithShape="0" blurRad="127000" dist="25400" dir="5400000">
              <a:srgbClr val="1E2761">
                <a:alpha val="10000"/>
              </a:srgbClr>
            </a:outerShdw>
          </a:effectLst>
        </p:spPr>
      </p:sp>
      <p:sp>
        <p:nvSpPr>
          <p:cNvPr id="16" name="Shape 12"/>
          <p:cNvSpPr/>
          <p:nvPr/>
        </p:nvSpPr>
        <p:spPr>
          <a:xfrm>
            <a:off x="877824" y="4700016"/>
            <a:ext cx="475488" cy="475488"/>
          </a:xfrm>
          <a:prstGeom prst="ellipse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pic>
        <p:nvPicPr>
          <p:cNvPr id="17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92124" y="4814316"/>
            <a:ext cx="228600" cy="228600"/>
          </a:xfrm>
          <a:prstGeom prst="rect">
            <a:avLst/>
          </a:prstGeom>
        </p:spPr>
      </p:pic>
      <p:sp>
        <p:nvSpPr>
          <p:cNvPr id="18" name="Text 13"/>
          <p:cNvSpPr txBox="1"/>
          <p:nvPr/>
        </p:nvSpPr>
        <p:spPr>
          <a:xfrm>
            <a:off x="877824" y="5266944"/>
            <a:ext cx="48737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Sensitive fields are server-owned</a:t>
            </a:r>
            <a:endParaRPr lang="en-US" sz="1400" dirty="0"/>
          </a:p>
        </p:txBody>
      </p:sp>
      <p:sp>
        <p:nvSpPr>
          <p:cNvPr id="19" name="Text 14"/>
          <p:cNvSpPr txBox="1"/>
          <p:nvPr/>
        </p:nvSpPr>
        <p:spPr>
          <a:xfrm>
            <a:off x="877824" y="5550408"/>
            <a:ext cx="487375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balance moves only inside a recorded payment. A role, a status or a student number cannot be changed by an app at all.</a:t>
            </a:r>
            <a:endParaRPr lang="en-US" sz="1100" dirty="0"/>
          </a:p>
        </p:txBody>
      </p:sp>
      <p:sp>
        <p:nvSpPr>
          <p:cNvPr id="20" name="Shape 15"/>
          <p:cNvSpPr/>
          <p:nvPr/>
        </p:nvSpPr>
        <p:spPr>
          <a:xfrm>
            <a:off x="6199632" y="4480560"/>
            <a:ext cx="5349240" cy="2103120"/>
          </a:xfrm>
          <a:prstGeom prst="roundRect">
            <a:avLst>
              <a:gd name="adj" fmla="val 4348"/>
            </a:avLst>
          </a:prstGeom>
          <a:solidFill>
            <a:srgbClr val="F3F6FD"/>
          </a:solidFill>
          <a:ln w="9525">
            <a:solidFill>
              <a:srgbClr val="DCE4F5"/>
            </a:solidFill>
            <a:prstDash val="solid"/>
          </a:ln>
          <a:effectLst>
            <a:outerShdw sx="100000" sy="100000" kx="0" ky="0" algn="bl" rotWithShape="0" blurRad="127000" dist="25400" dir="5400000">
              <a:srgbClr val="1E2761">
                <a:alpha val="10000"/>
              </a:srgbClr>
            </a:outerShdw>
          </a:effectLst>
        </p:spPr>
      </p:sp>
      <p:sp>
        <p:nvSpPr>
          <p:cNvPr id="21" name="Shape 16"/>
          <p:cNvSpPr/>
          <p:nvPr/>
        </p:nvSpPr>
        <p:spPr>
          <a:xfrm>
            <a:off x="6437376" y="4700016"/>
            <a:ext cx="475488" cy="475488"/>
          </a:xfrm>
          <a:prstGeom prst="ellipse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pic>
        <p:nvPicPr>
          <p:cNvPr id="22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551676" y="4814316"/>
            <a:ext cx="228600" cy="228600"/>
          </a:xfrm>
          <a:prstGeom prst="rect">
            <a:avLst/>
          </a:prstGeom>
        </p:spPr>
      </p:pic>
      <p:sp>
        <p:nvSpPr>
          <p:cNvPr id="23" name="Text 17"/>
          <p:cNvSpPr txBox="1"/>
          <p:nvPr/>
        </p:nvSpPr>
        <p:spPr>
          <a:xfrm>
            <a:off x="6437376" y="5266944"/>
            <a:ext cx="48737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Everything is written down</a:t>
            </a:r>
            <a:endParaRPr lang="en-US" sz="1400" dirty="0"/>
          </a:p>
        </p:txBody>
      </p:sp>
      <p:sp>
        <p:nvSpPr>
          <p:cNvPr id="24" name="Text 18"/>
          <p:cNvSpPr txBox="1"/>
          <p:nvPr/>
        </p:nvSpPr>
        <p:spPr>
          <a:xfrm>
            <a:off x="6437376" y="5550408"/>
            <a:ext cx="487375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create, edit and delete lands in the audit trail with who did it and when, automatically. A decision on a request is signed with the account that made it, so an approval cannot be attributed to somebody else.</a:t>
            </a:r>
            <a:endParaRPr lang="en-US" sz="11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38912"/>
            <a:ext cx="1090879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40" kern="0" dirty="0">
                <a:solidFill>
                  <a:srgbClr val="E8A3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 PRIVACY ACT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694944"/>
            <a:ext cx="10908792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 to hand your Data Protection Officer</a:t>
            </a:r>
            <a:endParaRPr lang="en-US" sz="32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1371600"/>
            <a:ext cx="8945209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Schools hold minors' records. The questions a DPO asks are answered inside the app, not in a promise.</a:t>
            </a:r>
            <a:endParaRPr lang="en-US" sz="1350" dirty="0"/>
          </a:p>
        </p:txBody>
      </p:sp>
      <p:sp>
        <p:nvSpPr>
          <p:cNvPr id="5" name="Shape 3"/>
          <p:cNvSpPr/>
          <p:nvPr/>
        </p:nvSpPr>
        <p:spPr>
          <a:xfrm>
            <a:off x="640080" y="2231136"/>
            <a:ext cx="384048" cy="384048"/>
          </a:xfrm>
          <a:prstGeom prst="ellipse">
            <a:avLst/>
          </a:prstGeom>
          <a:solidFill>
            <a:srgbClr val="CADCFC"/>
          </a:solidFill>
          <a:ln w="12700">
            <a:solidFill>
              <a:srgbClr val="CADCFC"/>
            </a:solidFill>
            <a:prstDash val="solid"/>
          </a:ln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45236" y="2336292"/>
            <a:ext cx="173736" cy="173736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1152144" y="2176272"/>
            <a:ext cx="29108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privacy notice in the app</a:t>
            </a:r>
            <a:endParaRPr lang="en-US" sz="1250" dirty="0"/>
          </a:p>
        </p:txBody>
      </p:sp>
      <p:sp>
        <p:nvSpPr>
          <p:cNvPr id="8" name="Text 5"/>
          <p:cNvSpPr txBox="1"/>
          <p:nvPr/>
        </p:nvSpPr>
        <p:spPr>
          <a:xfrm>
            <a:off x="1152144" y="2409444"/>
            <a:ext cx="2910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50"/>
              </a:lnSpc>
              <a:buNone/>
            </a:pPr>
            <a:r>
              <a:rPr lang="en-US" sz="100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Eight categories of data, what is held, why, and who sees it</a:t>
            </a:r>
            <a:endParaRPr lang="en-US" sz="1000" dirty="0"/>
          </a:p>
        </p:txBody>
      </p:sp>
      <p:sp>
        <p:nvSpPr>
          <p:cNvPr id="9" name="Shape 6"/>
          <p:cNvSpPr/>
          <p:nvPr/>
        </p:nvSpPr>
        <p:spPr>
          <a:xfrm>
            <a:off x="640080" y="3465576"/>
            <a:ext cx="384048" cy="384048"/>
          </a:xfrm>
          <a:prstGeom prst="ellipse">
            <a:avLst/>
          </a:prstGeom>
          <a:solidFill>
            <a:srgbClr val="CADCFC"/>
          </a:solidFill>
          <a:ln w="12700">
            <a:solidFill>
              <a:srgbClr val="CADCFC"/>
            </a:solidFill>
            <a:prstDash val="solid"/>
          </a:ln>
        </p:spPr>
      </p:sp>
      <p:pic>
        <p:nvPicPr>
          <p:cNvPr id="10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5236" y="3570732"/>
            <a:ext cx="173736" cy="173736"/>
          </a:xfrm>
          <a:prstGeom prst="rect">
            <a:avLst/>
          </a:prstGeom>
        </p:spPr>
      </p:pic>
      <p:sp>
        <p:nvSpPr>
          <p:cNvPr id="11" name="Text 7"/>
          <p:cNvSpPr txBox="1"/>
          <p:nvPr/>
        </p:nvSpPr>
        <p:spPr>
          <a:xfrm>
            <a:off x="1152144" y="3410712"/>
            <a:ext cx="29108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recorded acknowledgement</a:t>
            </a:r>
            <a:endParaRPr lang="en-US" sz="1250" dirty="0"/>
          </a:p>
        </p:txBody>
      </p:sp>
      <p:sp>
        <p:nvSpPr>
          <p:cNvPr id="12" name="Text 8"/>
          <p:cNvSpPr txBox="1"/>
          <p:nvPr/>
        </p:nvSpPr>
        <p:spPr>
          <a:xfrm>
            <a:off x="1152144" y="3643884"/>
            <a:ext cx="2910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50"/>
              </a:lnSpc>
              <a:buNone/>
            </a:pPr>
            <a:r>
              <a:rPr lang="en-US" sz="100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account reads it before their first use, and the version they read is stored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4383024" y="2231136"/>
            <a:ext cx="384048" cy="384048"/>
          </a:xfrm>
          <a:prstGeom prst="ellipse">
            <a:avLst/>
          </a:prstGeom>
          <a:solidFill>
            <a:srgbClr val="CADCFC"/>
          </a:solidFill>
          <a:ln w="12700">
            <a:solidFill>
              <a:srgbClr val="CADCFC"/>
            </a:solidFill>
            <a:prstDash val="solid"/>
          </a:ln>
        </p:spPr>
      </p:sp>
      <p:pic>
        <p:nvPicPr>
          <p:cNvPr id="14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488180" y="2336292"/>
            <a:ext cx="173736" cy="173736"/>
          </a:xfrm>
          <a:prstGeom prst="rect">
            <a:avLst/>
          </a:prstGeom>
        </p:spPr>
      </p:pic>
      <p:sp>
        <p:nvSpPr>
          <p:cNvPr id="15" name="Text 10"/>
          <p:cNvSpPr txBox="1"/>
          <p:nvPr/>
        </p:nvSpPr>
        <p:spPr>
          <a:xfrm>
            <a:off x="4895088" y="2176272"/>
            <a:ext cx="29108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Access requests</a:t>
            </a:r>
            <a:endParaRPr lang="en-US" sz="1250" dirty="0"/>
          </a:p>
        </p:txBody>
      </p:sp>
      <p:sp>
        <p:nvSpPr>
          <p:cNvPr id="16" name="Text 11"/>
          <p:cNvSpPr txBox="1"/>
          <p:nvPr/>
        </p:nvSpPr>
        <p:spPr>
          <a:xfrm>
            <a:off x="4895088" y="2409444"/>
            <a:ext cx="2910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50"/>
              </a:lnSpc>
              <a:buNone/>
            </a:pPr>
            <a:r>
              <a:rPr lang="en-US" sz="100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family can ask what is held about their child, from their own profile</a:t>
            </a:r>
            <a:endParaRPr lang="en-US" sz="1000" dirty="0"/>
          </a:p>
        </p:txBody>
      </p:sp>
      <p:sp>
        <p:nvSpPr>
          <p:cNvPr id="17" name="Shape 12"/>
          <p:cNvSpPr/>
          <p:nvPr/>
        </p:nvSpPr>
        <p:spPr>
          <a:xfrm>
            <a:off x="4383024" y="3465576"/>
            <a:ext cx="384048" cy="384048"/>
          </a:xfrm>
          <a:prstGeom prst="ellipse">
            <a:avLst/>
          </a:prstGeom>
          <a:solidFill>
            <a:srgbClr val="CADCFC"/>
          </a:solidFill>
          <a:ln w="12700">
            <a:solidFill>
              <a:srgbClr val="CADCFC"/>
            </a:solidFill>
            <a:prstDash val="solid"/>
          </a:ln>
        </p:spPr>
      </p:sp>
      <p:pic>
        <p:nvPicPr>
          <p:cNvPr id="18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488180" y="3570732"/>
            <a:ext cx="173736" cy="173736"/>
          </a:xfrm>
          <a:prstGeom prst="rect">
            <a:avLst/>
          </a:prstGeom>
        </p:spPr>
      </p:pic>
      <p:sp>
        <p:nvSpPr>
          <p:cNvPr id="19" name="Text 13"/>
          <p:cNvSpPr txBox="1"/>
          <p:nvPr/>
        </p:nvSpPr>
        <p:spPr>
          <a:xfrm>
            <a:off x="4895088" y="3410712"/>
            <a:ext cx="29108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Correction and objection</a:t>
            </a:r>
            <a:endParaRPr lang="en-US" sz="1250" dirty="0"/>
          </a:p>
        </p:txBody>
      </p:sp>
      <p:sp>
        <p:nvSpPr>
          <p:cNvPr id="20" name="Text 14"/>
          <p:cNvSpPr txBox="1"/>
          <p:nvPr/>
        </p:nvSpPr>
        <p:spPr>
          <a:xfrm>
            <a:off x="4895088" y="3643884"/>
            <a:ext cx="2910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50"/>
              </a:lnSpc>
              <a:buNone/>
            </a:pPr>
            <a:r>
              <a:rPr lang="en-US" sz="100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other rights the Act names, filed the same way</a:t>
            </a:r>
            <a:endParaRPr lang="en-US" sz="1000" dirty="0"/>
          </a:p>
        </p:txBody>
      </p:sp>
      <p:sp>
        <p:nvSpPr>
          <p:cNvPr id="21" name="Shape 15"/>
          <p:cNvSpPr/>
          <p:nvPr/>
        </p:nvSpPr>
        <p:spPr>
          <a:xfrm>
            <a:off x="8125968" y="2231136"/>
            <a:ext cx="384048" cy="384048"/>
          </a:xfrm>
          <a:prstGeom prst="ellipse">
            <a:avLst/>
          </a:prstGeom>
          <a:solidFill>
            <a:srgbClr val="CADCFC"/>
          </a:solidFill>
          <a:ln w="12700">
            <a:solidFill>
              <a:srgbClr val="CADCFC"/>
            </a:solidFill>
            <a:prstDash val="solid"/>
          </a:ln>
        </p:spPr>
      </p:sp>
      <p:pic>
        <p:nvPicPr>
          <p:cNvPr id="22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231124" y="2336292"/>
            <a:ext cx="173736" cy="173736"/>
          </a:xfrm>
          <a:prstGeom prst="rect">
            <a:avLst/>
          </a:prstGeom>
        </p:spPr>
      </p:pic>
      <p:sp>
        <p:nvSpPr>
          <p:cNvPr id="23" name="Text 16"/>
          <p:cNvSpPr txBox="1"/>
          <p:nvPr/>
        </p:nvSpPr>
        <p:spPr>
          <a:xfrm>
            <a:off x="8638032" y="2176272"/>
            <a:ext cx="29108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retention schedule</a:t>
            </a:r>
            <a:endParaRPr lang="en-US" sz="1250" dirty="0"/>
          </a:p>
        </p:txBody>
      </p:sp>
      <p:sp>
        <p:nvSpPr>
          <p:cNvPr id="24" name="Text 17"/>
          <p:cNvSpPr txBox="1"/>
          <p:nvPr/>
        </p:nvSpPr>
        <p:spPr>
          <a:xfrm>
            <a:off x="8638032" y="2409444"/>
            <a:ext cx="2910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50"/>
              </a:lnSpc>
              <a:buNone/>
            </a:pPr>
            <a:r>
              <a:rPr lang="en-US" sz="100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long each kind of record is kept, written down</a:t>
            </a:r>
            <a:endParaRPr lang="en-US" sz="1000" dirty="0"/>
          </a:p>
        </p:txBody>
      </p:sp>
      <p:sp>
        <p:nvSpPr>
          <p:cNvPr id="25" name="Shape 18"/>
          <p:cNvSpPr/>
          <p:nvPr/>
        </p:nvSpPr>
        <p:spPr>
          <a:xfrm>
            <a:off x="8125968" y="3465576"/>
            <a:ext cx="384048" cy="384048"/>
          </a:xfrm>
          <a:prstGeom prst="ellipse">
            <a:avLst/>
          </a:prstGeom>
          <a:solidFill>
            <a:srgbClr val="CADCFC"/>
          </a:solidFill>
          <a:ln w="12700">
            <a:solidFill>
              <a:srgbClr val="CADCFC"/>
            </a:solidFill>
            <a:prstDash val="solid"/>
          </a:ln>
        </p:spPr>
      </p:sp>
      <p:pic>
        <p:nvPicPr>
          <p:cNvPr id="26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231124" y="3570732"/>
            <a:ext cx="173736" cy="173736"/>
          </a:xfrm>
          <a:prstGeom prst="rect">
            <a:avLst/>
          </a:prstGeom>
        </p:spPr>
      </p:pic>
      <p:sp>
        <p:nvSpPr>
          <p:cNvPr id="27" name="Text 19"/>
          <p:cNvSpPr txBox="1"/>
          <p:nvPr/>
        </p:nvSpPr>
        <p:spPr>
          <a:xfrm>
            <a:off x="8638032" y="3410712"/>
            <a:ext cx="29108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clock on every request</a:t>
            </a:r>
            <a:endParaRPr lang="en-US" sz="1250" dirty="0"/>
          </a:p>
        </p:txBody>
      </p:sp>
      <p:sp>
        <p:nvSpPr>
          <p:cNvPr id="28" name="Text 20"/>
          <p:cNvSpPr txBox="1"/>
          <p:nvPr/>
        </p:nvSpPr>
        <p:spPr>
          <a:xfrm>
            <a:off x="8638032" y="3643884"/>
            <a:ext cx="2910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50"/>
              </a:lnSpc>
              <a:buNone/>
            </a:pPr>
            <a:r>
              <a:rPr lang="en-US" sz="100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Each one carries a target answer date and shows when it is overdue</a:t>
            </a:r>
            <a:endParaRPr lang="en-US" sz="1000" dirty="0"/>
          </a:p>
        </p:txBody>
      </p:sp>
      <p:sp>
        <p:nvSpPr>
          <p:cNvPr id="29" name="Shape 21"/>
          <p:cNvSpPr/>
          <p:nvPr/>
        </p:nvSpPr>
        <p:spPr>
          <a:xfrm>
            <a:off x="640080" y="4983480"/>
            <a:ext cx="10908792" cy="868680"/>
          </a:xfrm>
          <a:prstGeom prst="roundRect">
            <a:avLst>
              <a:gd name="adj" fmla="val 10526"/>
            </a:avLst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30" name="Shape 22"/>
          <p:cNvSpPr/>
          <p:nvPr/>
        </p:nvSpPr>
        <p:spPr>
          <a:xfrm>
            <a:off x="932688" y="5189220"/>
            <a:ext cx="457200" cy="457200"/>
          </a:xfrm>
          <a:prstGeom prst="ellipse">
            <a:avLst/>
          </a:prstGeom>
          <a:solidFill>
            <a:srgbClr val="E8A33D"/>
          </a:solidFill>
          <a:ln w="12700">
            <a:solidFill>
              <a:srgbClr val="333333"/>
            </a:solidFill>
            <a:prstDash val="solid"/>
          </a:ln>
        </p:spPr>
      </p:sp>
      <p:pic>
        <p:nvPicPr>
          <p:cNvPr id="31" name="Image 6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046988" y="5303520"/>
            <a:ext cx="228600" cy="228600"/>
          </a:xfrm>
          <a:prstGeom prst="rect">
            <a:avLst/>
          </a:prstGeom>
        </p:spPr>
      </p:pic>
      <p:sp>
        <p:nvSpPr>
          <p:cNvPr id="32" name="Text 23"/>
          <p:cNvSpPr txBox="1"/>
          <p:nvPr/>
        </p:nvSpPr>
        <p:spPr>
          <a:xfrm>
            <a:off x="1600200" y="4983480"/>
            <a:ext cx="958291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CADCF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Data Processing Agreement template ships with the system, ready for your DPO to review.</a:t>
            </a:r>
            <a:endParaRPr lang="en-US" sz="15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141B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38912"/>
            <a:ext cx="1090879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40" kern="0" dirty="0">
                <a:solidFill>
                  <a:srgbClr val="E8A3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WHERE IT RUNS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694944"/>
            <a:ext cx="10908792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same app, on whatever the school already has</a:t>
            </a:r>
            <a:endParaRPr lang="en-US" sz="28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1371600"/>
            <a:ext cx="8945209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codebase, three builds. No separate teacher app, no separate parent app.</a:t>
            </a:r>
            <a:endParaRPr lang="en-US" sz="1350" dirty="0"/>
          </a:p>
        </p:txBody>
      </p:sp>
      <p:sp>
        <p:nvSpPr>
          <p:cNvPr id="5" name="Shape 3"/>
          <p:cNvSpPr/>
          <p:nvPr/>
        </p:nvSpPr>
        <p:spPr>
          <a:xfrm>
            <a:off x="640080" y="2286000"/>
            <a:ext cx="2569464" cy="2880360"/>
          </a:xfrm>
          <a:prstGeom prst="roundRect">
            <a:avLst>
              <a:gd name="adj" fmla="val 3559"/>
            </a:avLst>
          </a:prstGeom>
          <a:solidFill>
            <a:srgbClr val="1E2761"/>
          </a:solidFill>
          <a:ln w="9525">
            <a:solidFill>
              <a:srgbClr val="3A4783"/>
            </a:solidFill>
            <a:prstDash val="solid"/>
          </a:ln>
          <a:effectLst>
            <a:outerShdw sx="100000" sy="100000" kx="0" ky="0" algn="bl" rotWithShape="0" blurRad="127000" dist="25400" dir="5400000">
              <a:srgbClr val="1E2761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877824" y="2505456"/>
            <a:ext cx="475488" cy="475488"/>
          </a:xfrm>
          <a:prstGeom prst="ellipse">
            <a:avLst/>
          </a:prstGeom>
          <a:solidFill>
            <a:srgbClr val="E8A33D"/>
          </a:solidFill>
          <a:ln w="12700">
            <a:solidFill>
              <a:srgbClr val="E8A33D"/>
            </a:solidFill>
            <a:prstDash val="solid"/>
          </a:ln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92124" y="2619756"/>
            <a:ext cx="228600" cy="228600"/>
          </a:xfrm>
          <a:prstGeom prst="rect">
            <a:avLst/>
          </a:prstGeom>
        </p:spPr>
      </p:pic>
      <p:sp>
        <p:nvSpPr>
          <p:cNvPr id="8" name="Text 5"/>
          <p:cNvSpPr txBox="1"/>
          <p:nvPr/>
        </p:nvSpPr>
        <p:spPr>
          <a:xfrm>
            <a:off x="877824" y="3072384"/>
            <a:ext cx="209397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Android</a:t>
            </a:r>
            <a:endParaRPr lang="en-US" sz="1400" dirty="0"/>
          </a:p>
        </p:txBody>
      </p:sp>
      <p:sp>
        <p:nvSpPr>
          <p:cNvPr id="9" name="Text 6"/>
          <p:cNvSpPr txBox="1"/>
          <p:nvPr/>
        </p:nvSpPr>
        <p:spPr>
          <a:xfrm>
            <a:off x="877824" y="3355848"/>
            <a:ext cx="2093976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9EAB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Installed from an APK the school hands out itself. Camera scanning and push notifications, on the phones staff already carry.</a:t>
            </a:r>
            <a:endParaRPr lang="en-US" sz="1100" dirty="0"/>
          </a:p>
        </p:txBody>
      </p:sp>
      <p:sp>
        <p:nvSpPr>
          <p:cNvPr id="10" name="Shape 7"/>
          <p:cNvSpPr/>
          <p:nvPr/>
        </p:nvSpPr>
        <p:spPr>
          <a:xfrm>
            <a:off x="3419856" y="2286000"/>
            <a:ext cx="2569464" cy="2880360"/>
          </a:xfrm>
          <a:prstGeom prst="roundRect">
            <a:avLst>
              <a:gd name="adj" fmla="val 3559"/>
            </a:avLst>
          </a:prstGeom>
          <a:solidFill>
            <a:srgbClr val="1E2761"/>
          </a:solidFill>
          <a:ln w="9525">
            <a:solidFill>
              <a:srgbClr val="3A4783"/>
            </a:solidFill>
            <a:prstDash val="solid"/>
          </a:ln>
          <a:effectLst>
            <a:outerShdw sx="100000" sy="100000" kx="0" ky="0" algn="bl" rotWithShape="0" blurRad="127000" dist="25400" dir="5400000">
              <a:srgbClr val="1E2761">
                <a:alpha val="10000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3657600" y="2505456"/>
            <a:ext cx="475488" cy="475488"/>
          </a:xfrm>
          <a:prstGeom prst="ellipse">
            <a:avLst/>
          </a:prstGeom>
          <a:solidFill>
            <a:srgbClr val="E8A33D"/>
          </a:solidFill>
          <a:ln w="12700">
            <a:solidFill>
              <a:srgbClr val="E8A33D"/>
            </a:solidFill>
            <a:prstDash val="solid"/>
          </a:ln>
        </p:spPr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771900" y="2619756"/>
            <a:ext cx="228600" cy="228600"/>
          </a:xfrm>
          <a:prstGeom prst="rect">
            <a:avLst/>
          </a:prstGeom>
        </p:spPr>
      </p:pic>
      <p:sp>
        <p:nvSpPr>
          <p:cNvPr id="13" name="Text 9"/>
          <p:cNvSpPr txBox="1"/>
          <p:nvPr/>
        </p:nvSpPr>
        <p:spPr>
          <a:xfrm>
            <a:off x="3657600" y="3072384"/>
            <a:ext cx="209397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Windows</a:t>
            </a:r>
            <a:endParaRPr lang="en-US" sz="1400" dirty="0"/>
          </a:p>
        </p:txBody>
      </p:sp>
      <p:sp>
        <p:nvSpPr>
          <p:cNvPr id="14" name="Text 10"/>
          <p:cNvSpPr txBox="1"/>
          <p:nvPr/>
        </p:nvSpPr>
        <p:spPr>
          <a:xfrm>
            <a:off x="3657600" y="3355848"/>
            <a:ext cx="2093976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9EAB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desktop build for the registrar's and cashier's counter, where the printing and the typing happen.</a:t>
            </a:r>
            <a:endParaRPr lang="en-US" sz="1100" dirty="0"/>
          </a:p>
        </p:txBody>
      </p:sp>
      <p:sp>
        <p:nvSpPr>
          <p:cNvPr id="15" name="Shape 11"/>
          <p:cNvSpPr/>
          <p:nvPr/>
        </p:nvSpPr>
        <p:spPr>
          <a:xfrm>
            <a:off x="6199632" y="2286000"/>
            <a:ext cx="2569464" cy="2880360"/>
          </a:xfrm>
          <a:prstGeom prst="roundRect">
            <a:avLst>
              <a:gd name="adj" fmla="val 3559"/>
            </a:avLst>
          </a:prstGeom>
          <a:solidFill>
            <a:srgbClr val="1E2761"/>
          </a:solidFill>
          <a:ln w="9525">
            <a:solidFill>
              <a:srgbClr val="3A4783"/>
            </a:solidFill>
            <a:prstDash val="solid"/>
          </a:ln>
          <a:effectLst>
            <a:outerShdw sx="100000" sy="100000" kx="0" ky="0" algn="bl" rotWithShape="0" blurRad="127000" dist="25400" dir="5400000">
              <a:srgbClr val="1E2761">
                <a:alpha val="10000"/>
              </a:srgbClr>
            </a:outerShdw>
          </a:effectLst>
        </p:spPr>
      </p:sp>
      <p:sp>
        <p:nvSpPr>
          <p:cNvPr id="16" name="Shape 12"/>
          <p:cNvSpPr/>
          <p:nvPr/>
        </p:nvSpPr>
        <p:spPr>
          <a:xfrm>
            <a:off x="6437376" y="2505456"/>
            <a:ext cx="475488" cy="475488"/>
          </a:xfrm>
          <a:prstGeom prst="ellipse">
            <a:avLst/>
          </a:prstGeom>
          <a:solidFill>
            <a:srgbClr val="E8A33D"/>
          </a:solidFill>
          <a:ln w="12700">
            <a:solidFill>
              <a:srgbClr val="E8A33D"/>
            </a:solidFill>
            <a:prstDash val="solid"/>
          </a:ln>
        </p:spPr>
      </p:sp>
      <p:pic>
        <p:nvPicPr>
          <p:cNvPr id="17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51676" y="2619756"/>
            <a:ext cx="228600" cy="228600"/>
          </a:xfrm>
          <a:prstGeom prst="rect">
            <a:avLst/>
          </a:prstGeom>
        </p:spPr>
      </p:pic>
      <p:sp>
        <p:nvSpPr>
          <p:cNvPr id="18" name="Text 13"/>
          <p:cNvSpPr txBox="1"/>
          <p:nvPr/>
        </p:nvSpPr>
        <p:spPr>
          <a:xfrm>
            <a:off x="6437376" y="3072384"/>
            <a:ext cx="209397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Web</a:t>
            </a:r>
            <a:endParaRPr lang="en-US" sz="1400" dirty="0"/>
          </a:p>
        </p:txBody>
      </p:sp>
      <p:sp>
        <p:nvSpPr>
          <p:cNvPr id="19" name="Text 14"/>
          <p:cNvSpPr txBox="1"/>
          <p:nvPr/>
        </p:nvSpPr>
        <p:spPr>
          <a:xfrm>
            <a:off x="6437376" y="3355848"/>
            <a:ext cx="2093976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9EAB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Any browser, and installable to the home screen as a PWA - including iPhone, once added to the Home Screen.</a:t>
            </a:r>
            <a:endParaRPr lang="en-US" sz="1100" dirty="0"/>
          </a:p>
        </p:txBody>
      </p:sp>
      <p:sp>
        <p:nvSpPr>
          <p:cNvPr id="20" name="Shape 15"/>
          <p:cNvSpPr/>
          <p:nvPr/>
        </p:nvSpPr>
        <p:spPr>
          <a:xfrm>
            <a:off x="8979408" y="2286000"/>
            <a:ext cx="2569464" cy="2880360"/>
          </a:xfrm>
          <a:prstGeom prst="roundRect">
            <a:avLst>
              <a:gd name="adj" fmla="val 3559"/>
            </a:avLst>
          </a:prstGeom>
          <a:solidFill>
            <a:srgbClr val="1E2761"/>
          </a:solidFill>
          <a:ln w="9525">
            <a:solidFill>
              <a:srgbClr val="3A4783"/>
            </a:solidFill>
            <a:prstDash val="solid"/>
          </a:ln>
          <a:effectLst>
            <a:outerShdw sx="100000" sy="100000" kx="0" ky="0" algn="bl" rotWithShape="0" blurRad="127000" dist="25400" dir="5400000">
              <a:srgbClr val="1E2761">
                <a:alpha val="10000"/>
              </a:srgbClr>
            </a:outerShdw>
          </a:effectLst>
        </p:spPr>
      </p:sp>
      <p:sp>
        <p:nvSpPr>
          <p:cNvPr id="21" name="Shape 16"/>
          <p:cNvSpPr/>
          <p:nvPr/>
        </p:nvSpPr>
        <p:spPr>
          <a:xfrm>
            <a:off x="9217152" y="2505456"/>
            <a:ext cx="475488" cy="475488"/>
          </a:xfrm>
          <a:prstGeom prst="ellipse">
            <a:avLst/>
          </a:prstGeom>
          <a:solidFill>
            <a:srgbClr val="E8A33D"/>
          </a:solidFill>
          <a:ln w="12700">
            <a:solidFill>
              <a:srgbClr val="E8A33D"/>
            </a:solidFill>
            <a:prstDash val="solid"/>
          </a:ln>
        </p:spPr>
      </p:sp>
      <p:pic>
        <p:nvPicPr>
          <p:cNvPr id="22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331452" y="2619756"/>
            <a:ext cx="228600" cy="228600"/>
          </a:xfrm>
          <a:prstGeom prst="rect">
            <a:avLst/>
          </a:prstGeom>
        </p:spPr>
      </p:pic>
      <p:sp>
        <p:nvSpPr>
          <p:cNvPr id="23" name="Text 17"/>
          <p:cNvSpPr txBox="1"/>
          <p:nvPr/>
        </p:nvSpPr>
        <p:spPr>
          <a:xfrm>
            <a:off x="9217152" y="3072384"/>
            <a:ext cx="209397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Notifications</a:t>
            </a:r>
            <a:endParaRPr lang="en-US" sz="1400" dirty="0"/>
          </a:p>
        </p:txBody>
      </p:sp>
      <p:sp>
        <p:nvSpPr>
          <p:cNvPr id="24" name="Text 18"/>
          <p:cNvSpPr txBox="1"/>
          <p:nvPr/>
        </p:nvSpPr>
        <p:spPr>
          <a:xfrm>
            <a:off x="9217152" y="3355848"/>
            <a:ext cx="2093976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9EAB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 announcement reaches the phones of the roles it was addressed to, even with the app closed.</a:t>
            </a:r>
            <a:endParaRPr lang="en-US" sz="1100" dirty="0"/>
          </a:p>
        </p:txBody>
      </p:sp>
      <p:sp>
        <p:nvSpPr>
          <p:cNvPr id="25" name="Text 19"/>
          <p:cNvSpPr txBox="1"/>
          <p:nvPr/>
        </p:nvSpPr>
        <p:spPr>
          <a:xfrm>
            <a:off x="640080" y="5486400"/>
            <a:ext cx="1090879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E8A3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One codebase means a fix reaches the registrar's desktop and the parent's phone together.</a:t>
            </a:r>
            <a:endParaRPr lang="en-US" sz="15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38912"/>
            <a:ext cx="1090879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40" kern="0" dirty="0">
                <a:solidFill>
                  <a:srgbClr val="E8A3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GOING LIVE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694944"/>
            <a:ext cx="10908792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Seven checks that go green before the first school day</a:t>
            </a:r>
            <a:endParaRPr lang="en-US" sz="28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1371600"/>
            <a:ext cx="8945209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Built because the worst time to find a misconfiguration is on the morning a school starts using the system.</a:t>
            </a:r>
            <a:endParaRPr lang="en-US" sz="1350" dirty="0"/>
          </a:p>
        </p:txBody>
      </p:sp>
      <p:sp>
        <p:nvSpPr>
          <p:cNvPr id="5" name="Shape 3"/>
          <p:cNvSpPr/>
          <p:nvPr/>
        </p:nvSpPr>
        <p:spPr>
          <a:xfrm>
            <a:off x="640080" y="2093976"/>
            <a:ext cx="384048" cy="384048"/>
          </a:xfrm>
          <a:prstGeom prst="ellipse">
            <a:avLst/>
          </a:prstGeom>
          <a:solidFill>
            <a:srgbClr val="CADCFC"/>
          </a:solidFill>
          <a:ln w="12700">
            <a:solidFill>
              <a:srgbClr val="CADCFC"/>
            </a:solidFill>
            <a:prstDash val="solid"/>
          </a:ln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45236" y="2199132"/>
            <a:ext cx="173736" cy="173736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1152144" y="2039112"/>
            <a:ext cx="47137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Database reachable</a:t>
            </a:r>
            <a:endParaRPr lang="en-US" sz="1250" dirty="0"/>
          </a:p>
        </p:txBody>
      </p:sp>
      <p:sp>
        <p:nvSpPr>
          <p:cNvPr id="8" name="Text 5"/>
          <p:cNvSpPr txBox="1"/>
          <p:nvPr/>
        </p:nvSpPr>
        <p:spPr>
          <a:xfrm>
            <a:off x="1152144" y="2272284"/>
            <a:ext cx="471373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50"/>
              </a:lnSpc>
              <a:buNone/>
            </a:pPr>
            <a:r>
              <a:rPr lang="en-US" sz="100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real read from the school's own records returns</a:t>
            </a:r>
            <a:endParaRPr lang="en-US" sz="1000" dirty="0"/>
          </a:p>
        </p:txBody>
      </p:sp>
      <p:sp>
        <p:nvSpPr>
          <p:cNvPr id="9" name="Shape 6"/>
          <p:cNvSpPr/>
          <p:nvPr/>
        </p:nvSpPr>
        <p:spPr>
          <a:xfrm>
            <a:off x="640080" y="2990088"/>
            <a:ext cx="384048" cy="384048"/>
          </a:xfrm>
          <a:prstGeom prst="ellipse">
            <a:avLst/>
          </a:prstGeom>
          <a:solidFill>
            <a:srgbClr val="CADCFC"/>
          </a:solidFill>
          <a:ln w="12700">
            <a:solidFill>
              <a:srgbClr val="CADCFC"/>
            </a:solidFill>
            <a:prstDash val="solid"/>
          </a:ln>
        </p:spPr>
      </p:sp>
      <p:pic>
        <p:nvPicPr>
          <p:cNvPr id="10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5236" y="3095244"/>
            <a:ext cx="173736" cy="173736"/>
          </a:xfrm>
          <a:prstGeom prst="rect">
            <a:avLst/>
          </a:prstGeom>
        </p:spPr>
      </p:pic>
      <p:sp>
        <p:nvSpPr>
          <p:cNvPr id="11" name="Text 7"/>
          <p:cNvSpPr txBox="1"/>
          <p:nvPr/>
        </p:nvSpPr>
        <p:spPr>
          <a:xfrm>
            <a:off x="1152144" y="2935224"/>
            <a:ext cx="47137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Security rules deployed</a:t>
            </a:r>
            <a:endParaRPr lang="en-US" sz="1250" dirty="0"/>
          </a:p>
        </p:txBody>
      </p:sp>
      <p:sp>
        <p:nvSpPr>
          <p:cNvPr id="12" name="Text 8"/>
          <p:cNvSpPr txBox="1"/>
          <p:nvPr/>
        </p:nvSpPr>
        <p:spPr>
          <a:xfrm>
            <a:off x="1152144" y="3168396"/>
            <a:ext cx="471373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50"/>
              </a:lnSpc>
              <a:buNone/>
            </a:pPr>
            <a:r>
              <a:rPr lang="en-US" sz="100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write the rules must refuse IS refused - the check that matters most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640080" y="3886200"/>
            <a:ext cx="384048" cy="384048"/>
          </a:xfrm>
          <a:prstGeom prst="ellipse">
            <a:avLst/>
          </a:prstGeom>
          <a:solidFill>
            <a:srgbClr val="CADCFC"/>
          </a:solidFill>
          <a:ln w="12700">
            <a:solidFill>
              <a:srgbClr val="CADCFC"/>
            </a:solidFill>
            <a:prstDash val="solid"/>
          </a:ln>
        </p:spPr>
      </p:sp>
      <p:pic>
        <p:nvPicPr>
          <p:cNvPr id="14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45236" y="3991356"/>
            <a:ext cx="173736" cy="173736"/>
          </a:xfrm>
          <a:prstGeom prst="rect">
            <a:avLst/>
          </a:prstGeom>
        </p:spPr>
      </p:pic>
      <p:sp>
        <p:nvSpPr>
          <p:cNvPr id="15" name="Text 10"/>
          <p:cNvSpPr txBox="1"/>
          <p:nvPr/>
        </p:nvSpPr>
        <p:spPr>
          <a:xfrm>
            <a:off x="1152144" y="3831336"/>
            <a:ext cx="47137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Server functions deployed</a:t>
            </a:r>
            <a:endParaRPr lang="en-US" sz="1250" dirty="0"/>
          </a:p>
        </p:txBody>
      </p:sp>
      <p:sp>
        <p:nvSpPr>
          <p:cNvPr id="16" name="Text 11"/>
          <p:cNvSpPr txBox="1"/>
          <p:nvPr/>
        </p:nvSpPr>
        <p:spPr>
          <a:xfrm>
            <a:off x="1152144" y="4064508"/>
            <a:ext cx="471373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50"/>
              </a:lnSpc>
              <a:buNone/>
            </a:pPr>
            <a:r>
              <a:rPr lang="en-US" sz="100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callable answers, in the right region</a:t>
            </a:r>
            <a:endParaRPr lang="en-US" sz="1000" dirty="0"/>
          </a:p>
        </p:txBody>
      </p:sp>
      <p:sp>
        <p:nvSpPr>
          <p:cNvPr id="17" name="Shape 12"/>
          <p:cNvSpPr/>
          <p:nvPr/>
        </p:nvSpPr>
        <p:spPr>
          <a:xfrm>
            <a:off x="640080" y="4782312"/>
            <a:ext cx="384048" cy="384048"/>
          </a:xfrm>
          <a:prstGeom prst="ellipse">
            <a:avLst/>
          </a:prstGeom>
          <a:solidFill>
            <a:srgbClr val="CADCFC"/>
          </a:solidFill>
          <a:ln w="12700">
            <a:solidFill>
              <a:srgbClr val="CADCFC"/>
            </a:solidFill>
            <a:prstDash val="solid"/>
          </a:ln>
        </p:spPr>
      </p:sp>
      <p:pic>
        <p:nvPicPr>
          <p:cNvPr id="18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45236" y="4887468"/>
            <a:ext cx="173736" cy="173736"/>
          </a:xfrm>
          <a:prstGeom prst="rect">
            <a:avLst/>
          </a:prstGeom>
        </p:spPr>
      </p:pic>
      <p:sp>
        <p:nvSpPr>
          <p:cNvPr id="19" name="Text 13"/>
          <p:cNvSpPr txBox="1"/>
          <p:nvPr/>
        </p:nvSpPr>
        <p:spPr>
          <a:xfrm>
            <a:off x="1152144" y="4727448"/>
            <a:ext cx="47137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Database indexes created</a:t>
            </a:r>
            <a:endParaRPr lang="en-US" sz="1250" dirty="0"/>
          </a:p>
        </p:txBody>
      </p:sp>
      <p:sp>
        <p:nvSpPr>
          <p:cNvPr id="20" name="Text 14"/>
          <p:cNvSpPr txBox="1"/>
          <p:nvPr/>
        </p:nvSpPr>
        <p:spPr>
          <a:xfrm>
            <a:off x="1152144" y="4960620"/>
            <a:ext cx="471373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50"/>
              </a:lnSpc>
              <a:buNone/>
            </a:pPr>
            <a:r>
              <a:rPr lang="en-US" sz="100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queries the app depends on actually run</a:t>
            </a:r>
            <a:endParaRPr lang="en-US" sz="1000" dirty="0"/>
          </a:p>
        </p:txBody>
      </p:sp>
      <p:sp>
        <p:nvSpPr>
          <p:cNvPr id="21" name="Shape 15"/>
          <p:cNvSpPr/>
          <p:nvPr/>
        </p:nvSpPr>
        <p:spPr>
          <a:xfrm>
            <a:off x="6323076" y="2093976"/>
            <a:ext cx="384048" cy="384048"/>
          </a:xfrm>
          <a:prstGeom prst="ellipse">
            <a:avLst/>
          </a:prstGeom>
          <a:solidFill>
            <a:srgbClr val="CADCFC"/>
          </a:solidFill>
          <a:ln w="12700">
            <a:solidFill>
              <a:srgbClr val="CADCFC"/>
            </a:solidFill>
            <a:prstDash val="solid"/>
          </a:ln>
        </p:spPr>
      </p:sp>
      <p:pic>
        <p:nvPicPr>
          <p:cNvPr id="22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428232" y="2199132"/>
            <a:ext cx="173736" cy="173736"/>
          </a:xfrm>
          <a:prstGeom prst="rect">
            <a:avLst/>
          </a:prstGeom>
        </p:spPr>
      </p:pic>
      <p:sp>
        <p:nvSpPr>
          <p:cNvPr id="23" name="Text 16"/>
          <p:cNvSpPr txBox="1"/>
          <p:nvPr/>
        </p:nvSpPr>
        <p:spPr>
          <a:xfrm>
            <a:off x="6835140" y="2039112"/>
            <a:ext cx="47137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File storage writable</a:t>
            </a:r>
            <a:endParaRPr lang="en-US" sz="1250" dirty="0"/>
          </a:p>
        </p:txBody>
      </p:sp>
      <p:sp>
        <p:nvSpPr>
          <p:cNvPr id="24" name="Text 17"/>
          <p:cNvSpPr txBox="1"/>
          <p:nvPr/>
        </p:nvSpPr>
        <p:spPr>
          <a:xfrm>
            <a:off x="6835140" y="2272284"/>
            <a:ext cx="471373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50"/>
              </a:lnSpc>
              <a:buNone/>
            </a:pPr>
            <a:r>
              <a:rPr lang="en-US" sz="100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probe file is written and removed again</a:t>
            </a:r>
            <a:endParaRPr lang="en-US" sz="1000" dirty="0"/>
          </a:p>
        </p:txBody>
      </p:sp>
      <p:sp>
        <p:nvSpPr>
          <p:cNvPr id="25" name="Shape 18"/>
          <p:cNvSpPr/>
          <p:nvPr/>
        </p:nvSpPr>
        <p:spPr>
          <a:xfrm>
            <a:off x="6323076" y="2990088"/>
            <a:ext cx="384048" cy="384048"/>
          </a:xfrm>
          <a:prstGeom prst="ellipse">
            <a:avLst/>
          </a:prstGeom>
          <a:solidFill>
            <a:srgbClr val="CADCFC"/>
          </a:solidFill>
          <a:ln w="12700">
            <a:solidFill>
              <a:srgbClr val="CADCFC"/>
            </a:solidFill>
            <a:prstDash val="solid"/>
          </a:ln>
        </p:spPr>
      </p:sp>
      <p:pic>
        <p:nvPicPr>
          <p:cNvPr id="26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428232" y="3095244"/>
            <a:ext cx="173736" cy="173736"/>
          </a:xfrm>
          <a:prstGeom prst="rect">
            <a:avLst/>
          </a:prstGeom>
        </p:spPr>
      </p:pic>
      <p:sp>
        <p:nvSpPr>
          <p:cNvPr id="27" name="Text 19"/>
          <p:cNvSpPr txBox="1"/>
          <p:nvPr/>
        </p:nvSpPr>
        <p:spPr>
          <a:xfrm>
            <a:off x="6835140" y="2935224"/>
            <a:ext cx="47137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Account claims set</a:t>
            </a:r>
            <a:endParaRPr lang="en-US" sz="1250" dirty="0"/>
          </a:p>
        </p:txBody>
      </p:sp>
      <p:sp>
        <p:nvSpPr>
          <p:cNvPr id="28" name="Text 20"/>
          <p:cNvSpPr txBox="1"/>
          <p:nvPr/>
        </p:nvSpPr>
        <p:spPr>
          <a:xfrm>
            <a:off x="6835140" y="3168396"/>
            <a:ext cx="471373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50"/>
              </a:lnSpc>
              <a:buNone/>
            </a:pPr>
            <a:r>
              <a:rPr lang="en-US" sz="100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signed-in account carries its role and its school</a:t>
            </a:r>
            <a:endParaRPr lang="en-US" sz="1000" dirty="0"/>
          </a:p>
        </p:txBody>
      </p:sp>
      <p:sp>
        <p:nvSpPr>
          <p:cNvPr id="29" name="Shape 21"/>
          <p:cNvSpPr/>
          <p:nvPr/>
        </p:nvSpPr>
        <p:spPr>
          <a:xfrm>
            <a:off x="6323076" y="3886200"/>
            <a:ext cx="384048" cy="384048"/>
          </a:xfrm>
          <a:prstGeom prst="ellipse">
            <a:avLst/>
          </a:prstGeom>
          <a:solidFill>
            <a:srgbClr val="CADCFC"/>
          </a:solidFill>
          <a:ln w="12700">
            <a:solidFill>
              <a:srgbClr val="CADCFC"/>
            </a:solidFill>
            <a:prstDash val="solid"/>
          </a:ln>
        </p:spPr>
      </p:sp>
      <p:pic>
        <p:nvPicPr>
          <p:cNvPr id="30" name="Image 6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428232" y="3991356"/>
            <a:ext cx="173736" cy="173736"/>
          </a:xfrm>
          <a:prstGeom prst="rect">
            <a:avLst/>
          </a:prstGeom>
        </p:spPr>
      </p:pic>
      <p:sp>
        <p:nvSpPr>
          <p:cNvPr id="31" name="Text 22"/>
          <p:cNvSpPr txBox="1"/>
          <p:nvPr/>
        </p:nvSpPr>
        <p:spPr>
          <a:xfrm>
            <a:off x="6835140" y="3831336"/>
            <a:ext cx="47137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School details filled in</a:t>
            </a:r>
            <a:endParaRPr lang="en-US" sz="1250" dirty="0"/>
          </a:p>
        </p:txBody>
      </p:sp>
      <p:sp>
        <p:nvSpPr>
          <p:cNvPr id="32" name="Text 23"/>
          <p:cNvSpPr txBox="1"/>
          <p:nvPr/>
        </p:nvSpPr>
        <p:spPr>
          <a:xfrm>
            <a:off x="6835140" y="4064508"/>
            <a:ext cx="471373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50"/>
              </a:lnSpc>
              <a:buNone/>
            </a:pPr>
            <a:r>
              <a:rPr lang="en-US" sz="100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Name, logo, year, principal and DPO - a warning, not a failure</a:t>
            </a:r>
            <a:endParaRPr lang="en-US" sz="1000" dirty="0"/>
          </a:p>
        </p:txBody>
      </p:sp>
      <p:sp>
        <p:nvSpPr>
          <p:cNvPr id="33" name="Shape 24"/>
          <p:cNvSpPr/>
          <p:nvPr/>
        </p:nvSpPr>
        <p:spPr>
          <a:xfrm>
            <a:off x="640080" y="5623560"/>
            <a:ext cx="10908792" cy="777240"/>
          </a:xfrm>
          <a:prstGeom prst="roundRect">
            <a:avLst>
              <a:gd name="adj" fmla="val 11765"/>
            </a:avLst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34" name="Shape 25"/>
          <p:cNvSpPr/>
          <p:nvPr/>
        </p:nvSpPr>
        <p:spPr>
          <a:xfrm>
            <a:off x="932688" y="5783580"/>
            <a:ext cx="457200" cy="457200"/>
          </a:xfrm>
          <a:prstGeom prst="ellipse">
            <a:avLst/>
          </a:prstGeom>
          <a:solidFill>
            <a:srgbClr val="E8A33D"/>
          </a:solidFill>
          <a:ln w="12700">
            <a:solidFill>
              <a:srgbClr val="333333"/>
            </a:solidFill>
            <a:prstDash val="solid"/>
          </a:ln>
        </p:spPr>
      </p:sp>
      <p:pic>
        <p:nvPicPr>
          <p:cNvPr id="35" name="Image 7" descr="preencoded.p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046988" y="5897880"/>
            <a:ext cx="228600" cy="228600"/>
          </a:xfrm>
          <a:prstGeom prst="rect">
            <a:avLst/>
          </a:prstGeom>
        </p:spPr>
      </p:pic>
      <p:sp>
        <p:nvSpPr>
          <p:cNvPr id="36" name="Text 26"/>
          <p:cNvSpPr txBox="1"/>
          <p:nvPr/>
        </p:nvSpPr>
        <p:spPr>
          <a:xfrm>
            <a:off x="1600200" y="5623560"/>
            <a:ext cx="958291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CADCF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database left in test mode behaves perfectly - right up to the day one school reads another's records. This is the check that catches it.</a:t>
            </a:r>
            <a:endParaRPr lang="en-US" sz="150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141B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2011680" y="3108960"/>
            <a:ext cx="6035040" cy="6035040"/>
          </a:xfrm>
          <a:prstGeom prst="ellipse">
            <a:avLst/>
          </a:prstGeom>
          <a:solidFill>
            <a:srgbClr val="1E276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0" y="1965960"/>
            <a:ext cx="694944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4600"/>
              </a:lnSpc>
              <a:buNone/>
            </a:pPr>
            <a:r>
              <a:rPr lang="en-US" sz="4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See it with your own school's data</a:t>
            </a:r>
            <a:endParaRPr lang="en-US" sz="4000" dirty="0"/>
          </a:p>
        </p:txBody>
      </p:sp>
      <p:sp>
        <p:nvSpPr>
          <p:cNvPr id="4" name="Text 2"/>
          <p:cNvSpPr txBox="1"/>
          <p:nvPr/>
        </p:nvSpPr>
        <p:spPr>
          <a:xfrm>
            <a:off x="4572000" y="3429000"/>
            <a:ext cx="676656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300"/>
              </a:lnSpc>
              <a:buNone/>
            </a:pPr>
            <a:r>
              <a:rPr lang="en-US" sz="14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Bring one section's roster, one term of grades and last month's collections. We load them in front of you, and you click through the portals your own staff would use.</a:t>
            </a:r>
            <a:endParaRPr lang="en-US" sz="1450" dirty="0"/>
          </a:p>
        </p:txBody>
      </p:sp>
      <p:sp>
        <p:nvSpPr>
          <p:cNvPr id="5" name="Text 3"/>
          <p:cNvSpPr txBox="1"/>
          <p:nvPr/>
        </p:nvSpPr>
        <p:spPr>
          <a:xfrm>
            <a:off x="4572000" y="4892040"/>
            <a:ext cx="6766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E8A3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LogicClass</a:t>
            </a:r>
            <a:endParaRPr lang="en-US" sz="24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27</Slides>
  <Notes>27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27</vt:i4>
      </vt:variant>
    </vt:vector>
  </HeadingPairs>
  <TitlesOfParts>
    <vt:vector size="3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LogicClass - School Management System</dc:title>
  <dc:subject>PptxGenJS Presentation</dc:subject>
  <dc:creator>LogicClass</dc:creator>
  <cp:lastModifiedBy>LogicClass</cp:lastModifiedBy>
  <cp:revision>1</cp:revision>
  <dcterms:created xsi:type="dcterms:W3CDTF">2026-08-30T01:51:25Z</dcterms:created>
  <dcterms:modified xsi:type="dcterms:W3CDTF">2026-08-30T01:51:25Z</dcterms:modified>
</cp:coreProperties>
</file>