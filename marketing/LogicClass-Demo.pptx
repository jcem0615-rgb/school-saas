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</p:sldIdLst>
  <p:notesMasterIdLst>
    <p:notesMasterId r:id="rId4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notesMaster" Target="notesMasters/notesMaster1.xml"/><Relationship Id="rId41" Type="http://schemas.openxmlformats.org/officeDocument/2006/relationships/presProps" Target="presProps.xml"/><Relationship Id="rId42" Type="http://schemas.openxmlformats.org/officeDocument/2006/relationships/viewProps" Target="viewProps.xml"/><Relationship Id="rId43" Type="http://schemas.openxmlformats.org/officeDocument/2006/relationships/theme" Target="theme/theme1.xml"/><Relationship Id="rId4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here. Say what LogicClass is in one line, then move straight to the school day it replaces.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Keep this short. The audience already lives this; you are showing that you know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Point out that the parent and student portals exist from day one - this is not a back-office-only system.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slide that answers "can the head of school see everything?" - yes, including who changed what.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things worth saying out loud: the division boundary is enforced in the database rules rather than hidden in the UI, and "oversight, not data entry" is literal - a Principal has no edit buttons on any of these. Same for the Director.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Branding is what makes the printed ID cards and the Form 137 look like the school's own paper.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Admin is the operator role - the person who keeps the school configured week to week.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Registration issues a sequential student number the client cannot forge - S-2026-000001.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on the follow-up list. Two families who enquired three weeks ago and were never rung back is the number a school loses its year 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balance is server-owned: only a recorded payment or refund moves it, never a stray edit.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grade can be corrected but never silently reassigned to a different student - the rule refuses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Auto-marking is the demo moment: paste a key, watch the marks appear.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the class record in the demo and type a mark - the grade moves as you save. Two things teachers react to: a missing exam is not a zero, and a corrected mark replaces rather than doubling. Every other system they have used gets one of those wrong.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guidance-record privacy asymmetry is a question a school WILL ask. Answer it before they 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Students not issued a login still exist as records - the school decides who gets an account.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banner is deliberate: a push notification can be missed, so the app tells them anyway.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"server decides late" point kills the obvious cheat - changing the phone clock.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one a subject teacher asks for in the first ten minutes. Pair it with the grades screen.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Six steps, one screen each. Walk it live if there is time.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Vouchers are the slide a Philippine private school leans forward for - nobody else models the PEAC receivable.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a differentiator for smaller schools: no merchant account, no gateway fees.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the concurrency point out loud: no two receipts can carry the same serial, ever.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"not even the principal" point is the one that gets a reaction. It is also what makes the channel worth having.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sheet payroll is run from - the next slide is the run itself.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refusal to ship rate tables is the credibility line. A wrong bracket looks entirely plausible on a payslip, and it is somebody short every payday.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Ask the room who currently has the LCD projector. Nobody will know, and that is the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inbox is the part competitors skip. Push alone means the school cannot prove it told anybody.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release log is the part registrars react to - it is the question they get asked years later.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Ask how long last April took. The answer is usually days, and always at least one argument about who decided what.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Ask the school for their worst timetable clash story, then show it being refused.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Enrolment ignores the date range on purpose - it is a head count, not a period figure.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Keep this slide slow. It is the one that gets remembered.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blank template removes the "what columns do you want?" phone call.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they have an IT person in the room, this is the slide they will ask about.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Most competitors cannot answer this. Lead with it if the DPO is in the room.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app store account needed on the school side for Android - the APK is handed over directly.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test-mode database looks perfect until the day one school reads another's records. This catches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by asking for their data, then hand them the laptop. Do not talk over the first thing they tap.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image" Target="../media/image-3-7.png"/><Relationship Id="rId8" Type="http://schemas.openxmlformats.org/officeDocument/2006/relationships/image" Target="../media/image-3-8.png"/><Relationship Id="rId9" Type="http://schemas.openxmlformats.org/officeDocument/2006/relationships/image" Target="../media/image-3-9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image" Target="../media/image-4-7.png"/><Relationship Id="rId8" Type="http://schemas.openxmlformats.org/officeDocument/2006/relationships/image" Target="../media/image-4-8.png"/><Relationship Id="rId9" Type="http://schemas.openxmlformats.org/officeDocument/2006/relationships/image" Target="../media/image-4-9.png"/><Relationship Id="rId10" Type="http://schemas.openxmlformats.org/officeDocument/2006/relationships/image" Target="../media/image-4-10.png"/><Relationship Id="rId11" Type="http://schemas.openxmlformats.org/officeDocument/2006/relationships/image" Target="../media/image-4-11.png"/><Relationship Id="rId12" Type="http://schemas.openxmlformats.org/officeDocument/2006/relationships/image" Target="../media/image-4-12.pn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image" Target="../media/image-5-7.png"/><Relationship Id="rId8" Type="http://schemas.openxmlformats.org/officeDocument/2006/relationships/image" Target="../media/image-5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image" Target="../media/image-6-7.png"/><Relationship Id="rId8" Type="http://schemas.openxmlformats.org/officeDocument/2006/relationships/image" Target="../media/image-6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image" Target="../media/image-7-7.png"/><Relationship Id="rId8" Type="http://schemas.openxmlformats.org/officeDocument/2006/relationships/image" Target="../media/image-7-8.png"/><Relationship Id="rId9" Type="http://schemas.openxmlformats.org/officeDocument/2006/relationships/image" Target="../media/image-7-9.png"/><Relationship Id="rId10" Type="http://schemas.openxmlformats.org/officeDocument/2006/relationships/image" Target="../media/image-7-10.png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image" Target="../media/image-9-6.png"/><Relationship Id="rId7" Type="http://schemas.openxmlformats.org/officeDocument/2006/relationships/image" Target="../media/image-9-7.png"/><Relationship Id="rId8" Type="http://schemas.openxmlformats.org/officeDocument/2006/relationships/image" Target="../media/image-9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image" Target="../media/image-10-6.png"/><Relationship Id="rId7" Type="http://schemas.openxmlformats.org/officeDocument/2006/relationships/image" Target="../media/image-10-7.png"/><Relationship Id="rId8" Type="http://schemas.openxmlformats.org/officeDocument/2006/relationships/image" Target="../media/image-10-8.png"/><Relationship Id="rId9" Type="http://schemas.openxmlformats.org/officeDocument/2006/relationships/image" Target="../media/image-10-9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image" Target="../media/image-11-7.png"/><Relationship Id="rId8" Type="http://schemas.openxmlformats.org/officeDocument/2006/relationships/image" Target="../media/image-11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image" Target="../media/image-14-5.png"/><Relationship Id="rId6" Type="http://schemas.openxmlformats.org/officeDocument/2006/relationships/image" Target="../media/image-14-6.png"/><Relationship Id="rId7" Type="http://schemas.openxmlformats.org/officeDocument/2006/relationships/image" Target="../media/image-14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image" Target="../media/image-15-5.png"/><Relationship Id="rId6" Type="http://schemas.openxmlformats.org/officeDocument/2006/relationships/image" Target="../media/image-15-6.png"/><Relationship Id="rId7" Type="http://schemas.openxmlformats.org/officeDocument/2006/relationships/image" Target="../media/image-15-7.png"/><Relationship Id="rId8" Type="http://schemas.openxmlformats.org/officeDocument/2006/relationships/image" Target="../media/image-15-8.png"/><Relationship Id="rId9" Type="http://schemas.openxmlformats.org/officeDocument/2006/relationships/image" Target="../media/image-15-9.png"/><Relationship Id="rId10" Type="http://schemas.openxmlformats.org/officeDocument/2006/relationships/image" Target="../media/image-15-10.png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image" Target="../media/image-16-5.png"/><Relationship Id="rId6" Type="http://schemas.openxmlformats.org/officeDocument/2006/relationships/image" Target="../media/image-16-6.png"/><Relationship Id="rId7" Type="http://schemas.openxmlformats.org/officeDocument/2006/relationships/image" Target="../media/image-16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image" Target="../media/image-1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image" Target="../media/image-19-4.png"/><Relationship Id="rId5" Type="http://schemas.openxmlformats.org/officeDocument/2006/relationships/image" Target="../media/image-19-5.png"/><Relationship Id="rId6" Type="http://schemas.openxmlformats.org/officeDocument/2006/relationships/image" Target="../media/image-19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image" Target="../media/image-2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4" Type="http://schemas.openxmlformats.org/officeDocument/2006/relationships/image" Target="../media/image-2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image" Target="../media/image-22-3.png"/><Relationship Id="rId4" Type="http://schemas.openxmlformats.org/officeDocument/2006/relationships/image" Target="../media/image-22-4.png"/><Relationship Id="rId5" Type="http://schemas.openxmlformats.org/officeDocument/2006/relationships/image" Target="../media/image-2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image" Target="../media/image-23-3.png"/><Relationship Id="rId4" Type="http://schemas.openxmlformats.org/officeDocument/2006/relationships/image" Target="../media/image-2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image" Target="../media/image-24-3.png"/><Relationship Id="rId4" Type="http://schemas.openxmlformats.org/officeDocument/2006/relationships/image" Target="../media/image-2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image" Target="../media/image-25-3.png"/><Relationship Id="rId4" Type="http://schemas.openxmlformats.org/officeDocument/2006/relationships/image" Target="../media/image-25-4.png"/><Relationship Id="rId5" Type="http://schemas.openxmlformats.org/officeDocument/2006/relationships/image" Target="../media/image-25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image" Target="../media/image-26-3.png"/><Relationship Id="rId4" Type="http://schemas.openxmlformats.org/officeDocument/2006/relationships/image" Target="../media/image-26-4.png"/><Relationship Id="rId5" Type="http://schemas.openxmlformats.org/officeDocument/2006/relationships/image" Target="../media/image-26-5.png"/><Relationship Id="rId6" Type="http://schemas.openxmlformats.org/officeDocument/2006/relationships/image" Target="../media/image-26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3" Type="http://schemas.openxmlformats.org/officeDocument/2006/relationships/image" Target="../media/image-27-3.png"/><Relationship Id="rId4" Type="http://schemas.openxmlformats.org/officeDocument/2006/relationships/image" Target="../media/image-27-4.png"/><Relationship Id="rId5" Type="http://schemas.openxmlformats.org/officeDocument/2006/relationships/image" Target="../media/image-27-5.png"/><Relationship Id="rId6" Type="http://schemas.openxmlformats.org/officeDocument/2006/relationships/image" Target="../media/image-27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28-2.png"/><Relationship Id="rId3" Type="http://schemas.openxmlformats.org/officeDocument/2006/relationships/image" Target="../media/image-28-3.png"/><Relationship Id="rId4" Type="http://schemas.openxmlformats.org/officeDocument/2006/relationships/image" Target="../media/image-2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image" Target="../media/image-29-2.png"/><Relationship Id="rId3" Type="http://schemas.openxmlformats.org/officeDocument/2006/relationships/image" Target="../media/image-29-3.png"/><Relationship Id="rId4" Type="http://schemas.openxmlformats.org/officeDocument/2006/relationships/image" Target="../media/image-29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image" Target="../media/image-30-2.png"/><Relationship Id="rId3" Type="http://schemas.openxmlformats.org/officeDocument/2006/relationships/image" Target="../media/image-30-3.png"/><Relationship Id="rId4" Type="http://schemas.openxmlformats.org/officeDocument/2006/relationships/image" Target="../media/image-30-4.png"/><Relationship Id="rId5" Type="http://schemas.openxmlformats.org/officeDocument/2006/relationships/image" Target="../media/image-30-5.png"/><Relationship Id="rId6" Type="http://schemas.openxmlformats.org/officeDocument/2006/relationships/image" Target="../media/image-30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image" Target="../media/image-31-2.png"/><Relationship Id="rId3" Type="http://schemas.openxmlformats.org/officeDocument/2006/relationships/image" Target="../media/image-31-3.png"/><Relationship Id="rId4" Type="http://schemas.openxmlformats.org/officeDocument/2006/relationships/image" Target="../media/image-31-4.png"/><Relationship Id="rId5" Type="http://schemas.openxmlformats.org/officeDocument/2006/relationships/image" Target="../media/image-31-5.png"/><Relationship Id="rId6" Type="http://schemas.openxmlformats.org/officeDocument/2006/relationships/image" Target="../media/image-3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image" Target="../media/image-32-2.png"/><Relationship Id="rId3" Type="http://schemas.openxmlformats.org/officeDocument/2006/relationships/image" Target="../media/image-32-3.png"/><Relationship Id="rId4" Type="http://schemas.openxmlformats.org/officeDocument/2006/relationships/image" Target="../media/image-3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image" Target="../media/image-33-2.png"/><Relationship Id="rId3" Type="http://schemas.openxmlformats.org/officeDocument/2006/relationships/image" Target="../media/image-33-3.png"/><Relationship Id="rId4" Type="http://schemas.openxmlformats.org/officeDocument/2006/relationships/image" Target="../media/image-33-4.png"/><Relationship Id="rId5" Type="http://schemas.openxmlformats.org/officeDocument/2006/relationships/image" Target="../media/image-33-5.png"/><Relationship Id="rId6" Type="http://schemas.openxmlformats.org/officeDocument/2006/relationships/image" Target="../media/image-33-6.png"/><Relationship Id="rId7" Type="http://schemas.openxmlformats.org/officeDocument/2006/relationships/image" Target="../media/image-33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image" Target="../media/image-34-2.png"/><Relationship Id="rId3" Type="http://schemas.openxmlformats.org/officeDocument/2006/relationships/image" Target="../media/image-34-3.png"/><Relationship Id="rId4" Type="http://schemas.openxmlformats.org/officeDocument/2006/relationships/image" Target="../media/image-3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image" Target="../media/image-35-2.png"/><Relationship Id="rId3" Type="http://schemas.openxmlformats.org/officeDocument/2006/relationships/image" Target="../media/image-35-3.png"/><Relationship Id="rId4" Type="http://schemas.openxmlformats.org/officeDocument/2006/relationships/image" Target="../media/image-35-4.png"/><Relationship Id="rId5" Type="http://schemas.openxmlformats.org/officeDocument/2006/relationships/image" Target="../media/image-35-5.png"/><Relationship Id="rId6" Type="http://schemas.openxmlformats.org/officeDocument/2006/relationships/image" Target="../media/image-35-6.png"/><Relationship Id="rId7" Type="http://schemas.openxmlformats.org/officeDocument/2006/relationships/image" Target="../media/image-35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image" Target="../media/image-36-2.png"/><Relationship Id="rId3" Type="http://schemas.openxmlformats.org/officeDocument/2006/relationships/image" Target="../media/image-36-3.png"/><Relationship Id="rId4" Type="http://schemas.openxmlformats.org/officeDocument/2006/relationships/image" Target="../media/image-3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png"/><Relationship Id="rId2" Type="http://schemas.openxmlformats.org/officeDocument/2006/relationships/image" Target="../media/image-37-2.png"/><Relationship Id="rId3" Type="http://schemas.openxmlformats.org/officeDocument/2006/relationships/image" Target="../media/image-37-3.png"/><Relationship Id="rId4" Type="http://schemas.openxmlformats.org/officeDocument/2006/relationships/image" Target="../media/image-37-4.png"/><Relationship Id="rId5" Type="http://schemas.openxmlformats.org/officeDocument/2006/relationships/image" Target="../media/image-37-5.png"/><Relationship Id="rId6" Type="http://schemas.openxmlformats.org/officeDocument/2006/relationships/image" Target="../media/image-37-6.png"/><Relationship Id="rId7" Type="http://schemas.openxmlformats.org/officeDocument/2006/relationships/image" Target="../media/image-37-7.png"/><Relationship Id="rId8" Type="http://schemas.openxmlformats.org/officeDocument/2006/relationships/image" Target="../media/image-37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1737360"/>
            <a:ext cx="5669280" cy="566928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332720" y="4206240"/>
            <a:ext cx="3108960" cy="3108960"/>
          </a:xfrm>
          <a:prstGeom prst="ellipse">
            <a:avLst/>
          </a:prstGeom>
          <a:solidFill>
            <a:srgbClr val="2530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1874520"/>
            <a:ext cx="76809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LogicClass</a:t>
            </a:r>
            <a:endParaRPr lang="en-US" sz="6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292608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system for the whole school day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3520440"/>
            <a:ext cx="7406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4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Admissions, enrolment, attendance, grades, fees, payroll, records, schedules, reports and safety - in one app your Director, Principal, Admin, Registrar, Faculty, Guidance, Staff, Students and Parents each sign in to and see only their own part of.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640080" y="4892040"/>
            <a:ext cx="2331720" cy="475488"/>
          </a:xfrm>
          <a:prstGeom prst="roundRect">
            <a:avLst>
              <a:gd name="adj" fmla="val 50000"/>
            </a:avLst>
          </a:prstGeom>
          <a:solidFill>
            <a:srgbClr val="1E2761"/>
          </a:solidFill>
          <a:ln w="12700">
            <a:solidFill>
              <a:srgbClr val="3A478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0080" y="4892040"/>
            <a:ext cx="2331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role portals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154680" y="4892040"/>
            <a:ext cx="2331720" cy="475488"/>
          </a:xfrm>
          <a:prstGeom prst="roundRect">
            <a:avLst>
              <a:gd name="adj" fmla="val 50000"/>
            </a:avLst>
          </a:prstGeom>
          <a:solidFill>
            <a:srgbClr val="1E2761"/>
          </a:solidFill>
          <a:ln w="12700">
            <a:solidFill>
              <a:srgbClr val="3A478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154680" y="4892040"/>
            <a:ext cx="2331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Android . Windows . Web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669280" y="4892040"/>
            <a:ext cx="2331720" cy="475488"/>
          </a:xfrm>
          <a:prstGeom prst="roundRect">
            <a:avLst>
              <a:gd name="adj" fmla="val 50000"/>
            </a:avLst>
          </a:prstGeom>
          <a:solidFill>
            <a:srgbClr val="1E2761"/>
          </a:solidFill>
          <a:ln w="12700">
            <a:solidFill>
              <a:srgbClr val="3A4783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669280" y="4892040"/>
            <a:ext cx="2331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demo online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640080" y="58978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spc="150" kern="0" dirty="0">
                <a:solidFill>
                  <a:srgbClr val="8895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demo walkthrough for schools</a:t>
            </a:r>
            <a:endParaRPr lang="en-US" sz="11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SCHOOLS ASK FOR THIS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paperwork a school day leaves behind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item below is somebody in the school building copying the same fact into a second place.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1874520"/>
            <a:ext cx="3496056" cy="2148840"/>
          </a:xfrm>
          <a:prstGeom prst="roundRect">
            <a:avLst>
              <a:gd name="adj" fmla="val 4255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77824" y="209397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2124" y="2208276"/>
            <a:ext cx="228600" cy="2286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77824" y="2660904"/>
            <a:ext cx="3020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Records in five books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77824" y="2944368"/>
            <a:ext cx="3020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class record, the registrar's ledger, the cashier's receipt book, the guidance file and the adviser's notebook - each holding part of one student.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346448" y="1874520"/>
            <a:ext cx="3496056" cy="2148840"/>
          </a:xfrm>
          <a:prstGeom prst="roundRect">
            <a:avLst>
              <a:gd name="adj" fmla="val 4255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584192" y="209397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98492" y="2208276"/>
            <a:ext cx="228600" cy="2286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4584192" y="2660904"/>
            <a:ext cx="3020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Attendance copied twice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4584192" y="2944368"/>
            <a:ext cx="3020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Called in the morning, written on a slip, then typed into a spreadsheet at the end of the week - if anyone gets to it.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8052816" y="1874520"/>
            <a:ext cx="3496056" cy="2148840"/>
          </a:xfrm>
          <a:prstGeom prst="roundRect">
            <a:avLst>
              <a:gd name="adj" fmla="val 4255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290560" y="209397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04860" y="2208276"/>
            <a:ext cx="228600" cy="22860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8290560" y="2660904"/>
            <a:ext cx="3020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Balances nobody agrees on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8290560" y="2944368"/>
            <a:ext cx="3020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cashier has one figure, the parent remembers another, and the only way to settle it is to find the receipts.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640080" y="4251960"/>
            <a:ext cx="3496056" cy="2148840"/>
          </a:xfrm>
          <a:prstGeom prst="roundRect">
            <a:avLst>
              <a:gd name="adj" fmla="val 4255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877824" y="44714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2124" y="4585716"/>
            <a:ext cx="228600" cy="22860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877824" y="5038344"/>
            <a:ext cx="3020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 137 takes days</a:t>
            </a:r>
            <a:endParaRPr lang="en-US" sz="1400" dirty="0"/>
          </a:p>
        </p:txBody>
      </p:sp>
      <p:sp>
        <p:nvSpPr>
          <p:cNvPr id="24" name="Text 18"/>
          <p:cNvSpPr txBox="1"/>
          <p:nvPr/>
        </p:nvSpPr>
        <p:spPr>
          <a:xfrm>
            <a:off x="877824" y="5321808"/>
            <a:ext cx="3020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request comes in, somebody pulls the folder, copies the grades by hand, and nothing records that it was released.</a:t>
            </a:r>
            <a:endParaRPr lang="en-US" sz="1100" dirty="0"/>
          </a:p>
        </p:txBody>
      </p:sp>
      <p:sp>
        <p:nvSpPr>
          <p:cNvPr id="25" name="Shape 19"/>
          <p:cNvSpPr/>
          <p:nvPr/>
        </p:nvSpPr>
        <p:spPr>
          <a:xfrm>
            <a:off x="4346448" y="4251960"/>
            <a:ext cx="3496056" cy="2148840"/>
          </a:xfrm>
          <a:prstGeom prst="roundRect">
            <a:avLst>
              <a:gd name="adj" fmla="val 4255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26" name="Shape 20"/>
          <p:cNvSpPr/>
          <p:nvPr/>
        </p:nvSpPr>
        <p:spPr>
          <a:xfrm>
            <a:off x="4584192" y="44714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2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98492" y="4585716"/>
            <a:ext cx="228600" cy="228600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4584192" y="5038344"/>
            <a:ext cx="3020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Parents told last</a:t>
            </a:r>
            <a:endParaRPr lang="en-US" sz="1400" dirty="0"/>
          </a:p>
        </p:txBody>
      </p:sp>
      <p:sp>
        <p:nvSpPr>
          <p:cNvPr id="29" name="Text 22"/>
          <p:cNvSpPr txBox="1"/>
          <p:nvPr/>
        </p:nvSpPr>
        <p:spPr>
          <a:xfrm>
            <a:off x="4584192" y="5321808"/>
            <a:ext cx="3020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fever, a suspension, a summons to the guidance office - the family finds out when the child gets home.</a:t>
            </a:r>
            <a:endParaRPr lang="en-US" sz="1100" dirty="0"/>
          </a:p>
        </p:txBody>
      </p:sp>
      <p:sp>
        <p:nvSpPr>
          <p:cNvPr id="30" name="Shape 23"/>
          <p:cNvSpPr/>
          <p:nvPr/>
        </p:nvSpPr>
        <p:spPr>
          <a:xfrm>
            <a:off x="8052816" y="4251960"/>
            <a:ext cx="3496056" cy="2148840"/>
          </a:xfrm>
          <a:prstGeom prst="roundRect">
            <a:avLst>
              <a:gd name="adj" fmla="val 4255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31" name="Shape 24"/>
          <p:cNvSpPr/>
          <p:nvPr/>
        </p:nvSpPr>
        <p:spPr>
          <a:xfrm>
            <a:off x="8290560" y="44714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32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04860" y="4585716"/>
            <a:ext cx="228600" cy="228600"/>
          </a:xfrm>
          <a:prstGeom prst="rect">
            <a:avLst/>
          </a:prstGeom>
        </p:spPr>
      </p:pic>
      <p:sp>
        <p:nvSpPr>
          <p:cNvPr id="33" name="Text 25"/>
          <p:cNvSpPr txBox="1"/>
          <p:nvPr/>
        </p:nvSpPr>
        <p:spPr>
          <a:xfrm>
            <a:off x="8290560" y="5038344"/>
            <a:ext cx="3020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way to answer "who changed this?"</a:t>
            </a:r>
            <a:endParaRPr lang="en-US" sz="1400" dirty="0"/>
          </a:p>
        </p:txBody>
      </p:sp>
      <p:sp>
        <p:nvSpPr>
          <p:cNvPr id="34" name="Text 26"/>
          <p:cNvSpPr txBox="1"/>
          <p:nvPr/>
        </p:nvSpPr>
        <p:spPr>
          <a:xfrm>
            <a:off x="8290560" y="5321808"/>
            <a:ext cx="3020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grade moves, a balance is edited, a record disappears. Nothing in the school can say who, or when.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IS ORGANISED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Nine portals, one school, one login each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 in once and the app opens on the portal for your role. Nobody chooses a mode, and nobody sees a screen that is not theirs.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32257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5236" y="2427732"/>
            <a:ext cx="173736" cy="17373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152144" y="2267712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Director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1152144" y="2500884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School-wide oversight: reads everything, approves, and edits nothing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40080" y="351129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36" y="3616452"/>
            <a:ext cx="173736" cy="173736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152144" y="3456432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Principal</a:t>
            </a:r>
            <a:endParaRPr lang="en-US" sz="1250" dirty="0"/>
          </a:p>
        </p:txBody>
      </p:sp>
      <p:sp>
        <p:nvSpPr>
          <p:cNvPr id="12" name="Text 8"/>
          <p:cNvSpPr txBox="1"/>
          <p:nvPr/>
        </p:nvSpPr>
        <p:spPr>
          <a:xfrm>
            <a:off x="1152144" y="3689604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Academic leadership for one division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" y="470001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5236" y="4805172"/>
            <a:ext cx="173736" cy="173736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152144" y="4645152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</a:t>
            </a:r>
            <a:endParaRPr lang="en-US" sz="1250" dirty="0"/>
          </a:p>
        </p:txBody>
      </p:sp>
      <p:sp>
        <p:nvSpPr>
          <p:cNvPr id="16" name="Text 11"/>
          <p:cNvSpPr txBox="1"/>
          <p:nvPr/>
        </p:nvSpPr>
        <p:spPr>
          <a:xfrm>
            <a:off x="1152144" y="4878324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People, branding, catalogues, schedules, reports</a:t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4398264" y="232257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03420" y="2427732"/>
            <a:ext cx="173736" cy="173736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4910328" y="2267712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Registrar / Cashier</a:t>
            </a:r>
            <a:endParaRPr lang="en-US" sz="1250" dirty="0"/>
          </a:p>
        </p:txBody>
      </p:sp>
      <p:sp>
        <p:nvSpPr>
          <p:cNvPr id="20" name="Text 14"/>
          <p:cNvSpPr txBox="1"/>
          <p:nvPr/>
        </p:nvSpPr>
        <p:spPr>
          <a:xfrm>
            <a:off x="4910328" y="2500884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Enrolment, records, fees, receipts, forms</a:t>
            </a:r>
            <a:endParaRPr lang="en-US" sz="1000" dirty="0"/>
          </a:p>
        </p:txBody>
      </p:sp>
      <p:sp>
        <p:nvSpPr>
          <p:cNvPr id="21" name="Shape 15"/>
          <p:cNvSpPr/>
          <p:nvPr/>
        </p:nvSpPr>
        <p:spPr>
          <a:xfrm>
            <a:off x="4398264" y="351129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03420" y="3616452"/>
            <a:ext cx="173736" cy="173736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4910328" y="3456432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Faculty</a:t>
            </a:r>
            <a:endParaRPr lang="en-US" sz="1250" dirty="0"/>
          </a:p>
        </p:txBody>
      </p:sp>
      <p:sp>
        <p:nvSpPr>
          <p:cNvPr id="24" name="Text 17"/>
          <p:cNvSpPr txBox="1"/>
          <p:nvPr/>
        </p:nvSpPr>
        <p:spPr>
          <a:xfrm>
            <a:off x="4910328" y="3689604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Coursework, grades, attendance, materials</a:t>
            </a:r>
            <a:endParaRPr lang="en-US" sz="1000" dirty="0"/>
          </a:p>
        </p:txBody>
      </p:sp>
      <p:sp>
        <p:nvSpPr>
          <p:cNvPr id="25" name="Shape 18"/>
          <p:cNvSpPr/>
          <p:nvPr/>
        </p:nvSpPr>
        <p:spPr>
          <a:xfrm>
            <a:off x="4398264" y="470001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03420" y="4805172"/>
            <a:ext cx="173736" cy="173736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4910328" y="4645152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Guidance</a:t>
            </a:r>
            <a:endParaRPr lang="en-US" sz="1250" dirty="0"/>
          </a:p>
        </p:txBody>
      </p:sp>
      <p:sp>
        <p:nvSpPr>
          <p:cNvPr id="28" name="Text 20"/>
          <p:cNvSpPr txBox="1"/>
          <p:nvPr/>
        </p:nvSpPr>
        <p:spPr>
          <a:xfrm>
            <a:off x="4910328" y="4878324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Counselling records and student summons</a:t>
            </a:r>
            <a:endParaRPr lang="en-US" sz="1000" dirty="0"/>
          </a:p>
        </p:txBody>
      </p:sp>
      <p:sp>
        <p:nvSpPr>
          <p:cNvPr id="29" name="Shape 21"/>
          <p:cNvSpPr/>
          <p:nvPr/>
        </p:nvSpPr>
        <p:spPr>
          <a:xfrm>
            <a:off x="8156448" y="232257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30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61604" y="2427732"/>
            <a:ext cx="173736" cy="173736"/>
          </a:xfrm>
          <a:prstGeom prst="rect">
            <a:avLst/>
          </a:prstGeom>
        </p:spPr>
      </p:pic>
      <p:sp>
        <p:nvSpPr>
          <p:cNvPr id="31" name="Text 22"/>
          <p:cNvSpPr txBox="1"/>
          <p:nvPr/>
        </p:nvSpPr>
        <p:spPr>
          <a:xfrm>
            <a:off x="8668512" y="2267712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Staff</a:t>
            </a:r>
            <a:endParaRPr lang="en-US" sz="1250" dirty="0"/>
          </a:p>
        </p:txBody>
      </p:sp>
      <p:sp>
        <p:nvSpPr>
          <p:cNvPr id="32" name="Text 23"/>
          <p:cNvSpPr txBox="1"/>
          <p:nvPr/>
        </p:nvSpPr>
        <p:spPr>
          <a:xfrm>
            <a:off x="8668512" y="2500884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checklist, work log, material requests</a:t>
            </a:r>
            <a:endParaRPr lang="en-US" sz="1000" dirty="0"/>
          </a:p>
        </p:txBody>
      </p:sp>
      <p:sp>
        <p:nvSpPr>
          <p:cNvPr id="33" name="Shape 24"/>
          <p:cNvSpPr/>
          <p:nvPr/>
        </p:nvSpPr>
        <p:spPr>
          <a:xfrm>
            <a:off x="8156448" y="351129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34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261604" y="3616452"/>
            <a:ext cx="173736" cy="173736"/>
          </a:xfrm>
          <a:prstGeom prst="rect">
            <a:avLst/>
          </a:prstGeom>
        </p:spPr>
      </p:pic>
      <p:sp>
        <p:nvSpPr>
          <p:cNvPr id="35" name="Text 25"/>
          <p:cNvSpPr txBox="1"/>
          <p:nvPr/>
        </p:nvSpPr>
        <p:spPr>
          <a:xfrm>
            <a:off x="8668512" y="3456432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</a:t>
            </a:r>
            <a:endParaRPr lang="en-US" sz="1250" dirty="0"/>
          </a:p>
        </p:txBody>
      </p:sp>
      <p:sp>
        <p:nvSpPr>
          <p:cNvPr id="36" name="Text 26"/>
          <p:cNvSpPr txBox="1"/>
          <p:nvPr/>
        </p:nvSpPr>
        <p:spPr>
          <a:xfrm>
            <a:off x="8668512" y="3689604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Subjects, timetable, marks, balance, ID</a:t>
            </a:r>
            <a:endParaRPr lang="en-US" sz="1000" dirty="0"/>
          </a:p>
        </p:txBody>
      </p:sp>
      <p:sp>
        <p:nvSpPr>
          <p:cNvPr id="37" name="Shape 27"/>
          <p:cNvSpPr/>
          <p:nvPr/>
        </p:nvSpPr>
        <p:spPr>
          <a:xfrm>
            <a:off x="8156448" y="470001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38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261604" y="4805172"/>
            <a:ext cx="173736" cy="173736"/>
          </a:xfrm>
          <a:prstGeom prst="rect">
            <a:avLst/>
          </a:prstGeom>
        </p:spPr>
      </p:pic>
      <p:sp>
        <p:nvSpPr>
          <p:cNvPr id="39" name="Text 28"/>
          <p:cNvSpPr txBox="1"/>
          <p:nvPr/>
        </p:nvSpPr>
        <p:spPr>
          <a:xfrm>
            <a:off x="8668512" y="4645152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Parent</a:t>
            </a:r>
            <a:endParaRPr lang="en-US" sz="1250" dirty="0"/>
          </a:p>
        </p:txBody>
      </p:sp>
      <p:sp>
        <p:nvSpPr>
          <p:cNvPr id="40" name="Text 29"/>
          <p:cNvSpPr txBox="1"/>
          <p:nvPr/>
        </p:nvSpPr>
        <p:spPr>
          <a:xfrm>
            <a:off x="8668512" y="4878324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linked child in one place</a:t>
            </a:r>
            <a:endParaRPr lang="en-US" sz="1000" dirty="0"/>
          </a:p>
        </p:txBody>
      </p:sp>
      <p:sp>
        <p:nvSpPr>
          <p:cNvPr id="41" name="Text 30"/>
          <p:cNvSpPr txBox="1"/>
          <p:nvPr/>
        </p:nvSpPr>
        <p:spPr>
          <a:xfrm>
            <a:off x="640080" y="5943600"/>
            <a:ext cx="10908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Each account sees one portal. No shared screen, no shared password, no "admin mode".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DIRECTOR PORTAL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screen the head of school opens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Opens on four live figures for today: attendance rate, collections, pending approvals and upcoming meetings.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00253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5236" y="2107692"/>
            <a:ext cx="173736" cy="17373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152144" y="194767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Announcements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1152144" y="218084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 to everyone or pick the roles; pin one to the top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40080" y="2670048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36" y="2775204"/>
            <a:ext cx="173736" cy="173736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152144" y="2615184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Meeting Scheduler</a:t>
            </a:r>
            <a:endParaRPr lang="en-US" sz="1250" dirty="0"/>
          </a:p>
        </p:txBody>
      </p:sp>
      <p:sp>
        <p:nvSpPr>
          <p:cNvPr id="12" name="Text 8"/>
          <p:cNvSpPr txBox="1"/>
          <p:nvPr/>
        </p:nvSpPr>
        <p:spPr>
          <a:xfrm>
            <a:off x="1152144" y="2848356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Title, description, location, start and end; cancel a meeting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" y="3337560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5236" y="3442716"/>
            <a:ext cx="173736" cy="173736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152144" y="3282696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Approvals</a:t>
            </a:r>
            <a:endParaRPr lang="en-US" sz="1250" dirty="0"/>
          </a:p>
        </p:txBody>
      </p:sp>
      <p:sp>
        <p:nvSpPr>
          <p:cNvPr id="16" name="Text 11"/>
          <p:cNvSpPr txBox="1"/>
          <p:nvPr/>
        </p:nvSpPr>
        <p:spPr>
          <a:xfrm>
            <a:off x="1152144" y="3515868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inbox for every request in the school. Every decision records who made it, when, and what they were deciding</a:t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640080" y="4005072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5236" y="4110228"/>
            <a:ext cx="173736" cy="173736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1152144" y="3950208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 Schedule</a:t>
            </a:r>
            <a:endParaRPr lang="en-US" sz="1250" dirty="0"/>
          </a:p>
        </p:txBody>
      </p:sp>
      <p:sp>
        <p:nvSpPr>
          <p:cNvPr id="20" name="Text 14"/>
          <p:cNvSpPr txBox="1"/>
          <p:nvPr/>
        </p:nvSpPr>
        <p:spPr>
          <a:xfrm>
            <a:off x="1152144" y="4183380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week's timetable for every section, read across the whole school</a:t>
            </a:r>
            <a:endParaRPr lang="en-US" sz="1000" dirty="0"/>
          </a:p>
        </p:txBody>
      </p:sp>
      <p:sp>
        <p:nvSpPr>
          <p:cNvPr id="21" name="Shape 15"/>
          <p:cNvSpPr/>
          <p:nvPr/>
        </p:nvSpPr>
        <p:spPr>
          <a:xfrm>
            <a:off x="640080" y="4672584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5236" y="4777740"/>
            <a:ext cx="173736" cy="173736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1152144" y="4617720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Check</a:t>
            </a:r>
            <a:endParaRPr lang="en-US" sz="1250" dirty="0"/>
          </a:p>
        </p:txBody>
      </p:sp>
      <p:sp>
        <p:nvSpPr>
          <p:cNvPr id="24" name="Text 17"/>
          <p:cNvSpPr txBox="1"/>
          <p:nvPr/>
        </p:nvSpPr>
        <p:spPr>
          <a:xfrm>
            <a:off x="1152144" y="4850892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Seven readiness checks before a school goes live</a:t>
            </a:r>
            <a:endParaRPr lang="en-US" sz="1000" dirty="0"/>
          </a:p>
        </p:txBody>
      </p:sp>
      <p:sp>
        <p:nvSpPr>
          <p:cNvPr id="25" name="Shape 18"/>
          <p:cNvSpPr/>
          <p:nvPr/>
        </p:nvSpPr>
        <p:spPr>
          <a:xfrm>
            <a:off x="640080" y="534009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5236" y="5445252"/>
            <a:ext cx="173736" cy="173736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1152144" y="528523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Requests</a:t>
            </a:r>
            <a:endParaRPr lang="en-US" sz="1250" dirty="0"/>
          </a:p>
        </p:txBody>
      </p:sp>
      <p:sp>
        <p:nvSpPr>
          <p:cNvPr id="28" name="Text 20"/>
          <p:cNvSpPr txBox="1"/>
          <p:nvPr/>
        </p:nvSpPr>
        <p:spPr>
          <a:xfrm>
            <a:off x="1152144" y="551840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families have asked about their data, and what was answered</a:t>
            </a:r>
            <a:endParaRPr lang="en-US" sz="1000" dirty="0"/>
          </a:p>
        </p:txBody>
      </p:sp>
      <p:sp>
        <p:nvSpPr>
          <p:cNvPr id="29" name="Shape 21"/>
          <p:cNvSpPr/>
          <p:nvPr/>
        </p:nvSpPr>
        <p:spPr>
          <a:xfrm>
            <a:off x="6323076" y="200253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30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28232" y="2107692"/>
            <a:ext cx="173736" cy="173736"/>
          </a:xfrm>
          <a:prstGeom prst="rect">
            <a:avLst/>
          </a:prstGeom>
        </p:spPr>
      </p:pic>
      <p:sp>
        <p:nvSpPr>
          <p:cNvPr id="31" name="Text 22"/>
          <p:cNvSpPr txBox="1"/>
          <p:nvPr/>
        </p:nvSpPr>
        <p:spPr>
          <a:xfrm>
            <a:off x="6835140" y="194767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Reports</a:t>
            </a:r>
            <a:endParaRPr lang="en-US" sz="1250" dirty="0"/>
          </a:p>
        </p:txBody>
      </p:sp>
      <p:sp>
        <p:nvSpPr>
          <p:cNvPr id="32" name="Text 23"/>
          <p:cNvSpPr txBox="1"/>
          <p:nvPr/>
        </p:nvSpPr>
        <p:spPr>
          <a:xfrm>
            <a:off x="6835140" y="218084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Enrolment, collections, attendance and grades - on screen, to Excel, or printed</a:t>
            </a:r>
            <a:endParaRPr lang="en-US" sz="1000" dirty="0"/>
          </a:p>
        </p:txBody>
      </p:sp>
      <p:sp>
        <p:nvSpPr>
          <p:cNvPr id="33" name="Shape 24"/>
          <p:cNvSpPr/>
          <p:nvPr/>
        </p:nvSpPr>
        <p:spPr>
          <a:xfrm>
            <a:off x="6323076" y="2670048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34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28232" y="2775204"/>
            <a:ext cx="173736" cy="173736"/>
          </a:xfrm>
          <a:prstGeom prst="rect">
            <a:avLst/>
          </a:prstGeom>
        </p:spPr>
      </p:pic>
      <p:sp>
        <p:nvSpPr>
          <p:cNvPr id="35" name="Text 25"/>
          <p:cNvSpPr txBox="1"/>
          <p:nvPr/>
        </p:nvSpPr>
        <p:spPr>
          <a:xfrm>
            <a:off x="6835140" y="2615184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 Schedules</a:t>
            </a:r>
            <a:endParaRPr lang="en-US" sz="1250" dirty="0"/>
          </a:p>
        </p:txBody>
      </p:sp>
      <p:sp>
        <p:nvSpPr>
          <p:cNvPr id="36" name="Text 26"/>
          <p:cNvSpPr txBox="1"/>
          <p:nvPr/>
        </p:nvSpPr>
        <p:spPr>
          <a:xfrm>
            <a:off x="6835140" y="2848356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fee sets the cashier assesses against - the Admin defines them</a:t>
            </a:r>
            <a:endParaRPr lang="en-US" sz="1000" dirty="0"/>
          </a:p>
        </p:txBody>
      </p:sp>
      <p:sp>
        <p:nvSpPr>
          <p:cNvPr id="37" name="Shape 27"/>
          <p:cNvSpPr/>
          <p:nvPr/>
        </p:nvSpPr>
        <p:spPr>
          <a:xfrm>
            <a:off x="6323076" y="3337560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38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428232" y="3442716"/>
            <a:ext cx="173736" cy="173736"/>
          </a:xfrm>
          <a:prstGeom prst="rect">
            <a:avLst/>
          </a:prstGeom>
        </p:spPr>
      </p:pic>
      <p:sp>
        <p:nvSpPr>
          <p:cNvPr id="39" name="Text 28"/>
          <p:cNvSpPr txBox="1"/>
          <p:nvPr/>
        </p:nvSpPr>
        <p:spPr>
          <a:xfrm>
            <a:off x="6835140" y="3282696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Expenses</a:t>
            </a:r>
            <a:endParaRPr lang="en-US" sz="1250" dirty="0"/>
          </a:p>
        </p:txBody>
      </p:sp>
      <p:sp>
        <p:nvSpPr>
          <p:cNvPr id="40" name="Text 29"/>
          <p:cNvSpPr txBox="1"/>
          <p:nvPr/>
        </p:nvSpPr>
        <p:spPr>
          <a:xfrm>
            <a:off x="6835140" y="3515868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school spending by category and date. The Admin records it</a:t>
            </a:r>
            <a:endParaRPr lang="en-US" sz="1000" dirty="0"/>
          </a:p>
        </p:txBody>
      </p:sp>
      <p:sp>
        <p:nvSpPr>
          <p:cNvPr id="41" name="Shape 30"/>
          <p:cNvSpPr/>
          <p:nvPr/>
        </p:nvSpPr>
        <p:spPr>
          <a:xfrm>
            <a:off x="6323076" y="4005072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42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428232" y="4110228"/>
            <a:ext cx="173736" cy="173736"/>
          </a:xfrm>
          <a:prstGeom prst="rect">
            <a:avLst/>
          </a:prstGeom>
        </p:spPr>
      </p:pic>
      <p:sp>
        <p:nvSpPr>
          <p:cNvPr id="43" name="Text 31"/>
          <p:cNvSpPr txBox="1"/>
          <p:nvPr/>
        </p:nvSpPr>
        <p:spPr>
          <a:xfrm>
            <a:off x="6835140" y="3950208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Emergency Numbers</a:t>
            </a:r>
            <a:endParaRPr lang="en-US" sz="1250" dirty="0"/>
          </a:p>
        </p:txBody>
      </p:sp>
      <p:sp>
        <p:nvSpPr>
          <p:cNvPr id="44" name="Text 32"/>
          <p:cNvSpPr txBox="1"/>
          <p:nvPr/>
        </p:nvSpPr>
        <p:spPr>
          <a:xfrm>
            <a:off x="6835140" y="4183380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list every phone in the school can dial from, maintained by the Admin</a:t>
            </a:r>
            <a:endParaRPr lang="en-US" sz="1000" dirty="0"/>
          </a:p>
        </p:txBody>
      </p:sp>
      <p:sp>
        <p:nvSpPr>
          <p:cNvPr id="45" name="Shape 33"/>
          <p:cNvSpPr/>
          <p:nvPr/>
        </p:nvSpPr>
        <p:spPr>
          <a:xfrm>
            <a:off x="6323076" y="4672584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46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428232" y="4777740"/>
            <a:ext cx="173736" cy="173736"/>
          </a:xfrm>
          <a:prstGeom prst="rect">
            <a:avLst/>
          </a:prstGeom>
        </p:spPr>
      </p:pic>
      <p:sp>
        <p:nvSpPr>
          <p:cNvPr id="47" name="Text 34"/>
          <p:cNvSpPr txBox="1"/>
          <p:nvPr/>
        </p:nvSpPr>
        <p:spPr>
          <a:xfrm>
            <a:off x="6835140" y="4617720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Trail</a:t>
            </a:r>
            <a:endParaRPr lang="en-US" sz="1250" dirty="0"/>
          </a:p>
        </p:txBody>
      </p:sp>
      <p:sp>
        <p:nvSpPr>
          <p:cNvPr id="48" name="Text 35"/>
          <p:cNvSpPr txBox="1"/>
          <p:nvPr/>
        </p:nvSpPr>
        <p:spPr>
          <a:xfrm>
            <a:off x="6835140" y="4850892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change made in the school, filterable by module and date</a:t>
            </a:r>
            <a:endParaRPr lang="en-US" sz="1000" dirty="0"/>
          </a:p>
        </p:txBody>
      </p:sp>
      <p:sp>
        <p:nvSpPr>
          <p:cNvPr id="49" name="Shape 36"/>
          <p:cNvSpPr/>
          <p:nvPr/>
        </p:nvSpPr>
        <p:spPr>
          <a:xfrm>
            <a:off x="6323076" y="534009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50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428232" y="5445252"/>
            <a:ext cx="173736" cy="173736"/>
          </a:xfrm>
          <a:prstGeom prst="rect">
            <a:avLst/>
          </a:prstGeom>
        </p:spPr>
      </p:pic>
      <p:sp>
        <p:nvSpPr>
          <p:cNvPr id="51" name="Text 37"/>
          <p:cNvSpPr txBox="1"/>
          <p:nvPr/>
        </p:nvSpPr>
        <p:spPr>
          <a:xfrm>
            <a:off x="6835140" y="528523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 Activity</a:t>
            </a:r>
            <a:endParaRPr lang="en-US" sz="1250" dirty="0"/>
          </a:p>
        </p:txBody>
      </p:sp>
      <p:sp>
        <p:nvSpPr>
          <p:cNvPr id="52" name="Text 38"/>
          <p:cNvSpPr txBox="1"/>
          <p:nvPr/>
        </p:nvSpPr>
        <p:spPr>
          <a:xfrm>
            <a:off x="6835140" y="551840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trail, narrowed to what you did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PRINCIPAL PORTAL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Academic leadership, scoped to one division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Principal is set to Elementary, Junior High, Senior High or College - and the records they can open stop at that line. Oversight, not data entry: grades stay the teacher's, records stay the registrar's.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148840"/>
            <a:ext cx="2569464" cy="1956816"/>
          </a:xfrm>
          <a:prstGeom prst="roundRect">
            <a:avLst>
              <a:gd name="adj" fmla="val 4673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77824" y="236829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2124" y="2482596"/>
            <a:ext cx="228600" cy="2286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77824" y="293522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 Records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77824" y="3218688"/>
            <a:ext cx="209397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roster and any record in their division - view only.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3419856" y="2148840"/>
            <a:ext cx="2569464" cy="1956816"/>
          </a:xfrm>
          <a:prstGeom prst="roundRect">
            <a:avLst>
              <a:gd name="adj" fmla="val 4673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57600" y="236829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71900" y="2482596"/>
            <a:ext cx="228600" cy="2286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3657600" y="293522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 Schedule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3657600" y="3218688"/>
            <a:ext cx="209397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week as it is actually timetabled, section by section.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6199632" y="2148840"/>
            <a:ext cx="2569464" cy="1956816"/>
          </a:xfrm>
          <a:prstGeom prst="roundRect">
            <a:avLst>
              <a:gd name="adj" fmla="val 4673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6437376" y="236829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1676" y="2482596"/>
            <a:ext cx="228600" cy="22860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437376" y="293522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Teacher Assignment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6437376" y="3218688"/>
            <a:ext cx="209397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teaches which subject in which section, and who advises it - read.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8979408" y="2148840"/>
            <a:ext cx="2569464" cy="1956816"/>
          </a:xfrm>
          <a:prstGeom prst="roundRect">
            <a:avLst>
              <a:gd name="adj" fmla="val 4673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9217152" y="236829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31452" y="2482596"/>
            <a:ext cx="228600" cy="22860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9217152" y="293522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Emergency Alerts</a:t>
            </a:r>
            <a:endParaRPr lang="en-US" sz="1400" dirty="0"/>
          </a:p>
        </p:txBody>
      </p:sp>
      <p:sp>
        <p:nvSpPr>
          <p:cNvPr id="24" name="Text 18"/>
          <p:cNvSpPr txBox="1"/>
          <p:nvPr/>
        </p:nvSpPr>
        <p:spPr>
          <a:xfrm>
            <a:off x="9217152" y="3218688"/>
            <a:ext cx="209397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alerts raised in the school, with the power to resolve one.</a:t>
            </a:r>
            <a:endParaRPr lang="en-US" sz="1100" dirty="0"/>
          </a:p>
        </p:txBody>
      </p:sp>
      <p:sp>
        <p:nvSpPr>
          <p:cNvPr id="25" name="Shape 19"/>
          <p:cNvSpPr/>
          <p:nvPr/>
        </p:nvSpPr>
        <p:spPr>
          <a:xfrm>
            <a:off x="640080" y="4306824"/>
            <a:ext cx="2569464" cy="1956816"/>
          </a:xfrm>
          <a:prstGeom prst="roundRect">
            <a:avLst>
              <a:gd name="adj" fmla="val 4673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26" name="Shape 20"/>
          <p:cNvSpPr/>
          <p:nvPr/>
        </p:nvSpPr>
        <p:spPr>
          <a:xfrm>
            <a:off x="877824" y="4526280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2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92124" y="4640580"/>
            <a:ext cx="228600" cy="228600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877824" y="5093208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Emergency Numbers</a:t>
            </a:r>
            <a:endParaRPr lang="en-US" sz="1400" dirty="0"/>
          </a:p>
        </p:txBody>
      </p:sp>
      <p:sp>
        <p:nvSpPr>
          <p:cNvPr id="29" name="Text 22"/>
          <p:cNvSpPr txBox="1"/>
          <p:nvPr/>
        </p:nvSpPr>
        <p:spPr>
          <a:xfrm>
            <a:off x="877824" y="5376672"/>
            <a:ext cx="209397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school's published numbers, one tap to dial.</a:t>
            </a:r>
            <a:endParaRPr lang="en-US" sz="1100" dirty="0"/>
          </a:p>
        </p:txBody>
      </p:sp>
      <p:sp>
        <p:nvSpPr>
          <p:cNvPr id="30" name="Shape 23"/>
          <p:cNvSpPr/>
          <p:nvPr/>
        </p:nvSpPr>
        <p:spPr>
          <a:xfrm>
            <a:off x="3419856" y="4306824"/>
            <a:ext cx="2569464" cy="1956816"/>
          </a:xfrm>
          <a:prstGeom prst="roundRect">
            <a:avLst>
              <a:gd name="adj" fmla="val 4673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31" name="Shape 24"/>
          <p:cNvSpPr/>
          <p:nvPr/>
        </p:nvSpPr>
        <p:spPr>
          <a:xfrm>
            <a:off x="3657600" y="4526280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32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71900" y="4640580"/>
            <a:ext cx="228600" cy="228600"/>
          </a:xfrm>
          <a:prstGeom prst="rect">
            <a:avLst/>
          </a:prstGeom>
        </p:spPr>
      </p:pic>
      <p:sp>
        <p:nvSpPr>
          <p:cNvPr id="33" name="Text 25"/>
          <p:cNvSpPr txBox="1"/>
          <p:nvPr/>
        </p:nvSpPr>
        <p:spPr>
          <a:xfrm>
            <a:off x="3657600" y="5093208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Announcements</a:t>
            </a:r>
            <a:endParaRPr lang="en-US" sz="1400" dirty="0"/>
          </a:p>
        </p:txBody>
      </p:sp>
      <p:sp>
        <p:nvSpPr>
          <p:cNvPr id="34" name="Text 26"/>
          <p:cNvSpPr txBox="1"/>
          <p:nvPr/>
        </p:nvSpPr>
        <p:spPr>
          <a:xfrm>
            <a:off x="3657600" y="5376672"/>
            <a:ext cx="209397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 school or division messages under their own name, to a role or to one class.</a:t>
            </a:r>
            <a:endParaRPr lang="en-US" sz="1100" dirty="0"/>
          </a:p>
        </p:txBody>
      </p:sp>
      <p:sp>
        <p:nvSpPr>
          <p:cNvPr id="35" name="Shape 27"/>
          <p:cNvSpPr/>
          <p:nvPr/>
        </p:nvSpPr>
        <p:spPr>
          <a:xfrm>
            <a:off x="6199632" y="4306824"/>
            <a:ext cx="2569464" cy="1956816"/>
          </a:xfrm>
          <a:prstGeom prst="roundRect">
            <a:avLst>
              <a:gd name="adj" fmla="val 4673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36" name="Shape 28"/>
          <p:cNvSpPr/>
          <p:nvPr/>
        </p:nvSpPr>
        <p:spPr>
          <a:xfrm>
            <a:off x="6437376" y="4526280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37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51676" y="4640580"/>
            <a:ext cx="228600" cy="228600"/>
          </a:xfrm>
          <a:prstGeom prst="rect">
            <a:avLst/>
          </a:prstGeom>
        </p:spPr>
      </p:pic>
      <p:sp>
        <p:nvSpPr>
          <p:cNvPr id="38" name="Text 29"/>
          <p:cNvSpPr txBox="1"/>
          <p:nvPr/>
        </p:nvSpPr>
        <p:spPr>
          <a:xfrm>
            <a:off x="6437376" y="5093208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Meeting Scheduler</a:t>
            </a:r>
            <a:endParaRPr lang="en-US" sz="1400" dirty="0"/>
          </a:p>
        </p:txBody>
      </p:sp>
      <p:sp>
        <p:nvSpPr>
          <p:cNvPr id="39" name="Text 30"/>
          <p:cNvSpPr txBox="1"/>
          <p:nvPr/>
        </p:nvSpPr>
        <p:spPr>
          <a:xfrm>
            <a:off x="6437376" y="5376672"/>
            <a:ext cx="209397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 a meeting and say who it is for.</a:t>
            </a:r>
            <a:endParaRPr lang="en-US" sz="1100" dirty="0"/>
          </a:p>
        </p:txBody>
      </p:sp>
      <p:sp>
        <p:nvSpPr>
          <p:cNvPr id="40" name="Shape 31"/>
          <p:cNvSpPr/>
          <p:nvPr/>
        </p:nvSpPr>
        <p:spPr>
          <a:xfrm>
            <a:off x="8979408" y="4306824"/>
            <a:ext cx="2569464" cy="1956816"/>
          </a:xfrm>
          <a:prstGeom prst="roundRect">
            <a:avLst>
              <a:gd name="adj" fmla="val 4673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41" name="Shape 32"/>
          <p:cNvSpPr/>
          <p:nvPr/>
        </p:nvSpPr>
        <p:spPr>
          <a:xfrm>
            <a:off x="9217152" y="4526280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42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331452" y="4640580"/>
            <a:ext cx="228600" cy="228600"/>
          </a:xfrm>
          <a:prstGeom prst="rect">
            <a:avLst/>
          </a:prstGeom>
        </p:spPr>
      </p:pic>
      <p:sp>
        <p:nvSpPr>
          <p:cNvPr id="43" name="Text 33"/>
          <p:cNvSpPr txBox="1"/>
          <p:nvPr/>
        </p:nvSpPr>
        <p:spPr>
          <a:xfrm>
            <a:off x="9217152" y="5093208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Approvals</a:t>
            </a:r>
            <a:endParaRPr lang="en-US" sz="1400" dirty="0"/>
          </a:p>
        </p:txBody>
      </p:sp>
      <p:sp>
        <p:nvSpPr>
          <p:cNvPr id="44" name="Text 34"/>
          <p:cNvSpPr txBox="1"/>
          <p:nvPr/>
        </p:nvSpPr>
        <p:spPr>
          <a:xfrm>
            <a:off x="9217152" y="5376672"/>
            <a:ext cx="209397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Decide the requests that reach a division head - and the decision is signed with their account.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 PORTAL . 1 OF 2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People, academics and the school's identity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operator role, and since the Director and Principal became read-only, the only one: everything the school changes week to week is changed from this account.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195681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5236" y="2061972"/>
            <a:ext cx="173736" cy="17373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152144" y="190195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Employee Management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1152144" y="213512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a Principal, Registrar, Faculty, Staff or Guidance account, with department, position and division scope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40080" y="296265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36" y="3067812"/>
            <a:ext cx="173736" cy="173736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152144" y="290779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Reset Password</a:t>
            </a:r>
            <a:endParaRPr lang="en-US" sz="1250" dirty="0"/>
          </a:p>
        </p:txBody>
      </p:sp>
      <p:sp>
        <p:nvSpPr>
          <p:cNvPr id="12" name="Text 8"/>
          <p:cNvSpPr txBox="1"/>
          <p:nvPr/>
        </p:nvSpPr>
        <p:spPr>
          <a:xfrm>
            <a:off x="1152144" y="314096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Issue a temporary password; the employee is forced to change it at next sign-in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" y="396849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5236" y="4073652"/>
            <a:ext cx="173736" cy="173736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152144" y="391363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Activate / Suspend</a:t>
            </a:r>
            <a:endParaRPr lang="en-US" sz="1250" dirty="0"/>
          </a:p>
        </p:txBody>
      </p:sp>
      <p:sp>
        <p:nvSpPr>
          <p:cNvPr id="16" name="Text 11"/>
          <p:cNvSpPr txBox="1"/>
          <p:nvPr/>
        </p:nvSpPr>
        <p:spPr>
          <a:xfrm>
            <a:off x="1152144" y="414680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Switch an account off without deleting anything it wrote</a:t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640080" y="497433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5236" y="5079492"/>
            <a:ext cx="173736" cy="173736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1152144" y="491947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 employees</a:t>
            </a:r>
            <a:endParaRPr lang="en-US" sz="1250" dirty="0"/>
          </a:p>
        </p:txBody>
      </p:sp>
      <p:sp>
        <p:nvSpPr>
          <p:cNvPr id="20" name="Text 14"/>
          <p:cNvSpPr txBox="1"/>
          <p:nvPr/>
        </p:nvSpPr>
        <p:spPr>
          <a:xfrm>
            <a:off x="1152144" y="515264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Bring a staff list in from Excel or CSV, or export the one you have</a:t>
            </a:r>
            <a:endParaRPr lang="en-US" sz="1000" dirty="0"/>
          </a:p>
        </p:txBody>
      </p:sp>
      <p:sp>
        <p:nvSpPr>
          <p:cNvPr id="21" name="Shape 15"/>
          <p:cNvSpPr/>
          <p:nvPr/>
        </p:nvSpPr>
        <p:spPr>
          <a:xfrm>
            <a:off x="6323076" y="195681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28232" y="2061972"/>
            <a:ext cx="173736" cy="173736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6835140" y="190195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Teacher Assignment</a:t>
            </a:r>
            <a:endParaRPr lang="en-US" sz="1250" dirty="0"/>
          </a:p>
        </p:txBody>
      </p:sp>
      <p:sp>
        <p:nvSpPr>
          <p:cNvPr id="24" name="Text 17"/>
          <p:cNvSpPr txBox="1"/>
          <p:nvPr/>
        </p:nvSpPr>
        <p:spPr>
          <a:xfrm>
            <a:off x="6835140" y="213512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Subject, section, school year, and who is the class adviser</a:t>
            </a:r>
            <a:endParaRPr lang="en-US" sz="1000" dirty="0"/>
          </a:p>
        </p:txBody>
      </p:sp>
      <p:sp>
        <p:nvSpPr>
          <p:cNvPr id="25" name="Shape 18"/>
          <p:cNvSpPr/>
          <p:nvPr/>
        </p:nvSpPr>
        <p:spPr>
          <a:xfrm>
            <a:off x="6323076" y="296265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28232" y="3067812"/>
            <a:ext cx="173736" cy="173736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6835140" y="290779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Strands &amp; Programs</a:t>
            </a:r>
            <a:endParaRPr lang="en-US" sz="1250" dirty="0"/>
          </a:p>
        </p:txBody>
      </p:sp>
      <p:sp>
        <p:nvSpPr>
          <p:cNvPr id="28" name="Text 20"/>
          <p:cNvSpPr txBox="1"/>
          <p:nvPr/>
        </p:nvSpPr>
        <p:spPr>
          <a:xfrm>
            <a:off x="6835140" y="314096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Senior High strands and the college degree programs students enrol into</a:t>
            </a:r>
            <a:endParaRPr lang="en-US" sz="1000" dirty="0"/>
          </a:p>
        </p:txBody>
      </p:sp>
      <p:sp>
        <p:nvSpPr>
          <p:cNvPr id="29" name="Shape 21"/>
          <p:cNvSpPr/>
          <p:nvPr/>
        </p:nvSpPr>
        <p:spPr>
          <a:xfrm>
            <a:off x="6323076" y="396849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30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28232" y="4073652"/>
            <a:ext cx="173736" cy="173736"/>
          </a:xfrm>
          <a:prstGeom prst="rect">
            <a:avLst/>
          </a:prstGeom>
        </p:spPr>
      </p:pic>
      <p:sp>
        <p:nvSpPr>
          <p:cNvPr id="31" name="Text 22"/>
          <p:cNvSpPr txBox="1"/>
          <p:nvPr/>
        </p:nvSpPr>
        <p:spPr>
          <a:xfrm>
            <a:off x="6835140" y="391363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 Schedule</a:t>
            </a:r>
            <a:endParaRPr lang="en-US" sz="1250" dirty="0"/>
          </a:p>
        </p:txBody>
      </p:sp>
      <p:sp>
        <p:nvSpPr>
          <p:cNvPr id="32" name="Text 23"/>
          <p:cNvSpPr txBox="1"/>
          <p:nvPr/>
        </p:nvSpPr>
        <p:spPr>
          <a:xfrm>
            <a:off x="6835140" y="414680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the week: day, start, end, room - the app refuses a clash</a:t>
            </a:r>
            <a:endParaRPr lang="en-US" sz="1000" dirty="0"/>
          </a:p>
        </p:txBody>
      </p:sp>
      <p:sp>
        <p:nvSpPr>
          <p:cNvPr id="33" name="Shape 24"/>
          <p:cNvSpPr/>
          <p:nvPr/>
        </p:nvSpPr>
        <p:spPr>
          <a:xfrm>
            <a:off x="6323076" y="497433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34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28232" y="5079492"/>
            <a:ext cx="173736" cy="173736"/>
          </a:xfrm>
          <a:prstGeom prst="rect">
            <a:avLst/>
          </a:prstGeom>
        </p:spPr>
      </p:pic>
      <p:sp>
        <p:nvSpPr>
          <p:cNvPr id="35" name="Text 25"/>
          <p:cNvSpPr txBox="1"/>
          <p:nvPr/>
        </p:nvSpPr>
        <p:spPr>
          <a:xfrm>
            <a:off x="6835140" y="491947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School Branding</a:t>
            </a:r>
            <a:endParaRPr lang="en-US" sz="1250" dirty="0"/>
          </a:p>
        </p:txBody>
      </p:sp>
      <p:sp>
        <p:nvSpPr>
          <p:cNvPr id="36" name="Text 26"/>
          <p:cNvSpPr txBox="1"/>
          <p:nvPr/>
        </p:nvSpPr>
        <p:spPr>
          <a:xfrm>
            <a:off x="6835140" y="515264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Logo, printed name, address, school year, principal and director signatures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 PORTAL . 2 OF 2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Money, safety, oversight and going live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account, on the other half of the dashboard.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191109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5236" y="2016252"/>
            <a:ext cx="173736" cy="17373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152144" y="185623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 Schedules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1152144" y="208940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Named fee sets per division, grade level and school year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40080" y="2697480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36" y="2802636"/>
            <a:ext cx="173736" cy="173736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152144" y="2642616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Reports</a:t>
            </a:r>
            <a:endParaRPr lang="en-US" sz="1250" dirty="0"/>
          </a:p>
        </p:txBody>
      </p:sp>
      <p:sp>
        <p:nvSpPr>
          <p:cNvPr id="12" name="Text 8"/>
          <p:cNvSpPr txBox="1"/>
          <p:nvPr/>
        </p:nvSpPr>
        <p:spPr>
          <a:xfrm>
            <a:off x="1152144" y="2875788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four school reports, exportable and printable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" y="3483864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5236" y="3589020"/>
            <a:ext cx="173736" cy="173736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152144" y="3429000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Announcements</a:t>
            </a:r>
            <a:endParaRPr lang="en-US" sz="1250" dirty="0"/>
          </a:p>
        </p:txBody>
      </p:sp>
      <p:sp>
        <p:nvSpPr>
          <p:cNvPr id="16" name="Text 11"/>
          <p:cNvSpPr txBox="1"/>
          <p:nvPr/>
        </p:nvSpPr>
        <p:spPr>
          <a:xfrm>
            <a:off x="1152144" y="3662172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 and pin school messages</a:t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640080" y="4270248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5236" y="4375404"/>
            <a:ext cx="173736" cy="173736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1152144" y="4215384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 Attendance</a:t>
            </a:r>
            <a:endParaRPr lang="en-US" sz="1250" dirty="0"/>
          </a:p>
        </p:txBody>
      </p:sp>
      <p:sp>
        <p:nvSpPr>
          <p:cNvPr id="20" name="Text 14"/>
          <p:cNvSpPr txBox="1"/>
          <p:nvPr/>
        </p:nvSpPr>
        <p:spPr>
          <a:xfrm>
            <a:off x="1152144" y="4448556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the camera and mark whoever is scanned, in or out</a:t>
            </a:r>
            <a:endParaRPr lang="en-US" sz="1000" dirty="0"/>
          </a:p>
        </p:txBody>
      </p:sp>
      <p:sp>
        <p:nvSpPr>
          <p:cNvPr id="21" name="Shape 15"/>
          <p:cNvSpPr/>
          <p:nvPr/>
        </p:nvSpPr>
        <p:spPr>
          <a:xfrm>
            <a:off x="640080" y="5056632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5236" y="5161788"/>
            <a:ext cx="173736" cy="173736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1152144" y="5001768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Emergency Alerts</a:t>
            </a:r>
            <a:endParaRPr lang="en-US" sz="1250" dirty="0"/>
          </a:p>
        </p:txBody>
      </p:sp>
      <p:sp>
        <p:nvSpPr>
          <p:cNvPr id="24" name="Text 17"/>
          <p:cNvSpPr txBox="1"/>
          <p:nvPr/>
        </p:nvSpPr>
        <p:spPr>
          <a:xfrm>
            <a:off x="1152144" y="5234940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 and resolve alerts raised anywhere in the school</a:t>
            </a:r>
            <a:endParaRPr lang="en-US" sz="1000" dirty="0"/>
          </a:p>
        </p:txBody>
      </p:sp>
      <p:sp>
        <p:nvSpPr>
          <p:cNvPr id="25" name="Shape 18"/>
          <p:cNvSpPr/>
          <p:nvPr/>
        </p:nvSpPr>
        <p:spPr>
          <a:xfrm>
            <a:off x="6323076" y="191109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28232" y="2016252"/>
            <a:ext cx="173736" cy="173736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6835140" y="185623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Emergency Numbers</a:t>
            </a:r>
            <a:endParaRPr lang="en-US" sz="1250" dirty="0"/>
          </a:p>
        </p:txBody>
      </p:sp>
      <p:sp>
        <p:nvSpPr>
          <p:cNvPr id="28" name="Text 20"/>
          <p:cNvSpPr txBox="1"/>
          <p:nvPr/>
        </p:nvSpPr>
        <p:spPr>
          <a:xfrm>
            <a:off x="6835140" y="208940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Publish the numbers every portal can dial</a:t>
            </a:r>
            <a:endParaRPr lang="en-US" sz="1000" dirty="0"/>
          </a:p>
        </p:txBody>
      </p:sp>
      <p:sp>
        <p:nvSpPr>
          <p:cNvPr id="29" name="Shape 21"/>
          <p:cNvSpPr/>
          <p:nvPr/>
        </p:nvSpPr>
        <p:spPr>
          <a:xfrm>
            <a:off x="6323076" y="2697480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30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28232" y="2802636"/>
            <a:ext cx="173736" cy="173736"/>
          </a:xfrm>
          <a:prstGeom prst="rect">
            <a:avLst/>
          </a:prstGeom>
        </p:spPr>
      </p:pic>
      <p:sp>
        <p:nvSpPr>
          <p:cNvPr id="31" name="Text 22"/>
          <p:cNvSpPr txBox="1"/>
          <p:nvPr/>
        </p:nvSpPr>
        <p:spPr>
          <a:xfrm>
            <a:off x="6835140" y="2642616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Requests</a:t>
            </a:r>
            <a:endParaRPr lang="en-US" sz="1250" dirty="0"/>
          </a:p>
        </p:txBody>
      </p:sp>
      <p:sp>
        <p:nvSpPr>
          <p:cNvPr id="32" name="Text 23"/>
          <p:cNvSpPr txBox="1"/>
          <p:nvPr/>
        </p:nvSpPr>
        <p:spPr>
          <a:xfrm>
            <a:off x="6835140" y="2875788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a family asking what is held about their child</a:t>
            </a:r>
            <a:endParaRPr lang="en-US" sz="1000" dirty="0"/>
          </a:p>
        </p:txBody>
      </p:sp>
      <p:sp>
        <p:nvSpPr>
          <p:cNvPr id="33" name="Shape 24"/>
          <p:cNvSpPr/>
          <p:nvPr/>
        </p:nvSpPr>
        <p:spPr>
          <a:xfrm>
            <a:off x="6323076" y="3483864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34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28232" y="3589020"/>
            <a:ext cx="173736" cy="173736"/>
          </a:xfrm>
          <a:prstGeom prst="rect">
            <a:avLst/>
          </a:prstGeom>
        </p:spPr>
      </p:pic>
      <p:sp>
        <p:nvSpPr>
          <p:cNvPr id="35" name="Text 25"/>
          <p:cNvSpPr txBox="1"/>
          <p:nvPr/>
        </p:nvSpPr>
        <p:spPr>
          <a:xfrm>
            <a:off x="6835140" y="3429000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Trail</a:t>
            </a:r>
            <a:endParaRPr lang="en-US" sz="1250" dirty="0"/>
          </a:p>
        </p:txBody>
      </p:sp>
      <p:sp>
        <p:nvSpPr>
          <p:cNvPr id="36" name="Text 26"/>
          <p:cNvSpPr txBox="1"/>
          <p:nvPr/>
        </p:nvSpPr>
        <p:spPr>
          <a:xfrm>
            <a:off x="6835140" y="3662172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Filter every change by module, date and person</a:t>
            </a:r>
            <a:endParaRPr lang="en-US" sz="1000" dirty="0"/>
          </a:p>
        </p:txBody>
      </p:sp>
      <p:sp>
        <p:nvSpPr>
          <p:cNvPr id="37" name="Shape 27"/>
          <p:cNvSpPr/>
          <p:nvPr/>
        </p:nvSpPr>
        <p:spPr>
          <a:xfrm>
            <a:off x="6323076" y="4270248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38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428232" y="4375404"/>
            <a:ext cx="173736" cy="173736"/>
          </a:xfrm>
          <a:prstGeom prst="rect">
            <a:avLst/>
          </a:prstGeom>
        </p:spPr>
      </p:pic>
      <p:sp>
        <p:nvSpPr>
          <p:cNvPr id="39" name="Text 28"/>
          <p:cNvSpPr txBox="1"/>
          <p:nvPr/>
        </p:nvSpPr>
        <p:spPr>
          <a:xfrm>
            <a:off x="6835140" y="4215384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Check</a:t>
            </a:r>
            <a:endParaRPr lang="en-US" sz="1250" dirty="0"/>
          </a:p>
        </p:txBody>
      </p:sp>
      <p:sp>
        <p:nvSpPr>
          <p:cNvPr id="40" name="Text 29"/>
          <p:cNvSpPr txBox="1"/>
          <p:nvPr/>
        </p:nvSpPr>
        <p:spPr>
          <a:xfrm>
            <a:off x="6835140" y="4448556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Prove the deployment works before the first school day</a:t>
            </a:r>
            <a:endParaRPr lang="en-US" sz="1000" dirty="0"/>
          </a:p>
        </p:txBody>
      </p:sp>
      <p:sp>
        <p:nvSpPr>
          <p:cNvPr id="41" name="Shape 30"/>
          <p:cNvSpPr/>
          <p:nvPr/>
        </p:nvSpPr>
        <p:spPr>
          <a:xfrm>
            <a:off x="6323076" y="5056632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42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428232" y="5161788"/>
            <a:ext cx="173736" cy="173736"/>
          </a:xfrm>
          <a:prstGeom prst="rect">
            <a:avLst/>
          </a:prstGeom>
        </p:spPr>
      </p:pic>
      <p:sp>
        <p:nvSpPr>
          <p:cNvPr id="43" name="Text 31"/>
          <p:cNvSpPr txBox="1"/>
          <p:nvPr/>
        </p:nvSpPr>
        <p:spPr>
          <a:xfrm>
            <a:off x="6835140" y="5001768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Profile</a:t>
            </a:r>
            <a:endParaRPr lang="en-US" sz="1250" dirty="0"/>
          </a:p>
        </p:txBody>
      </p:sp>
      <p:sp>
        <p:nvSpPr>
          <p:cNvPr id="44" name="Text 32"/>
          <p:cNvSpPr txBox="1"/>
          <p:nvPr/>
        </p:nvSpPr>
        <p:spPr>
          <a:xfrm>
            <a:off x="6835140" y="5234940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own details, QR ID, activity and notification switch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REGISTRAR &amp; CASHIER PORTAL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counter a family actually walks up to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tiles on the dashboard, and everything else opens from a student's own record.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194560"/>
            <a:ext cx="2569464" cy="2971800"/>
          </a:xfrm>
          <a:prstGeom prst="roundRect">
            <a:avLst>
              <a:gd name="adj" fmla="val 3559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77824" y="2414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2124" y="2528316"/>
            <a:ext cx="228600" cy="2286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77824" y="298094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 Records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77824" y="3264408"/>
            <a:ext cx="2093976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 and filter the roster by division, register a new student, import or export the list, load more as you scroll.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3419856" y="2194560"/>
            <a:ext cx="2569464" cy="2971800"/>
          </a:xfrm>
          <a:prstGeom prst="roundRect">
            <a:avLst>
              <a:gd name="adj" fmla="val 3559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57600" y="2414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71900" y="2528316"/>
            <a:ext cx="228600" cy="2286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3657600" y="298094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Requests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3657600" y="3264408"/>
            <a:ext cx="2093976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queue of families asking for access, correction, erasure or objection - each with a target answer date.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6199632" y="2194560"/>
            <a:ext cx="2569464" cy="2971800"/>
          </a:xfrm>
          <a:prstGeom prst="roundRect">
            <a:avLst>
              <a:gd name="adj" fmla="val 3559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6437376" y="2414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1676" y="2528316"/>
            <a:ext cx="228600" cy="22860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437376" y="298094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Online Payments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6437376" y="3264408"/>
            <a:ext cx="2093976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review queue: every GCash or bank transfer a family sent in, with the reference and the amount, to approve or reject.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8979408" y="2194560"/>
            <a:ext cx="2569464" cy="2971800"/>
          </a:xfrm>
          <a:prstGeom prst="roundRect">
            <a:avLst>
              <a:gd name="adj" fmla="val 3559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9217152" y="2414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31452" y="2528316"/>
            <a:ext cx="228600" cy="22860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9217152" y="298094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 Setup</a:t>
            </a:r>
            <a:endParaRPr lang="en-US" sz="1400" dirty="0"/>
          </a:p>
        </p:txBody>
      </p:sp>
      <p:sp>
        <p:nvSpPr>
          <p:cNvPr id="24" name="Text 18"/>
          <p:cNvSpPr txBox="1"/>
          <p:nvPr/>
        </p:nvSpPr>
        <p:spPr>
          <a:xfrm>
            <a:off x="9217152" y="3264408"/>
            <a:ext cx="2093976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school's own account name, number, QR image and the instructions families read before they send anything.</a:t>
            </a:r>
            <a:endParaRPr lang="en-US" sz="1100" dirty="0"/>
          </a:p>
        </p:txBody>
      </p:sp>
      <p:sp>
        <p:nvSpPr>
          <p:cNvPr id="25" name="Text 19"/>
          <p:cNvSpPr txBox="1"/>
          <p:nvPr/>
        </p:nvSpPr>
        <p:spPr>
          <a:xfrm>
            <a:off x="640080" y="5440680"/>
            <a:ext cx="10908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Registration issues a sequential student number - S-2026-000001 - that no app can invent or reuse.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ADMISSIONS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the first phone call to a student number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Seven stages - and the screen opens on the enquiries nobody has moved in a week, longest wait first.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13969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5236" y="2244852"/>
            <a:ext cx="173736" cy="17373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152144" y="208483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Enquiry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1152144" y="231800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Name, contact, the grade level applied for, and where the family heard about the school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40080" y="309981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36" y="3204972"/>
            <a:ext cx="173736" cy="173736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152144" y="304495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Applied</a:t>
            </a:r>
            <a:endParaRPr lang="en-US" sz="1250" dirty="0"/>
          </a:p>
        </p:txBody>
      </p:sp>
      <p:sp>
        <p:nvSpPr>
          <p:cNvPr id="12" name="Text 8"/>
          <p:cNvSpPr txBox="1"/>
          <p:nvPr/>
        </p:nvSpPr>
        <p:spPr>
          <a:xfrm>
            <a:off x="1152144" y="327812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form is in, with the documents the school asked for listed against it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" y="405993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5236" y="4165092"/>
            <a:ext cx="173736" cy="173736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152144" y="400507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 scheduled</a:t>
            </a:r>
            <a:endParaRPr lang="en-US" sz="1250" dirty="0"/>
          </a:p>
        </p:txBody>
      </p:sp>
      <p:sp>
        <p:nvSpPr>
          <p:cNvPr id="16" name="Text 11"/>
          <p:cNvSpPr txBox="1"/>
          <p:nvPr/>
        </p:nvSpPr>
        <p:spPr>
          <a:xfrm>
            <a:off x="1152144" y="423824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date is set, and the family is told it</a:t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640080" y="502005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5236" y="5125212"/>
            <a:ext cx="173736" cy="173736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1152144" y="496519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 taken</a:t>
            </a:r>
            <a:endParaRPr lang="en-US" sz="1250" dirty="0"/>
          </a:p>
        </p:txBody>
      </p:sp>
      <p:sp>
        <p:nvSpPr>
          <p:cNvPr id="20" name="Text 14"/>
          <p:cNvSpPr txBox="1"/>
          <p:nvPr/>
        </p:nvSpPr>
        <p:spPr>
          <a:xfrm>
            <a:off x="1152144" y="519836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score is recorded - and without a score the stage will not move</a:t>
            </a:r>
            <a:endParaRPr lang="en-US" sz="1000" dirty="0"/>
          </a:p>
        </p:txBody>
      </p:sp>
      <p:sp>
        <p:nvSpPr>
          <p:cNvPr id="21" name="Shape 15"/>
          <p:cNvSpPr/>
          <p:nvPr/>
        </p:nvSpPr>
        <p:spPr>
          <a:xfrm>
            <a:off x="6323076" y="213969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28232" y="2244852"/>
            <a:ext cx="173736" cy="173736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6835140" y="208483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Offered</a:t>
            </a:r>
            <a:endParaRPr lang="en-US" sz="1250" dirty="0"/>
          </a:p>
        </p:txBody>
      </p:sp>
      <p:sp>
        <p:nvSpPr>
          <p:cNvPr id="24" name="Text 17"/>
          <p:cNvSpPr txBox="1"/>
          <p:nvPr/>
        </p:nvSpPr>
        <p:spPr>
          <a:xfrm>
            <a:off x="6835140" y="231800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place is offered, with the date the offer lapses</a:t>
            </a:r>
            <a:endParaRPr lang="en-US" sz="1000" dirty="0"/>
          </a:p>
        </p:txBody>
      </p:sp>
      <p:sp>
        <p:nvSpPr>
          <p:cNvPr id="25" name="Shape 18"/>
          <p:cNvSpPr/>
          <p:nvPr/>
        </p:nvSpPr>
        <p:spPr>
          <a:xfrm>
            <a:off x="6323076" y="309981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28232" y="3204972"/>
            <a:ext cx="173736" cy="173736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6835140" y="304495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Reserved</a:t>
            </a:r>
            <a:endParaRPr lang="en-US" sz="1250" dirty="0"/>
          </a:p>
        </p:txBody>
      </p:sp>
      <p:sp>
        <p:nvSpPr>
          <p:cNvPr id="28" name="Text 20"/>
          <p:cNvSpPr txBox="1"/>
          <p:nvPr/>
        </p:nvSpPr>
        <p:spPr>
          <a:xfrm>
            <a:off x="6835140" y="327812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reservation fee is paid, and it follows the child as a credit</a:t>
            </a:r>
            <a:endParaRPr lang="en-US" sz="1000" dirty="0"/>
          </a:p>
        </p:txBody>
      </p:sp>
      <p:sp>
        <p:nvSpPr>
          <p:cNvPr id="29" name="Shape 21"/>
          <p:cNvSpPr/>
          <p:nvPr/>
        </p:nvSpPr>
        <p:spPr>
          <a:xfrm>
            <a:off x="6323076" y="405993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30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28232" y="4165092"/>
            <a:ext cx="173736" cy="173736"/>
          </a:xfrm>
          <a:prstGeom prst="rect">
            <a:avLst/>
          </a:prstGeom>
        </p:spPr>
      </p:pic>
      <p:sp>
        <p:nvSpPr>
          <p:cNvPr id="31" name="Text 22"/>
          <p:cNvSpPr txBox="1"/>
          <p:nvPr/>
        </p:nvSpPr>
        <p:spPr>
          <a:xfrm>
            <a:off x="6835140" y="400507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Enrolled</a:t>
            </a:r>
            <a:endParaRPr lang="en-US" sz="1250" dirty="0"/>
          </a:p>
        </p:txBody>
      </p:sp>
      <p:sp>
        <p:nvSpPr>
          <p:cNvPr id="32" name="Text 23"/>
          <p:cNvSpPr txBox="1"/>
          <p:nvPr/>
        </p:nvSpPr>
        <p:spPr>
          <a:xfrm>
            <a:off x="6835140" y="423824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transaction creates the student record and issues the number</a:t>
            </a:r>
            <a:endParaRPr lang="en-US" sz="1000" dirty="0"/>
          </a:p>
        </p:txBody>
      </p:sp>
      <p:sp>
        <p:nvSpPr>
          <p:cNvPr id="33" name="Shape 24"/>
          <p:cNvSpPr/>
          <p:nvPr/>
        </p:nvSpPr>
        <p:spPr>
          <a:xfrm>
            <a:off x="6323076" y="502005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34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28232" y="5125212"/>
            <a:ext cx="173736" cy="173736"/>
          </a:xfrm>
          <a:prstGeom prst="rect">
            <a:avLst/>
          </a:prstGeom>
        </p:spPr>
      </p:pic>
      <p:sp>
        <p:nvSpPr>
          <p:cNvPr id="35" name="Text 25"/>
          <p:cNvSpPr txBox="1"/>
          <p:nvPr/>
        </p:nvSpPr>
        <p:spPr>
          <a:xfrm>
            <a:off x="6835140" y="496519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funnel</a:t>
            </a:r>
            <a:endParaRPr lang="en-US" sz="1250" dirty="0"/>
          </a:p>
        </p:txBody>
      </p:sp>
      <p:sp>
        <p:nvSpPr>
          <p:cNvPr id="36" name="Text 26"/>
          <p:cNvSpPr txBox="1"/>
          <p:nvPr/>
        </p:nvSpPr>
        <p:spPr>
          <a:xfrm>
            <a:off x="6835140" y="519836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many reached each stage, and where in the year the school is losing families</a:t>
            </a:r>
            <a:endParaRPr lang="en-US" sz="1000" dirty="0"/>
          </a:p>
        </p:txBody>
      </p:sp>
      <p:sp>
        <p:nvSpPr>
          <p:cNvPr id="37" name="Text 27"/>
          <p:cNvSpPr txBox="1"/>
          <p:nvPr/>
        </p:nvSpPr>
        <p:spPr>
          <a:xfrm>
            <a:off x="640080" y="5897880"/>
            <a:ext cx="10908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stage cannot be wished forward: no score, no "exam taken"; no payment, no "reserved".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INSIDE ONE STUDENT RECORD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Nine actions, one screen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a student from the roster and everything the school does for that child is one tap away.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32257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5236" y="2427732"/>
            <a:ext cx="173736" cy="17373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152144" y="2267712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1152144" y="2500884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Name, grade level, section, status and guardian contacts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40080" y="351129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36" y="3616452"/>
            <a:ext cx="173736" cy="173736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152144" y="3456432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</a:t>
            </a:r>
            <a:endParaRPr lang="en-US" sz="1250" dirty="0"/>
          </a:p>
        </p:txBody>
      </p:sp>
      <p:sp>
        <p:nvSpPr>
          <p:cNvPr id="12" name="Text 8"/>
          <p:cNvSpPr txBox="1"/>
          <p:nvPr/>
        </p:nvSpPr>
        <p:spPr>
          <a:xfrm>
            <a:off x="1152144" y="3689604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Upload the picture that prints on the school ID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" y="470001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5236" y="4805172"/>
            <a:ext cx="173736" cy="173736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152144" y="4645152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Assess Fees</a:t>
            </a:r>
            <a:endParaRPr lang="en-US" sz="1250" dirty="0"/>
          </a:p>
        </p:txBody>
      </p:sp>
      <p:sp>
        <p:nvSpPr>
          <p:cNvPr id="16" name="Text 11"/>
          <p:cNvSpPr txBox="1"/>
          <p:nvPr/>
        </p:nvSpPr>
        <p:spPr>
          <a:xfrm>
            <a:off x="1152144" y="4878324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Charge a fee schedule, or type an ad-hoc charge; void one that was wrong</a:t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4398264" y="232257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03420" y="2427732"/>
            <a:ext cx="173736" cy="173736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4910328" y="2267712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 Payment</a:t>
            </a:r>
            <a:endParaRPr lang="en-US" sz="1250" dirty="0"/>
          </a:p>
        </p:txBody>
      </p:sp>
      <p:sp>
        <p:nvSpPr>
          <p:cNvPr id="20" name="Text 14"/>
          <p:cNvSpPr txBox="1"/>
          <p:nvPr/>
        </p:nvSpPr>
        <p:spPr>
          <a:xfrm>
            <a:off x="4910328" y="2500884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Cash, GCash or bank transfer, with a sequential receipt number and the balance in front of you</a:t>
            </a:r>
            <a:endParaRPr lang="en-US" sz="1000" dirty="0"/>
          </a:p>
        </p:txBody>
      </p:sp>
      <p:sp>
        <p:nvSpPr>
          <p:cNvPr id="21" name="Shape 15"/>
          <p:cNvSpPr/>
          <p:nvPr/>
        </p:nvSpPr>
        <p:spPr>
          <a:xfrm>
            <a:off x="4398264" y="351129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03420" y="3616452"/>
            <a:ext cx="173736" cy="173736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4910328" y="3456432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 History</a:t>
            </a:r>
            <a:endParaRPr lang="en-US" sz="1250" dirty="0"/>
          </a:p>
        </p:txBody>
      </p:sp>
      <p:sp>
        <p:nvSpPr>
          <p:cNvPr id="24" name="Text 17"/>
          <p:cNvSpPr txBox="1"/>
          <p:nvPr/>
        </p:nvSpPr>
        <p:spPr>
          <a:xfrm>
            <a:off x="4910328" y="3689604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charge, payment and refund, and how the balance is made up</a:t>
            </a:r>
            <a:endParaRPr lang="en-US" sz="1000" dirty="0"/>
          </a:p>
        </p:txBody>
      </p:sp>
      <p:sp>
        <p:nvSpPr>
          <p:cNvPr id="25" name="Shape 18"/>
          <p:cNvSpPr/>
          <p:nvPr/>
        </p:nvSpPr>
        <p:spPr>
          <a:xfrm>
            <a:off x="4398264" y="470001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03420" y="4805172"/>
            <a:ext cx="173736" cy="173736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4910328" y="4645152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Records &amp; Forms</a:t>
            </a:r>
            <a:endParaRPr lang="en-US" sz="1250" dirty="0"/>
          </a:p>
        </p:txBody>
      </p:sp>
      <p:sp>
        <p:nvSpPr>
          <p:cNvPr id="28" name="Text 20"/>
          <p:cNvSpPr txBox="1"/>
          <p:nvPr/>
        </p:nvSpPr>
        <p:spPr>
          <a:xfrm>
            <a:off x="4910328" y="4878324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Print the Transcript of Records or Form 137, and log the release</a:t>
            </a:r>
            <a:endParaRPr lang="en-US" sz="1000" dirty="0"/>
          </a:p>
        </p:txBody>
      </p:sp>
      <p:sp>
        <p:nvSpPr>
          <p:cNvPr id="29" name="Shape 21"/>
          <p:cNvSpPr/>
          <p:nvPr/>
        </p:nvSpPr>
        <p:spPr>
          <a:xfrm>
            <a:off x="8156448" y="232257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30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61604" y="2427732"/>
            <a:ext cx="173736" cy="173736"/>
          </a:xfrm>
          <a:prstGeom prst="rect">
            <a:avLst/>
          </a:prstGeom>
        </p:spPr>
      </p:pic>
      <p:sp>
        <p:nvSpPr>
          <p:cNvPr id="31" name="Text 22"/>
          <p:cNvSpPr txBox="1"/>
          <p:nvPr/>
        </p:nvSpPr>
        <p:spPr>
          <a:xfrm>
            <a:off x="8668512" y="2267712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Attendance History</a:t>
            </a:r>
            <a:endParaRPr lang="en-US" sz="1250" dirty="0"/>
          </a:p>
        </p:txBody>
      </p:sp>
      <p:sp>
        <p:nvSpPr>
          <p:cNvPr id="32" name="Text 23"/>
          <p:cNvSpPr txBox="1"/>
          <p:nvPr/>
        </p:nvSpPr>
        <p:spPr>
          <a:xfrm>
            <a:off x="8668512" y="2500884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scan, in and out, with the status the server decided</a:t>
            </a:r>
            <a:endParaRPr lang="en-US" sz="1000" dirty="0"/>
          </a:p>
        </p:txBody>
      </p:sp>
      <p:sp>
        <p:nvSpPr>
          <p:cNvPr id="33" name="Shape 24"/>
          <p:cNvSpPr/>
          <p:nvPr/>
        </p:nvSpPr>
        <p:spPr>
          <a:xfrm>
            <a:off x="8156448" y="351129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34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261604" y="3616452"/>
            <a:ext cx="173736" cy="173736"/>
          </a:xfrm>
          <a:prstGeom prst="rect">
            <a:avLst/>
          </a:prstGeom>
        </p:spPr>
      </p:pic>
      <p:sp>
        <p:nvSpPr>
          <p:cNvPr id="35" name="Text 25"/>
          <p:cNvSpPr txBox="1"/>
          <p:nvPr/>
        </p:nvSpPr>
        <p:spPr>
          <a:xfrm>
            <a:off x="8668512" y="3456432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Portal Account</a:t>
            </a:r>
            <a:endParaRPr lang="en-US" sz="1250" dirty="0"/>
          </a:p>
        </p:txBody>
      </p:sp>
      <p:sp>
        <p:nvSpPr>
          <p:cNvPr id="36" name="Text 26"/>
          <p:cNvSpPr txBox="1"/>
          <p:nvPr/>
        </p:nvSpPr>
        <p:spPr>
          <a:xfrm>
            <a:off x="8668512" y="3689604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Issue the student their own login - only when the school wants one</a:t>
            </a:r>
            <a:endParaRPr lang="en-US" sz="1000" dirty="0"/>
          </a:p>
        </p:txBody>
      </p:sp>
      <p:sp>
        <p:nvSpPr>
          <p:cNvPr id="37" name="Shape 27"/>
          <p:cNvSpPr/>
          <p:nvPr/>
        </p:nvSpPr>
        <p:spPr>
          <a:xfrm>
            <a:off x="8156448" y="470001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38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261604" y="4805172"/>
            <a:ext cx="173736" cy="173736"/>
          </a:xfrm>
          <a:prstGeom prst="rect">
            <a:avLst/>
          </a:prstGeom>
        </p:spPr>
      </p:pic>
      <p:sp>
        <p:nvSpPr>
          <p:cNvPr id="39" name="Text 28"/>
          <p:cNvSpPr txBox="1"/>
          <p:nvPr/>
        </p:nvSpPr>
        <p:spPr>
          <a:xfrm>
            <a:off x="8668512" y="4645152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Balance</a:t>
            </a:r>
            <a:endParaRPr lang="en-US" sz="1250" dirty="0"/>
          </a:p>
        </p:txBody>
      </p:sp>
      <p:sp>
        <p:nvSpPr>
          <p:cNvPr id="40" name="Text 29"/>
          <p:cNvSpPr txBox="1"/>
          <p:nvPr/>
        </p:nvSpPr>
        <p:spPr>
          <a:xfrm>
            <a:off x="8668512" y="4878324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opening balance for a student carried over from the old system</a:t>
            </a:r>
            <a:endParaRPr lang="en-US" sz="1000" dirty="0"/>
          </a:p>
        </p:txBody>
      </p:sp>
      <p:sp>
        <p:nvSpPr>
          <p:cNvPr id="41" name="Text 30"/>
          <p:cNvSpPr txBox="1"/>
          <p:nvPr/>
        </p:nvSpPr>
        <p:spPr>
          <a:xfrm>
            <a:off x="640080" y="5943600"/>
            <a:ext cx="10908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balance moves only inside a recorded payment or refund - never by an edit.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FACULTY PORTAL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a teacher opens between classes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Seven tiles, and none of them ask a teacher to be an administrator first.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195681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5236" y="2061972"/>
            <a:ext cx="173736" cy="17373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152144" y="190195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 Schedule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1152144" y="213512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own week - what you teach, when, where, to whom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40080" y="2980944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36" y="3086100"/>
            <a:ext cx="173736" cy="173736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152144" y="2926080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Coursework</a:t>
            </a:r>
            <a:endParaRPr lang="en-US" sz="1250" dirty="0"/>
          </a:p>
        </p:txBody>
      </p:sp>
      <p:sp>
        <p:nvSpPr>
          <p:cNvPr id="12" name="Text 8"/>
          <p:cNvSpPr txBox="1"/>
          <p:nvPr/>
        </p:nvSpPr>
        <p:spPr>
          <a:xfrm>
            <a:off x="1152144" y="3159252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plans, lessons, assignments, projects, exams and quizzes in one list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" y="4005072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5236" y="4110228"/>
            <a:ext cx="173736" cy="173736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152144" y="3950208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 Submission</a:t>
            </a:r>
            <a:endParaRPr lang="en-US" sz="1250" dirty="0"/>
          </a:p>
        </p:txBody>
      </p:sp>
      <p:sp>
        <p:nvSpPr>
          <p:cNvPr id="16" name="Text 11"/>
          <p:cNvSpPr txBox="1"/>
          <p:nvPr/>
        </p:nvSpPr>
        <p:spPr>
          <a:xfrm>
            <a:off x="1152144" y="4183380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subject and section, load the roster, enter scores against a maximum</a:t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640080" y="5029200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5236" y="5134356"/>
            <a:ext cx="173736" cy="173736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1152144" y="4974336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 grades</a:t>
            </a:r>
            <a:endParaRPr lang="en-US" sz="1250" dirty="0"/>
          </a:p>
        </p:txBody>
      </p:sp>
      <p:sp>
        <p:nvSpPr>
          <p:cNvPr id="20" name="Text 14"/>
          <p:cNvSpPr txBox="1"/>
          <p:nvPr/>
        </p:nvSpPr>
        <p:spPr>
          <a:xfrm>
            <a:off x="1152144" y="5207508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Bring a term's marks in from a spreadsheet instead of typing them</a:t>
            </a:r>
            <a:endParaRPr lang="en-US" sz="1000" dirty="0"/>
          </a:p>
        </p:txBody>
      </p:sp>
      <p:sp>
        <p:nvSpPr>
          <p:cNvPr id="21" name="Shape 15"/>
          <p:cNvSpPr/>
          <p:nvPr/>
        </p:nvSpPr>
        <p:spPr>
          <a:xfrm>
            <a:off x="6323076" y="195681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28232" y="2061972"/>
            <a:ext cx="173736" cy="173736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6835140" y="190195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 Requests</a:t>
            </a:r>
            <a:endParaRPr lang="en-US" sz="1250" dirty="0"/>
          </a:p>
        </p:txBody>
      </p:sp>
      <p:sp>
        <p:nvSpPr>
          <p:cNvPr id="24" name="Text 17"/>
          <p:cNvSpPr txBox="1"/>
          <p:nvPr/>
        </p:nvSpPr>
        <p:spPr>
          <a:xfrm>
            <a:off x="6835140" y="213512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 what you need; it lands in the same approvals inbox the Director reads</a:t>
            </a:r>
            <a:endParaRPr lang="en-US" sz="1000" dirty="0"/>
          </a:p>
        </p:txBody>
      </p:sp>
      <p:sp>
        <p:nvSpPr>
          <p:cNvPr id="25" name="Shape 18"/>
          <p:cNvSpPr/>
          <p:nvPr/>
        </p:nvSpPr>
        <p:spPr>
          <a:xfrm>
            <a:off x="6323076" y="2980944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28232" y="3086100"/>
            <a:ext cx="173736" cy="173736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6835140" y="2926080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 Attendance</a:t>
            </a:r>
            <a:endParaRPr lang="en-US" sz="1250" dirty="0"/>
          </a:p>
        </p:txBody>
      </p:sp>
      <p:sp>
        <p:nvSpPr>
          <p:cNvPr id="28" name="Text 20"/>
          <p:cNvSpPr txBox="1"/>
          <p:nvPr/>
        </p:nvSpPr>
        <p:spPr>
          <a:xfrm>
            <a:off x="6835140" y="3159252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 your class present by scanning their IDs</a:t>
            </a:r>
            <a:endParaRPr lang="en-US" sz="1000" dirty="0"/>
          </a:p>
        </p:txBody>
      </p:sp>
      <p:sp>
        <p:nvSpPr>
          <p:cNvPr id="29" name="Shape 21"/>
          <p:cNvSpPr/>
          <p:nvPr/>
        </p:nvSpPr>
        <p:spPr>
          <a:xfrm>
            <a:off x="6323076" y="4005072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30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28232" y="4110228"/>
            <a:ext cx="173736" cy="173736"/>
          </a:xfrm>
          <a:prstGeom prst="rect">
            <a:avLst/>
          </a:prstGeom>
        </p:spPr>
      </p:pic>
      <p:sp>
        <p:nvSpPr>
          <p:cNvPr id="31" name="Text 22"/>
          <p:cNvSpPr txBox="1"/>
          <p:nvPr/>
        </p:nvSpPr>
        <p:spPr>
          <a:xfrm>
            <a:off x="6835140" y="3950208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Emergency Alerts</a:t>
            </a:r>
            <a:endParaRPr lang="en-US" sz="1250" dirty="0"/>
          </a:p>
        </p:txBody>
      </p:sp>
      <p:sp>
        <p:nvSpPr>
          <p:cNvPr id="32" name="Text 23"/>
          <p:cNvSpPr txBox="1"/>
          <p:nvPr/>
        </p:nvSpPr>
        <p:spPr>
          <a:xfrm>
            <a:off x="6835140" y="4183380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Raise or read an alert without leaving the room</a:t>
            </a:r>
            <a:endParaRPr lang="en-US" sz="1000" dirty="0"/>
          </a:p>
        </p:txBody>
      </p:sp>
      <p:sp>
        <p:nvSpPr>
          <p:cNvPr id="33" name="Shape 24"/>
          <p:cNvSpPr/>
          <p:nvPr/>
        </p:nvSpPr>
        <p:spPr>
          <a:xfrm>
            <a:off x="6323076" y="5029200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34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28232" y="5134356"/>
            <a:ext cx="173736" cy="173736"/>
          </a:xfrm>
          <a:prstGeom prst="rect">
            <a:avLst/>
          </a:prstGeom>
        </p:spPr>
      </p:pic>
      <p:sp>
        <p:nvSpPr>
          <p:cNvPr id="35" name="Text 25"/>
          <p:cNvSpPr txBox="1"/>
          <p:nvPr/>
        </p:nvSpPr>
        <p:spPr>
          <a:xfrm>
            <a:off x="6835140" y="4974336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Announcements</a:t>
            </a:r>
            <a:endParaRPr lang="en-US" sz="1250" dirty="0"/>
          </a:p>
        </p:txBody>
      </p:sp>
      <p:sp>
        <p:nvSpPr>
          <p:cNvPr id="36" name="Text 26"/>
          <p:cNvSpPr txBox="1"/>
          <p:nvPr/>
        </p:nvSpPr>
        <p:spPr>
          <a:xfrm>
            <a:off x="6835140" y="5207508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 to your own sections under your own name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COURSEWORK, ANSWER KEYS AND SUBMISSIONS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Set work, mark it, and let it mark itself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kinds of coursework share one screen: Lesson Plan, Lesson, Assignment, Project, Exam and Quiz.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194560"/>
            <a:ext cx="2569464" cy="2971800"/>
          </a:xfrm>
          <a:prstGeom prst="roundRect">
            <a:avLst>
              <a:gd name="adj" fmla="val 3559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77824" y="2414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2124" y="2528316"/>
            <a:ext cx="228600" cy="2286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77824" y="298094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the work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77824" y="3264408"/>
            <a:ext cx="2093976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Type, title, description, subject, section, due date and total points. Leave "Publish now" off and it saves as a draft only staff can see.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3419856" y="2194560"/>
            <a:ext cx="2569464" cy="2971800"/>
          </a:xfrm>
          <a:prstGeom prst="roundRect">
            <a:avLst>
              <a:gd name="adj" fmla="val 3559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57600" y="2414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71900" y="2528316"/>
            <a:ext cx="228600" cy="2286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3657600" y="298094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key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3657600" y="3264408"/>
            <a:ext cx="2093976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correct answers one per line and set the marks per question. Save the key and everything already handed in is re-marked against it.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6199632" y="2194560"/>
            <a:ext cx="2569464" cy="2971800"/>
          </a:xfrm>
          <a:prstGeom prst="roundRect">
            <a:avLst>
              <a:gd name="adj" fmla="val 3559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6437376" y="2414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1676" y="2528316"/>
            <a:ext cx="228600" cy="22860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437376" y="298094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Submissions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6437376" y="3264408"/>
            <a:ext cx="2093976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handed in, who is outstanding, who was late. Open one, give it a score and written feedback, or let the key score it.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8979408" y="2194560"/>
            <a:ext cx="2569464" cy="2971800"/>
          </a:xfrm>
          <a:prstGeom prst="roundRect">
            <a:avLst>
              <a:gd name="adj" fmla="val 3559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9217152" y="2414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31452" y="2528316"/>
            <a:ext cx="228600" cy="22860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9217152" y="298094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student side</a:t>
            </a:r>
            <a:endParaRPr lang="en-US" sz="1400" dirty="0"/>
          </a:p>
        </p:txBody>
      </p:sp>
      <p:sp>
        <p:nvSpPr>
          <p:cNvPr id="24" name="Text 18"/>
          <p:cNvSpPr txBox="1"/>
          <p:nvPr/>
        </p:nvSpPr>
        <p:spPr>
          <a:xfrm>
            <a:off x="9217152" y="3264408"/>
            <a:ext cx="2093976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student answers question by question, sees the mark and the teacher's feedback, and can change their answer while it is still open.</a:t>
            </a:r>
            <a:endParaRPr lang="en-US" sz="1100" dirty="0"/>
          </a:p>
        </p:txBody>
      </p:sp>
      <p:sp>
        <p:nvSpPr>
          <p:cNvPr id="25" name="Text 19"/>
          <p:cNvSpPr txBox="1"/>
          <p:nvPr/>
        </p:nvSpPr>
        <p:spPr>
          <a:xfrm>
            <a:off x="640080" y="5440680"/>
            <a:ext cx="10908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draft stays invisible to students until the teacher publishes it.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GRADING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Weighted the DepEd way, and printed as a Form 138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Written work, performance tasks and quarterly assessment - weighted per subject group by the school's own table.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14884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77824" y="236829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2124" y="2482596"/>
            <a:ext cx="228600" cy="2286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77824" y="2935224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class record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77824" y="3218688"/>
            <a:ext cx="4873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piece of work is a column, the class is the rows. Type the marks down it once and every grade recomputes - no dialog per child, and a corrected mark replaces the wrong one rather than adding to it.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6199632" y="214884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437376" y="236829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51676" y="2482596"/>
            <a:ext cx="228600" cy="2286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6437376" y="2935224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percentages are yours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6437376" y="3218688"/>
            <a:ext cx="4873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Seeded with the DepEd Order 8 s.2015 groupings and confirmed by a named person at the school - and a subject teacher can set their own split for their class, as long as it adds up to a hundred.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640080" y="448056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77824" y="4700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2124" y="4814316"/>
            <a:ext cx="228600" cy="22860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877824" y="5266944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missing component is not a zero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877824" y="5550408"/>
            <a:ext cx="4873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week two of a quarter no exam has been given. The grade is rescaled out of the weight that exists and names what is still missing, rather than capping every child at 80.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6199632" y="448056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6437376" y="4700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51676" y="4814316"/>
            <a:ext cx="228600" cy="22860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6437376" y="5266944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report card shows its work</a:t>
            </a:r>
            <a:endParaRPr lang="en-US" sz="1400" dirty="0"/>
          </a:p>
        </p:txBody>
      </p:sp>
      <p:sp>
        <p:nvSpPr>
          <p:cNvPr id="24" name="Text 18"/>
          <p:cNvSpPr txBox="1"/>
          <p:nvPr/>
        </p:nvSpPr>
        <p:spPr>
          <a:xfrm>
            <a:off x="6437376" y="5550408"/>
            <a:ext cx="4873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 138 on the school's own letterhead, and a second page giving every component - raw over possible, the percentage, the weight, what it contributed - for the quarter being read.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GUIDANCE AND STAFF PORTALS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smaller roles, deliberately kept apart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of these records is the most closely held in the system. The other is a work log nobody, including its author, can edit.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148840"/>
            <a:ext cx="2569464" cy="2423160"/>
          </a:xfrm>
          <a:prstGeom prst="roundRect">
            <a:avLst>
              <a:gd name="adj" fmla="val 3774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77824" y="236829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2124" y="2482596"/>
            <a:ext cx="228600" cy="2286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77824" y="293522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Guidance Records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77824" y="3218688"/>
            <a:ext cx="209397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Counselling notes against one student, by category. The guidance office, the Director and the division Principal - and nobody else, not even the class adviser.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3419856" y="2148840"/>
            <a:ext cx="2569464" cy="2423160"/>
          </a:xfrm>
          <a:prstGeom prst="roundRect">
            <a:avLst>
              <a:gd name="adj" fmla="val 3774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57600" y="236829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71900" y="2482596"/>
            <a:ext cx="228600" cy="2286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3657600" y="293522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 Summons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3657600" y="3218688"/>
            <a:ext cx="209397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 a student to the office with a reason and a time. Visible to the student and the linked parent too: a family should not learn about it afterwards.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6199632" y="2148840"/>
            <a:ext cx="2569464" cy="2423160"/>
          </a:xfrm>
          <a:prstGeom prst="roundRect">
            <a:avLst>
              <a:gd name="adj" fmla="val 3774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6437376" y="236829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1676" y="2482596"/>
            <a:ext cx="228600" cy="22860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437376" y="293522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Staff Checklist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6437376" y="3218688"/>
            <a:ext cx="209397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personal task list for today. Add a task, edit it, tick it off. It resets with the date rather than piling up week on week.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8979408" y="2148840"/>
            <a:ext cx="2569464" cy="2423160"/>
          </a:xfrm>
          <a:prstGeom prst="roundRect">
            <a:avLst>
              <a:gd name="adj" fmla="val 3774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9217152" y="236829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31452" y="2482596"/>
            <a:ext cx="228600" cy="22860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9217152" y="293522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Reports</a:t>
            </a:r>
            <a:endParaRPr lang="en-US" sz="1400" dirty="0"/>
          </a:p>
        </p:txBody>
      </p:sp>
      <p:sp>
        <p:nvSpPr>
          <p:cNvPr id="24" name="Text 18"/>
          <p:cNvSpPr txBox="1"/>
          <p:nvPr/>
        </p:nvSpPr>
        <p:spPr>
          <a:xfrm>
            <a:off x="9217152" y="3218688"/>
            <a:ext cx="209397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short end-of-day work log. Written once and never editable - a correction is a new entry, so the record stays trustworthy.</a:t>
            </a:r>
            <a:endParaRPr lang="en-US" sz="1100" dirty="0"/>
          </a:p>
        </p:txBody>
      </p:sp>
      <p:sp>
        <p:nvSpPr>
          <p:cNvPr id="25" name="Shape 19"/>
          <p:cNvSpPr/>
          <p:nvPr/>
        </p:nvSpPr>
        <p:spPr>
          <a:xfrm>
            <a:off x="640080" y="502005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2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5236" y="5125212"/>
            <a:ext cx="173736" cy="173736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1152144" y="4965192"/>
            <a:ext cx="2910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 Requests</a:t>
            </a:r>
            <a:endParaRPr lang="en-US" sz="1250" dirty="0"/>
          </a:p>
        </p:txBody>
      </p:sp>
      <p:sp>
        <p:nvSpPr>
          <p:cNvPr id="28" name="Text 21"/>
          <p:cNvSpPr txBox="1"/>
          <p:nvPr/>
        </p:nvSpPr>
        <p:spPr>
          <a:xfrm>
            <a:off x="1152144" y="5198364"/>
            <a:ext cx="2910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Staff file into the same approvals inbox faculty use</a:t>
            </a:r>
            <a:endParaRPr lang="en-US" sz="1000" dirty="0"/>
          </a:p>
        </p:txBody>
      </p:sp>
      <p:sp>
        <p:nvSpPr>
          <p:cNvPr id="29" name="Shape 22"/>
          <p:cNvSpPr/>
          <p:nvPr/>
        </p:nvSpPr>
        <p:spPr>
          <a:xfrm>
            <a:off x="4383024" y="502005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3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88180" y="5125212"/>
            <a:ext cx="173736" cy="173736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4895088" y="4965192"/>
            <a:ext cx="2910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Emergency Alerts</a:t>
            </a:r>
            <a:endParaRPr lang="en-US" sz="1250" dirty="0"/>
          </a:p>
        </p:txBody>
      </p:sp>
      <p:sp>
        <p:nvSpPr>
          <p:cNvPr id="32" name="Text 24"/>
          <p:cNvSpPr txBox="1"/>
          <p:nvPr/>
        </p:nvSpPr>
        <p:spPr>
          <a:xfrm>
            <a:off x="4895088" y="5198364"/>
            <a:ext cx="2910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Guidance sees every alert raised in the school</a:t>
            </a:r>
            <a:endParaRPr lang="en-US" sz="1000" dirty="0"/>
          </a:p>
        </p:txBody>
      </p:sp>
      <p:sp>
        <p:nvSpPr>
          <p:cNvPr id="33" name="Shape 25"/>
          <p:cNvSpPr/>
          <p:nvPr/>
        </p:nvSpPr>
        <p:spPr>
          <a:xfrm>
            <a:off x="8125968" y="502005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34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31124" y="5125212"/>
            <a:ext cx="173736" cy="173736"/>
          </a:xfrm>
          <a:prstGeom prst="rect">
            <a:avLst/>
          </a:prstGeom>
        </p:spPr>
      </p:pic>
      <p:sp>
        <p:nvSpPr>
          <p:cNvPr id="35" name="Text 26"/>
          <p:cNvSpPr txBox="1"/>
          <p:nvPr/>
        </p:nvSpPr>
        <p:spPr>
          <a:xfrm>
            <a:off x="8638032" y="4965192"/>
            <a:ext cx="2910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 e-ID</a:t>
            </a:r>
            <a:endParaRPr lang="en-US" sz="1250" dirty="0"/>
          </a:p>
        </p:txBody>
      </p:sp>
      <p:sp>
        <p:nvSpPr>
          <p:cNvPr id="36" name="Text 27"/>
          <p:cNvSpPr txBox="1"/>
          <p:nvPr/>
        </p:nvSpPr>
        <p:spPr>
          <a:xfrm>
            <a:off x="8638032" y="5198364"/>
            <a:ext cx="2910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Staff carry their own scannable ID for timekeeping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4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 PORTAL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Ten things a student can check on their phone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school can issue logins to every student, to some, or to none - a student record does not need an account to exist.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00253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5236" y="2107692"/>
            <a:ext cx="173736" cy="17373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152144" y="194767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Subjects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1152144" y="218084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subject, its teacher, and what has been posted in it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40080" y="2798064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36" y="2903220"/>
            <a:ext cx="173736" cy="173736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152144" y="2743200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 Timetable</a:t>
            </a:r>
            <a:endParaRPr lang="en-US" sz="1250" dirty="0"/>
          </a:p>
        </p:txBody>
      </p:sp>
      <p:sp>
        <p:nvSpPr>
          <p:cNvPr id="12" name="Text 8"/>
          <p:cNvSpPr txBox="1"/>
          <p:nvPr/>
        </p:nvSpPr>
        <p:spPr>
          <a:xfrm>
            <a:off x="1152144" y="2976372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week, day by day, with room and teacher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" y="3593592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5236" y="3698748"/>
            <a:ext cx="173736" cy="173736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152144" y="3538728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Assignments &amp; Exams</a:t>
            </a:r>
            <a:endParaRPr lang="en-US" sz="1250" dirty="0"/>
          </a:p>
        </p:txBody>
      </p:sp>
      <p:sp>
        <p:nvSpPr>
          <p:cNvPr id="16" name="Text 11"/>
          <p:cNvSpPr txBox="1"/>
          <p:nvPr/>
        </p:nvSpPr>
        <p:spPr>
          <a:xfrm>
            <a:off x="1152144" y="3771900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feed of published work, filterable by kind</a:t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640080" y="4389120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5236" y="4494276"/>
            <a:ext cx="173736" cy="173736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1152144" y="4334256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Grades</a:t>
            </a:r>
            <a:endParaRPr lang="en-US" sz="1250" dirty="0"/>
          </a:p>
        </p:txBody>
      </p:sp>
      <p:sp>
        <p:nvSpPr>
          <p:cNvPr id="20" name="Text 14"/>
          <p:cNvSpPr txBox="1"/>
          <p:nvPr/>
        </p:nvSpPr>
        <p:spPr>
          <a:xfrm>
            <a:off x="1152144" y="4567428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Marks per subject and term, as the teacher submitted them</a:t>
            </a:r>
            <a:endParaRPr lang="en-US" sz="1000" dirty="0"/>
          </a:p>
        </p:txBody>
      </p:sp>
      <p:sp>
        <p:nvSpPr>
          <p:cNvPr id="21" name="Shape 15"/>
          <p:cNvSpPr/>
          <p:nvPr/>
        </p:nvSpPr>
        <p:spPr>
          <a:xfrm>
            <a:off x="640080" y="5184648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5236" y="5289804"/>
            <a:ext cx="173736" cy="173736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1152144" y="5129784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Attendance</a:t>
            </a:r>
            <a:endParaRPr lang="en-US" sz="1250" dirty="0"/>
          </a:p>
        </p:txBody>
      </p:sp>
      <p:sp>
        <p:nvSpPr>
          <p:cNvPr id="24" name="Text 17"/>
          <p:cNvSpPr txBox="1"/>
          <p:nvPr/>
        </p:nvSpPr>
        <p:spPr>
          <a:xfrm>
            <a:off x="1152144" y="5362956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Their own record, every scan, in and out</a:t>
            </a:r>
            <a:endParaRPr lang="en-US" sz="1000" dirty="0"/>
          </a:p>
        </p:txBody>
      </p:sp>
      <p:sp>
        <p:nvSpPr>
          <p:cNvPr id="25" name="Shape 18"/>
          <p:cNvSpPr/>
          <p:nvPr/>
        </p:nvSpPr>
        <p:spPr>
          <a:xfrm>
            <a:off x="6323076" y="200253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28232" y="2107692"/>
            <a:ext cx="173736" cy="173736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6835140" y="194767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Payments &amp; Balance</a:t>
            </a:r>
            <a:endParaRPr lang="en-US" sz="1250" dirty="0"/>
          </a:p>
        </p:txBody>
      </p:sp>
      <p:sp>
        <p:nvSpPr>
          <p:cNvPr id="28" name="Text 20"/>
          <p:cNvSpPr txBox="1"/>
          <p:nvPr/>
        </p:nvSpPr>
        <p:spPr>
          <a:xfrm>
            <a:off x="6835140" y="218084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was charged, what was paid, what is left - and how it adds up</a:t>
            </a:r>
            <a:endParaRPr lang="en-US" sz="1000" dirty="0"/>
          </a:p>
        </p:txBody>
      </p:sp>
      <p:sp>
        <p:nvSpPr>
          <p:cNvPr id="29" name="Shape 21"/>
          <p:cNvSpPr/>
          <p:nvPr/>
        </p:nvSpPr>
        <p:spPr>
          <a:xfrm>
            <a:off x="6323076" y="2798064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30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28232" y="2903220"/>
            <a:ext cx="173736" cy="173736"/>
          </a:xfrm>
          <a:prstGeom prst="rect">
            <a:avLst/>
          </a:prstGeom>
        </p:spPr>
      </p:pic>
      <p:sp>
        <p:nvSpPr>
          <p:cNvPr id="31" name="Text 22"/>
          <p:cNvSpPr txBox="1"/>
          <p:nvPr/>
        </p:nvSpPr>
        <p:spPr>
          <a:xfrm>
            <a:off x="6835140" y="2743200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Promissory Note</a:t>
            </a:r>
            <a:endParaRPr lang="en-US" sz="1250" dirty="0"/>
          </a:p>
        </p:txBody>
      </p:sp>
      <p:sp>
        <p:nvSpPr>
          <p:cNvPr id="32" name="Text 23"/>
          <p:cNvSpPr txBox="1"/>
          <p:nvPr/>
        </p:nvSpPr>
        <p:spPr>
          <a:xfrm>
            <a:off x="6835140" y="2976372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for an extension with an amount and a reason</a:t>
            </a:r>
            <a:endParaRPr lang="en-US" sz="1000" dirty="0"/>
          </a:p>
        </p:txBody>
      </p:sp>
      <p:sp>
        <p:nvSpPr>
          <p:cNvPr id="33" name="Shape 24"/>
          <p:cNvSpPr/>
          <p:nvPr/>
        </p:nvSpPr>
        <p:spPr>
          <a:xfrm>
            <a:off x="6323076" y="3593592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34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28232" y="3698748"/>
            <a:ext cx="173736" cy="173736"/>
          </a:xfrm>
          <a:prstGeom prst="rect">
            <a:avLst/>
          </a:prstGeom>
        </p:spPr>
      </p:pic>
      <p:sp>
        <p:nvSpPr>
          <p:cNvPr id="35" name="Text 25"/>
          <p:cNvSpPr txBox="1"/>
          <p:nvPr/>
        </p:nvSpPr>
        <p:spPr>
          <a:xfrm>
            <a:off x="6835140" y="3538728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Emergency</a:t>
            </a:r>
            <a:endParaRPr lang="en-US" sz="1250" dirty="0"/>
          </a:p>
        </p:txBody>
      </p:sp>
      <p:sp>
        <p:nvSpPr>
          <p:cNvPr id="36" name="Text 26"/>
          <p:cNvSpPr txBox="1"/>
          <p:nvPr/>
        </p:nvSpPr>
        <p:spPr>
          <a:xfrm>
            <a:off x="6835140" y="3771900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button that alerts the adviser, guidance, the office and the parents</a:t>
            </a:r>
            <a:endParaRPr lang="en-US" sz="1000" dirty="0"/>
          </a:p>
        </p:txBody>
      </p:sp>
      <p:sp>
        <p:nvSpPr>
          <p:cNvPr id="37" name="Shape 27"/>
          <p:cNvSpPr/>
          <p:nvPr/>
        </p:nvSpPr>
        <p:spPr>
          <a:xfrm>
            <a:off x="6323076" y="4389120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38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428232" y="4494276"/>
            <a:ext cx="173736" cy="173736"/>
          </a:xfrm>
          <a:prstGeom prst="rect">
            <a:avLst/>
          </a:prstGeom>
        </p:spPr>
      </p:pic>
      <p:sp>
        <p:nvSpPr>
          <p:cNvPr id="39" name="Text 28"/>
          <p:cNvSpPr txBox="1"/>
          <p:nvPr/>
        </p:nvSpPr>
        <p:spPr>
          <a:xfrm>
            <a:off x="6835140" y="4334256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Announcements</a:t>
            </a:r>
            <a:endParaRPr lang="en-US" sz="1250" dirty="0"/>
          </a:p>
        </p:txBody>
      </p:sp>
      <p:sp>
        <p:nvSpPr>
          <p:cNvPr id="40" name="Text 29"/>
          <p:cNvSpPr txBox="1"/>
          <p:nvPr/>
        </p:nvSpPr>
        <p:spPr>
          <a:xfrm>
            <a:off x="6835140" y="4567428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addressed to students</a:t>
            </a:r>
            <a:endParaRPr lang="en-US" sz="1000" dirty="0"/>
          </a:p>
        </p:txBody>
      </p:sp>
      <p:sp>
        <p:nvSpPr>
          <p:cNvPr id="41" name="Shape 30"/>
          <p:cNvSpPr/>
          <p:nvPr/>
        </p:nvSpPr>
        <p:spPr>
          <a:xfrm>
            <a:off x="6323076" y="5184648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42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428232" y="5289804"/>
            <a:ext cx="173736" cy="173736"/>
          </a:xfrm>
          <a:prstGeom prst="rect">
            <a:avLst/>
          </a:prstGeom>
        </p:spPr>
      </p:pic>
      <p:sp>
        <p:nvSpPr>
          <p:cNvPr id="43" name="Text 31"/>
          <p:cNvSpPr txBox="1"/>
          <p:nvPr/>
        </p:nvSpPr>
        <p:spPr>
          <a:xfrm>
            <a:off x="6835140" y="5129784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 QR ID</a:t>
            </a:r>
            <a:endParaRPr lang="en-US" sz="1250" dirty="0"/>
          </a:p>
        </p:txBody>
      </p:sp>
      <p:sp>
        <p:nvSpPr>
          <p:cNvPr id="44" name="Text 32"/>
          <p:cNvSpPr txBox="1"/>
          <p:nvPr/>
        </p:nvSpPr>
        <p:spPr>
          <a:xfrm>
            <a:off x="6835140" y="5362956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school ID card, on the phone and printable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PARENT PORTAL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child in one place, without a second app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account can be linked to several children. The dashboard is the list of them; opening one gives four tabs.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286000"/>
            <a:ext cx="2569464" cy="2194560"/>
          </a:xfrm>
          <a:prstGeom prst="roundRect">
            <a:avLst>
              <a:gd name="adj" fmla="val 4167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77824" y="250545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2124" y="2619756"/>
            <a:ext cx="228600" cy="2286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77824" y="307238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Attendance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77824" y="3355848"/>
            <a:ext cx="209397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day their child was scanned in, and whether it was on time.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3419856" y="2286000"/>
            <a:ext cx="2569464" cy="2194560"/>
          </a:xfrm>
          <a:prstGeom prst="roundRect">
            <a:avLst>
              <a:gd name="adj" fmla="val 4167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57600" y="250545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71900" y="2619756"/>
            <a:ext cx="228600" cy="2286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3657600" y="307238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Timetable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3657600" y="3355848"/>
            <a:ext cx="209397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the child is meant to be, hour by hour.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6199632" y="2286000"/>
            <a:ext cx="2569464" cy="2194560"/>
          </a:xfrm>
          <a:prstGeom prst="roundRect">
            <a:avLst>
              <a:gd name="adj" fmla="val 4167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6437376" y="250545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1676" y="2619756"/>
            <a:ext cx="228600" cy="22860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437376" y="307238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Grades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6437376" y="3355848"/>
            <a:ext cx="209397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Marks as the teacher submitted them, per subject and term.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8979408" y="2286000"/>
            <a:ext cx="2569464" cy="2194560"/>
          </a:xfrm>
          <a:prstGeom prst="roundRect">
            <a:avLst>
              <a:gd name="adj" fmla="val 4167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9217152" y="250545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31452" y="2619756"/>
            <a:ext cx="228600" cy="22860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9217152" y="307238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Statement of Account</a:t>
            </a:r>
            <a:endParaRPr lang="en-US" sz="1400" dirty="0"/>
          </a:p>
        </p:txBody>
      </p:sp>
      <p:sp>
        <p:nvSpPr>
          <p:cNvPr id="24" name="Text 18"/>
          <p:cNvSpPr txBox="1"/>
          <p:nvPr/>
        </p:nvSpPr>
        <p:spPr>
          <a:xfrm>
            <a:off x="9217152" y="3355848"/>
            <a:ext cx="209397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Charges, payments and the balance - read only. Refunds stay with the school.</a:t>
            </a:r>
            <a:endParaRPr lang="en-US" sz="1100" dirty="0"/>
          </a:p>
        </p:txBody>
      </p:sp>
      <p:sp>
        <p:nvSpPr>
          <p:cNvPr id="25" name="Shape 19"/>
          <p:cNvSpPr/>
          <p:nvPr/>
        </p:nvSpPr>
        <p:spPr>
          <a:xfrm>
            <a:off x="640080" y="502005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2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5236" y="5125212"/>
            <a:ext cx="173736" cy="173736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1152144" y="4965192"/>
            <a:ext cx="2910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Emergency Alerts</a:t>
            </a:r>
            <a:endParaRPr lang="en-US" sz="1250" dirty="0"/>
          </a:p>
        </p:txBody>
      </p:sp>
      <p:sp>
        <p:nvSpPr>
          <p:cNvPr id="28" name="Text 21"/>
          <p:cNvSpPr txBox="1"/>
          <p:nvPr/>
        </p:nvSpPr>
        <p:spPr>
          <a:xfrm>
            <a:off x="1152144" y="5198364"/>
            <a:ext cx="2910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unresolved alert about their child is shown as a banner, not hidden behind an icon</a:t>
            </a:r>
            <a:endParaRPr lang="en-US" sz="1000" dirty="0"/>
          </a:p>
        </p:txBody>
      </p:sp>
      <p:sp>
        <p:nvSpPr>
          <p:cNvPr id="29" name="Shape 22"/>
          <p:cNvSpPr/>
          <p:nvPr/>
        </p:nvSpPr>
        <p:spPr>
          <a:xfrm>
            <a:off x="4383024" y="502005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3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88180" y="5125212"/>
            <a:ext cx="173736" cy="173736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4895088" y="4965192"/>
            <a:ext cx="2910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Announcements</a:t>
            </a:r>
            <a:endParaRPr lang="en-US" sz="1250" dirty="0"/>
          </a:p>
        </p:txBody>
      </p:sp>
      <p:sp>
        <p:nvSpPr>
          <p:cNvPr id="32" name="Text 24"/>
          <p:cNvSpPr txBox="1"/>
          <p:nvPr/>
        </p:nvSpPr>
        <p:spPr>
          <a:xfrm>
            <a:off x="4895088" y="5198364"/>
            <a:ext cx="2910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the school addressed to parents, pushed to the phone</a:t>
            </a:r>
            <a:endParaRPr lang="en-US" sz="1000" dirty="0"/>
          </a:p>
        </p:txBody>
      </p:sp>
      <p:sp>
        <p:nvSpPr>
          <p:cNvPr id="33" name="Shape 25"/>
          <p:cNvSpPr/>
          <p:nvPr/>
        </p:nvSpPr>
        <p:spPr>
          <a:xfrm>
            <a:off x="8125968" y="502005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34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31124" y="5125212"/>
            <a:ext cx="173736" cy="173736"/>
          </a:xfrm>
          <a:prstGeom prst="rect">
            <a:avLst/>
          </a:prstGeom>
        </p:spPr>
      </p:pic>
      <p:sp>
        <p:nvSpPr>
          <p:cNvPr id="35" name="Text 26"/>
          <p:cNvSpPr txBox="1"/>
          <p:nvPr/>
        </p:nvSpPr>
        <p:spPr>
          <a:xfrm>
            <a:off x="8638032" y="4965192"/>
            <a:ext cx="2910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 online</a:t>
            </a:r>
            <a:endParaRPr lang="en-US" sz="1250" dirty="0"/>
          </a:p>
        </p:txBody>
      </p:sp>
      <p:sp>
        <p:nvSpPr>
          <p:cNvPr id="36" name="Text 27"/>
          <p:cNvSpPr txBox="1"/>
          <p:nvPr/>
        </p:nvSpPr>
        <p:spPr>
          <a:xfrm>
            <a:off x="8638032" y="5198364"/>
            <a:ext cx="2910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Send the fee by GCash or bank transfer and submit the reference for review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ATTENDANCE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camera, a QR code, and no slips of paper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person in the school carries a QR ID. Staff roles carry a scanner. The scan itself decides the rest.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14884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77824" y="236829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2124" y="2482596"/>
            <a:ext cx="228600" cy="2286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77824" y="2935224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ID card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77824" y="3218688"/>
            <a:ext cx="4873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real card layout with the school logo behind it, the student's photo, and the principal and director signatures from Branding. Print it, or keep it on the phone.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6199632" y="214884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437376" y="236829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51676" y="2482596"/>
            <a:ext cx="228600" cy="2286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6437376" y="2935224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scan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6437376" y="3218688"/>
            <a:ext cx="4873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Scan Attendance, point at the code, and the record is written. Scan again later and it is a time-out - but a second tap in the queue, seconds after the first, is not: the person is already in, and the scanner says so.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640080" y="448056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77824" y="4700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2124" y="4814316"/>
            <a:ext cx="228600" cy="22860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877824" y="5266944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 or late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877824" y="5550408"/>
            <a:ext cx="4873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Decided on the server against the school's cutoff time and the school's timezone - not by the clock on the phone doing the scanning.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6199632" y="448056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6437376" y="4700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51676" y="4814316"/>
            <a:ext cx="228600" cy="22860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6437376" y="5266944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can see it</a:t>
            </a:r>
            <a:endParaRPr lang="en-US" sz="1400" dirty="0"/>
          </a:p>
        </p:txBody>
      </p:sp>
      <p:sp>
        <p:nvSpPr>
          <p:cNvPr id="24" name="Text 18"/>
          <p:cNvSpPr txBox="1"/>
          <p:nvPr/>
        </p:nvSpPr>
        <p:spPr>
          <a:xfrm>
            <a:off x="6437376" y="5550408"/>
            <a:ext cx="4873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student, their linked parent, and the staff roles allowed to. Attendance cannot be written from a client at all, only by the scan.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ATTENDANCE PER SUBJECT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register the teacher takes, not just the gate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gate scan says they came to school. It cannot say they were in Physics - which is the question behind a grade that dropped.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14884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77824" y="236829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2124" y="2482596"/>
            <a:ext cx="228600" cy="2286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77824" y="2935224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in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77824" y="3218688"/>
            <a:ext cx="4873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teacher presses it at the start of the class. The whole section appears, marked present - so a register taken in a hurry still records the truth about everyone who was there.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6199632" y="214884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437376" y="236829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51676" y="2482596"/>
            <a:ext cx="228600" cy="2286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6437376" y="2935224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 the exceptions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6437376" y="3218688"/>
            <a:ext cx="4873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Present, late, absent, excused - one tap each. Three absences is three taps, not forty. Corrections allowed on the day, not after.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640080" y="448056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77824" y="4700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2124" y="4814316"/>
            <a:ext cx="228600" cy="22860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877824" y="5266944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out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877824" y="5550408"/>
            <a:ext cx="4873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Ends the class, and records the finish time against everyone who was in it. Absent students get no time out, because they had no time in.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6199632" y="448056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6437376" y="4700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51676" y="4814316"/>
            <a:ext cx="228600" cy="22860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6437376" y="5266944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family sees</a:t>
            </a:r>
            <a:endParaRPr lang="en-US" sz="1400" dirty="0"/>
          </a:p>
        </p:txBody>
      </p:sp>
      <p:sp>
        <p:nvSpPr>
          <p:cNvPr id="24" name="Text 18"/>
          <p:cNvSpPr txBox="1"/>
          <p:nvPr/>
        </p:nvSpPr>
        <p:spPr>
          <a:xfrm>
            <a:off x="6437376" y="5550408"/>
            <a:ext cx="4873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subject with its own attendance rate, worst first - because the reason anybody opens this screen is to find the one that is going wrong.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FEES AND PAYMENTS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the fee schedule to a receipt in a parent's hand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steps, and the family can follow every one of them from their own account.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04825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5236" y="2153412"/>
            <a:ext cx="173736" cy="17373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152144" y="199339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Define the fee schedule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1152144" y="222656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named set of fees for a division, grade level and school year - tuition, miscellaneous, books, whatever the school charges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40080" y="332841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36" y="3433572"/>
            <a:ext cx="173736" cy="173736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152144" y="327355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Assess the student</a:t>
            </a:r>
            <a:endParaRPr lang="en-US" sz="1250" dirty="0"/>
          </a:p>
        </p:txBody>
      </p:sp>
      <p:sp>
        <p:nvSpPr>
          <p:cNvPr id="12" name="Text 8"/>
          <p:cNvSpPr txBox="1"/>
          <p:nvPr/>
        </p:nvSpPr>
        <p:spPr>
          <a:xfrm>
            <a:off x="1152144" y="350672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Charge a schedule against one student, or type an ad-hoc charge line by line. The total is shown before anything is committed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" y="460857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5236" y="4713732"/>
            <a:ext cx="173736" cy="173736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152144" y="455371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Take the payment</a:t>
            </a:r>
            <a:endParaRPr lang="en-US" sz="1250" dirty="0"/>
          </a:p>
        </p:txBody>
      </p:sp>
      <p:sp>
        <p:nvSpPr>
          <p:cNvPr id="16" name="Text 11"/>
          <p:cNvSpPr txBox="1"/>
          <p:nvPr/>
        </p:nvSpPr>
        <p:spPr>
          <a:xfrm>
            <a:off x="1152144" y="478688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 the number on the ID card and the student's name, class and balance appear. Nothing sends until the ID names somebody</a:t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6323076" y="204825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28232" y="2153412"/>
            <a:ext cx="173736" cy="173736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6835140" y="199339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Refund if needed</a:t>
            </a:r>
            <a:endParaRPr lang="en-US" sz="1250" dirty="0"/>
          </a:p>
        </p:txBody>
      </p:sp>
      <p:sp>
        <p:nvSpPr>
          <p:cNvPr id="20" name="Text 14"/>
          <p:cNvSpPr txBox="1"/>
          <p:nvPr/>
        </p:nvSpPr>
        <p:spPr>
          <a:xfrm>
            <a:off x="6835140" y="222656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refund is its own row against the original payment. Director and Admin only, enforced on the server</a:t>
            </a:r>
            <a:endParaRPr lang="en-US" sz="1000" dirty="0"/>
          </a:p>
        </p:txBody>
      </p:sp>
      <p:sp>
        <p:nvSpPr>
          <p:cNvPr id="21" name="Shape 15"/>
          <p:cNvSpPr/>
          <p:nvPr/>
        </p:nvSpPr>
        <p:spPr>
          <a:xfrm>
            <a:off x="6323076" y="332841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28232" y="3433572"/>
            <a:ext cx="173736" cy="173736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6835140" y="327355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Show the family the arithmetic</a:t>
            </a:r>
            <a:endParaRPr lang="en-US" sz="1250" dirty="0"/>
          </a:p>
        </p:txBody>
      </p:sp>
      <p:sp>
        <p:nvSpPr>
          <p:cNvPr id="24" name="Text 17"/>
          <p:cNvSpPr txBox="1"/>
          <p:nvPr/>
        </p:nvSpPr>
        <p:spPr>
          <a:xfrm>
            <a:off x="6835140" y="350672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Charged, paid, and what is left - with the assessments listed, so a balance is never a number nobody can explain</a:t>
            </a:r>
            <a:endParaRPr lang="en-US" sz="1000" dirty="0"/>
          </a:p>
        </p:txBody>
      </p:sp>
      <p:sp>
        <p:nvSpPr>
          <p:cNvPr id="25" name="Shape 18"/>
          <p:cNvSpPr/>
          <p:nvPr/>
        </p:nvSpPr>
        <p:spPr>
          <a:xfrm>
            <a:off x="6323076" y="460857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28232" y="4713732"/>
            <a:ext cx="173736" cy="173736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6835140" y="455371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Void a mistake, do not delete it</a:t>
            </a:r>
            <a:endParaRPr lang="en-US" sz="1250" dirty="0"/>
          </a:p>
        </p:txBody>
      </p:sp>
      <p:sp>
        <p:nvSpPr>
          <p:cNvPr id="28" name="Text 20"/>
          <p:cNvSpPr txBox="1"/>
          <p:nvPr/>
        </p:nvSpPr>
        <p:spPr>
          <a:xfrm>
            <a:off x="6835140" y="478688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wrong assessment is voided and stays visible. The history of a family's account is never quietly rewritten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4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BILLING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Instalments, discounts, vouchers and the exam permit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four things a private school here does to a bill - and not one of them is a remark typed into a notes field.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569464" cy="2788920"/>
          </a:xfrm>
          <a:prstGeom prst="roundRect">
            <a:avLst>
              <a:gd name="adj" fmla="val 3559"/>
            </a:avLst>
          </a:prstGeom>
          <a:solidFill>
            <a:srgbClr val="1E2761"/>
          </a:solidFill>
          <a:ln w="9525">
            <a:solidFill>
              <a:srgbClr val="3A4783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77824" y="2551176"/>
            <a:ext cx="475488" cy="475488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2124" y="2665476"/>
            <a:ext cx="228600" cy="2286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77824" y="311810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Instalments with due dates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77824" y="3401568"/>
            <a:ext cx="209397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schedule can be split - upon enrolment, then monthly - with a due date on every part. What is overdue becomes a date rather than an opinion.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3419856" y="2331720"/>
            <a:ext cx="2569464" cy="2788920"/>
          </a:xfrm>
          <a:prstGeom prst="roundRect">
            <a:avLst>
              <a:gd name="adj" fmla="val 3559"/>
            </a:avLst>
          </a:prstGeom>
          <a:solidFill>
            <a:srgbClr val="1E2761"/>
          </a:solidFill>
          <a:ln w="9525">
            <a:solidFill>
              <a:srgbClr val="3A4783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57600" y="2551176"/>
            <a:ext cx="475488" cy="475488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71900" y="2665476"/>
            <a:ext cx="228600" cy="2286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3657600" y="311810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discount is a record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3657600" y="3401568"/>
            <a:ext cx="209397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Sibling, early bird, staff child, scholarship: who granted it, on what authority, and against which charge. It can be revoked, and the revocation is a record too.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6199632" y="2331720"/>
            <a:ext cx="2569464" cy="2788920"/>
          </a:xfrm>
          <a:prstGeom prst="roundRect">
            <a:avLst>
              <a:gd name="adj" fmla="val 3559"/>
            </a:avLst>
          </a:prstGeom>
          <a:solidFill>
            <a:srgbClr val="1E2761"/>
          </a:solidFill>
          <a:ln w="9525">
            <a:solidFill>
              <a:srgbClr val="3A4783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6437376" y="2551176"/>
            <a:ext cx="475488" cy="475488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1676" y="2665476"/>
            <a:ext cx="228600" cy="22860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437376" y="311810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 and SHS vouchers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6437376" y="3401568"/>
            <a:ext cx="209397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subsidy is carried as a receivable from PEAC, not as a discount the school gave away. The family sees the net; the school still sees who owes the rest.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8979408" y="2331720"/>
            <a:ext cx="2569464" cy="2788920"/>
          </a:xfrm>
          <a:prstGeom prst="roundRect">
            <a:avLst>
              <a:gd name="adj" fmla="val 3559"/>
            </a:avLst>
          </a:prstGeom>
          <a:solidFill>
            <a:srgbClr val="1E2761"/>
          </a:solidFill>
          <a:ln w="9525">
            <a:solidFill>
              <a:srgbClr val="3A4783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9217152" y="2551176"/>
            <a:ext cx="475488" cy="475488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31452" y="2665476"/>
            <a:ext cx="228600" cy="22860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9217152" y="311810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exam permit</a:t>
            </a:r>
            <a:endParaRPr lang="en-US" sz="1400" dirty="0"/>
          </a:p>
        </p:txBody>
      </p:sp>
      <p:sp>
        <p:nvSpPr>
          <p:cNvPr id="24" name="Text 18"/>
          <p:cNvSpPr txBox="1"/>
          <p:nvPr/>
        </p:nvSpPr>
        <p:spPr>
          <a:xfrm>
            <a:off x="9217152" y="3401568"/>
            <a:ext cx="209397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Cleared or not cleared, read from the ledger - so nobody is deciding at a desk on exam morning whether this family is up to date.</a:t>
            </a:r>
            <a:endParaRPr lang="en-US" sz="1100" dirty="0"/>
          </a:p>
        </p:txBody>
      </p:sp>
      <p:sp>
        <p:nvSpPr>
          <p:cNvPr id="25" name="Text 19"/>
          <p:cNvSpPr txBox="1"/>
          <p:nvPr/>
        </p:nvSpPr>
        <p:spPr>
          <a:xfrm>
            <a:off x="640080" y="5532120"/>
            <a:ext cx="10908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school that writes a voucher off as a discount cannot say what PEAC still owes it. This one can.</a:t>
            </a:r>
            <a:endParaRPr lang="en-US" sz="15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4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ONLINE PAYMENTS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GCash and bank transfers, reviewed before they count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gateway to sign up for and no percentage taken. The school publishes its own account, and a person approves what comes in.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569464" cy="2788920"/>
          </a:xfrm>
          <a:prstGeom prst="roundRect">
            <a:avLst>
              <a:gd name="adj" fmla="val 3559"/>
            </a:avLst>
          </a:prstGeom>
          <a:solidFill>
            <a:srgbClr val="1E2761"/>
          </a:solidFill>
          <a:ln w="9525">
            <a:solidFill>
              <a:srgbClr val="3A4783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77824" y="2551176"/>
            <a:ext cx="475488" cy="475488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2124" y="2665476"/>
            <a:ext cx="228600" cy="2286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77824" y="311810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school sets it up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77824" y="3401568"/>
            <a:ext cx="209397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 name, number, a QR image families can scan, and the instructions they read first.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3419856" y="2331720"/>
            <a:ext cx="2569464" cy="2788920"/>
          </a:xfrm>
          <a:prstGeom prst="roundRect">
            <a:avLst>
              <a:gd name="adj" fmla="val 3559"/>
            </a:avLst>
          </a:prstGeom>
          <a:solidFill>
            <a:srgbClr val="1E2761"/>
          </a:solidFill>
          <a:ln w="9525">
            <a:solidFill>
              <a:srgbClr val="3A4783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57600" y="2551176"/>
            <a:ext cx="475488" cy="475488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71900" y="2665476"/>
            <a:ext cx="228600" cy="2286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3657600" y="311810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family sends it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3657600" y="3401568"/>
            <a:ext cx="209397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pay by their own app, then submit the reference number, the amount and what it was for.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6199632" y="2331720"/>
            <a:ext cx="2569464" cy="2788920"/>
          </a:xfrm>
          <a:prstGeom prst="roundRect">
            <a:avLst>
              <a:gd name="adj" fmla="val 3559"/>
            </a:avLst>
          </a:prstGeom>
          <a:solidFill>
            <a:srgbClr val="1E2761"/>
          </a:solidFill>
          <a:ln w="9525">
            <a:solidFill>
              <a:srgbClr val="3A4783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6437376" y="2551176"/>
            <a:ext cx="475488" cy="475488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1676" y="2665476"/>
            <a:ext cx="228600" cy="22860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437376" y="311810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cashier reviews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6437376" y="3401568"/>
            <a:ext cx="209397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queue of everything awaiting review. Approve and it becomes a real payment with a receipt; reject and the family is told.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8979408" y="2331720"/>
            <a:ext cx="2569464" cy="2788920"/>
          </a:xfrm>
          <a:prstGeom prst="roundRect">
            <a:avLst>
              <a:gd name="adj" fmla="val 3559"/>
            </a:avLst>
          </a:prstGeom>
          <a:solidFill>
            <a:srgbClr val="1E2761"/>
          </a:solidFill>
          <a:ln w="9525">
            <a:solidFill>
              <a:srgbClr val="3A4783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9217152" y="2551176"/>
            <a:ext cx="475488" cy="475488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31452" y="2665476"/>
            <a:ext cx="228600" cy="22860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9217152" y="311810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cashier is told</a:t>
            </a:r>
            <a:endParaRPr lang="en-US" sz="1400" dirty="0"/>
          </a:p>
        </p:txBody>
      </p:sp>
      <p:sp>
        <p:nvSpPr>
          <p:cNvPr id="24" name="Text 18"/>
          <p:cNvSpPr txBox="1"/>
          <p:nvPr/>
        </p:nvSpPr>
        <p:spPr>
          <a:xfrm>
            <a:off x="9217152" y="3401568"/>
            <a:ext cx="209397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new submission raises an alert wherever the cashier is in the app - not only on the review screen.</a:t>
            </a:r>
            <a:endParaRPr lang="en-US" sz="1100" dirty="0"/>
          </a:p>
        </p:txBody>
      </p:sp>
      <p:sp>
        <p:nvSpPr>
          <p:cNvPr id="25" name="Text 19"/>
          <p:cNvSpPr txBox="1"/>
          <p:nvPr/>
        </p:nvSpPr>
        <p:spPr>
          <a:xfrm>
            <a:off x="640080" y="5532120"/>
            <a:ext cx="10908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merchant account to open, no gateway percentage, and no payment counted until a person says so.</a:t>
            </a:r>
            <a:endParaRPr lang="en-US" sz="15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OFFICIAL RECEIPTS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BIR serials, issued once and reconciled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booklet is registered with its Authority to Print number and its range. The app hands out serials from it, one at a time.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18541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5236" y="2290572"/>
            <a:ext cx="173736" cy="17373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152144" y="213055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Register the booklet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1152144" y="236372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ATP number, the serial range it covers, and the date it was received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40080" y="373989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36" y="3845052"/>
            <a:ext cx="173736" cy="173736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152144" y="368503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serial, once</a:t>
            </a:r>
            <a:endParaRPr lang="en-US" sz="1250" dirty="0"/>
          </a:p>
        </p:txBody>
      </p:sp>
      <p:sp>
        <p:nvSpPr>
          <p:cNvPr id="12" name="Text 8"/>
          <p:cNvSpPr txBox="1"/>
          <p:nvPr/>
        </p:nvSpPr>
        <p:spPr>
          <a:xfrm>
            <a:off x="1152144" y="391820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Claimed on the server inside a transaction. Two cashiers pressing at the same moment cannot be handed the same number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323076" y="218541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28232" y="2290572"/>
            <a:ext cx="173736" cy="173736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6835140" y="213055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Printed as an OR</a:t>
            </a:r>
            <a:endParaRPr lang="en-US" sz="1250" dirty="0"/>
          </a:p>
        </p:txBody>
      </p:sp>
      <p:sp>
        <p:nvSpPr>
          <p:cNvPr id="16" name="Text 11"/>
          <p:cNvSpPr txBox="1"/>
          <p:nvPr/>
        </p:nvSpPr>
        <p:spPr>
          <a:xfrm>
            <a:off x="6835140" y="236372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Payer, amount, what it was for, and the serial - on the school's own letterhead</a:t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6323076" y="373989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28232" y="3845052"/>
            <a:ext cx="173736" cy="173736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6835140" y="368503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Reconciled, gaps and all</a:t>
            </a:r>
            <a:endParaRPr lang="en-US" sz="1250" dirty="0"/>
          </a:p>
        </p:txBody>
      </p:sp>
      <p:sp>
        <p:nvSpPr>
          <p:cNvPr id="20" name="Text 14"/>
          <p:cNvSpPr txBox="1"/>
          <p:nvPr/>
        </p:nvSpPr>
        <p:spPr>
          <a:xfrm>
            <a:off x="6835140" y="391820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serials were issued, which were cancelled, and which are simply missing - the question an audit opens with</a:t>
            </a:r>
            <a:endParaRPr lang="en-US" sz="1000" dirty="0"/>
          </a:p>
        </p:txBody>
      </p:sp>
      <p:sp>
        <p:nvSpPr>
          <p:cNvPr id="21" name="Shape 15"/>
          <p:cNvSpPr/>
          <p:nvPr/>
        </p:nvSpPr>
        <p:spPr>
          <a:xfrm>
            <a:off x="640080" y="50292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22" name="Shape 16"/>
          <p:cNvSpPr/>
          <p:nvPr/>
        </p:nvSpPr>
        <p:spPr>
          <a:xfrm>
            <a:off x="932688" y="5234940"/>
            <a:ext cx="457200" cy="457200"/>
          </a:xfrm>
          <a:prstGeom prst="ellipse">
            <a:avLst/>
          </a:prstGeom>
          <a:solidFill>
            <a:srgbClr val="E8A33D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2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46988" y="5349240"/>
            <a:ext cx="228600" cy="228600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1600200" y="5029200"/>
            <a:ext cx="958291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serial is not a number the app displays. It is a number the server gives out once and can never give out again.</a:t>
            </a:r>
            <a:endParaRPr lang="en-US" sz="15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PARENT AND TEACHER, TALKING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thread per child, and nobody else in it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parent can message the teachers who teach their child. Not the whole staff list - the teachers who actually teach them.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14884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77824" y="236829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2124" y="2482596"/>
            <a:ext cx="228600" cy="2286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77824" y="2935224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can reach whom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77824" y="3218688"/>
            <a:ext cx="4873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Worked out from the timetable, the section and the family link, every time a thread is opened. Nobody maintains a list, and nobody can message outside it.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6199632" y="214884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437376" y="236829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51676" y="2482596"/>
            <a:ext cx="228600" cy="2286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6437376" y="2935224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can read it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6437376" y="3218688"/>
            <a:ext cx="4873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two of them. Not the Principal, not an administrator. A parent who believes the office is reading tells the teacher nothing worth reading.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640080" y="448056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77824" y="4700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2124" y="4814316"/>
            <a:ext cx="228600" cy="22860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877824" y="5266944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thread per child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877824" y="5550408"/>
            <a:ext cx="4873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parent with two children taught by the same teacher gets two threads, so nobody has to say which child they mean.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6199632" y="448056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6437376" y="4700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51676" y="4814316"/>
            <a:ext cx="228600" cy="22860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6437376" y="5266944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was said stays said</a:t>
            </a:r>
            <a:endParaRPr lang="en-US" sz="1400" dirty="0"/>
          </a:p>
        </p:txBody>
      </p:sp>
      <p:sp>
        <p:nvSpPr>
          <p:cNvPr id="24" name="Text 18"/>
          <p:cNvSpPr txBox="1"/>
          <p:nvPr/>
        </p:nvSpPr>
        <p:spPr>
          <a:xfrm>
            <a:off x="6437376" y="5550408"/>
            <a:ext cx="4873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message cannot be edited or unsent, and the sender is stamped by the server - nobody can post in the other person's name.</a:t>
            </a:r>
            <a:endParaRPr lang="en-US" sz="11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4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STAFF TIME AND LEAVE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month a payroll clerk reads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scanner that marks students marks employees. This is where those scans become a month.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14884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77824" y="236829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2124" y="2482596"/>
            <a:ext cx="228600" cy="2286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77824" y="2935224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 it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77824" y="3218688"/>
            <a:ext cx="4873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employee files leave from their own screen. Working days are counted for them, weekends excluded, and the count is kept.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6199632" y="214884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437376" y="236829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51676" y="2482596"/>
            <a:ext cx="228600" cy="2286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6437376" y="2935224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Decide it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6437376" y="3218688"/>
            <a:ext cx="4873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queue for the office, with the decided ones beneath it. Who decided, in what role, when, and why - and the employee is told.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640080" y="448056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77824" y="4700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2124" y="4814316"/>
            <a:ext cx="228600" cy="22860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877824" y="5266944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timesheet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877824" y="5550408"/>
            <a:ext cx="4873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day named as exactly one thing: worked, late, on leave, rest day, or absent. Approved leave is what turns a blank day from an absence into an authorised one.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6199632" y="448056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6437376" y="4700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51676" y="4814316"/>
            <a:ext cx="228600" cy="22860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6437376" y="5266944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is guessed</a:t>
            </a:r>
            <a:endParaRPr lang="en-US" sz="1400" dirty="0"/>
          </a:p>
        </p:txBody>
      </p:sp>
      <p:sp>
        <p:nvSpPr>
          <p:cNvPr id="24" name="Text 18"/>
          <p:cNvSpPr txBox="1"/>
          <p:nvPr/>
        </p:nvSpPr>
        <p:spPr>
          <a:xfrm>
            <a:off x="6437376" y="5550408"/>
            <a:ext cx="4873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day with a time in and no time out contributes no hours, and the sheet says how many such days there are. No invented hours reach a payslip.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PAYROLL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Salaries computed from the timesheet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Monthly, daily or hourly - whichever the contract says. Absences are costed at the period's own day rate, not a fixed twenty-two.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194560"/>
            <a:ext cx="2569464" cy="2514600"/>
          </a:xfrm>
          <a:prstGeom prst="roundRect">
            <a:avLst>
              <a:gd name="adj" fmla="val 3636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77824" y="2414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2124" y="2528316"/>
            <a:ext cx="228600" cy="2286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77824" y="298094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goes in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77824" y="3264408"/>
            <a:ext cx="209397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Basic pay and allowances from the employee's compensation record; days worked, late and absent from the month already on the timesheet.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3419856" y="2194560"/>
            <a:ext cx="2569464" cy="2514600"/>
          </a:xfrm>
          <a:prstGeom prst="roundRect">
            <a:avLst>
              <a:gd name="adj" fmla="val 3636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57600" y="2414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71900" y="2528316"/>
            <a:ext cx="228600" cy="2286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3657600" y="298094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comes out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3657600" y="3264408"/>
            <a:ext cx="209397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SSS, PhilHealth, Pag-IBIG and withholding tax - contributions first, then tax on what is left. Net pay never falls below zero.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6199632" y="2194560"/>
            <a:ext cx="2569464" cy="2514600"/>
          </a:xfrm>
          <a:prstGeom prst="roundRect">
            <a:avLst>
              <a:gd name="adj" fmla="val 3636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6437376" y="2414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1676" y="2528316"/>
            <a:ext cx="228600" cy="22860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437376" y="298094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Server-computed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6437376" y="3264408"/>
            <a:ext cx="209397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rates, the tables, the scans and the approved leave are all read server-side. No figure on a payslip comes from the device that pressed Issue.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8979408" y="2194560"/>
            <a:ext cx="2569464" cy="2514600"/>
          </a:xfrm>
          <a:prstGeom prst="roundRect">
            <a:avLst>
              <a:gd name="adj" fmla="val 3636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9217152" y="2414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31452" y="2528316"/>
            <a:ext cx="228600" cy="22860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9217152" y="298094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payslip</a:t>
            </a:r>
            <a:endParaRPr lang="en-US" sz="1400" dirty="0"/>
          </a:p>
        </p:txBody>
      </p:sp>
      <p:sp>
        <p:nvSpPr>
          <p:cNvPr id="24" name="Text 18"/>
          <p:cNvSpPr txBox="1"/>
          <p:nvPr/>
        </p:nvSpPr>
        <p:spPr>
          <a:xfrm>
            <a:off x="9217152" y="3264408"/>
            <a:ext cx="209397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A5, two to a sheet, your logo behind it, and the basis of every line on it - so an employee can check their own pay without asking anybody.</a:t>
            </a:r>
            <a:endParaRPr lang="en-US" sz="1100" dirty="0"/>
          </a:p>
        </p:txBody>
      </p:sp>
      <p:sp>
        <p:nvSpPr>
          <p:cNvPr id="25" name="Shape 19"/>
          <p:cNvSpPr/>
          <p:nvPr/>
        </p:nvSpPr>
        <p:spPr>
          <a:xfrm>
            <a:off x="640080" y="4983480"/>
            <a:ext cx="10908792" cy="1051560"/>
          </a:xfrm>
          <a:prstGeom prst="roundRect">
            <a:avLst>
              <a:gd name="adj" fmla="val 8696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26" name="Shape 20"/>
          <p:cNvSpPr/>
          <p:nvPr/>
        </p:nvSpPr>
        <p:spPr>
          <a:xfrm>
            <a:off x="932688" y="5280660"/>
            <a:ext cx="457200" cy="457200"/>
          </a:xfrm>
          <a:prstGeom prst="ellipse">
            <a:avLst/>
          </a:prstGeom>
          <a:solidFill>
            <a:srgbClr val="E8A33D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2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46988" y="5394960"/>
            <a:ext cx="228600" cy="228600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1600200" y="4983480"/>
            <a:ext cx="958291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 ship no contribution tables. Your school types them from the circular in front of it, records which circular that was, and confirms - and no payslip prints until somebody has.</a:t>
            </a:r>
            <a:endParaRPr lang="en-US" sz="15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14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STOCK ROOM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the school owns, and who is holding it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movement is a row - received, issued, returned, consumed, written off - and the quantity is what those rows add up to.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18541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5236" y="2290572"/>
            <a:ext cx="173736" cy="17373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152144" y="213055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item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1152144" y="236372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Name, category, unit, reorder level, and where in the school it is kept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40080" y="332841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36" y="3433572"/>
            <a:ext cx="173736" cy="173736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152144" y="327355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Received</a:t>
            </a:r>
            <a:endParaRPr lang="en-US" sz="1250" dirty="0"/>
          </a:p>
        </p:txBody>
      </p:sp>
      <p:sp>
        <p:nvSpPr>
          <p:cNvPr id="12" name="Text 8"/>
          <p:cNvSpPr txBox="1"/>
          <p:nvPr/>
        </p:nvSpPr>
        <p:spPr>
          <a:xfrm>
            <a:off x="1152144" y="350672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delivery, with the supplier and the document number against it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" y="447141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5236" y="4576572"/>
            <a:ext cx="173736" cy="173736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152144" y="441655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Issued</a:t>
            </a:r>
            <a:endParaRPr lang="en-US" sz="1250" dirty="0"/>
          </a:p>
        </p:txBody>
      </p:sp>
      <p:sp>
        <p:nvSpPr>
          <p:cNvPr id="16" name="Text 11"/>
          <p:cNvSpPr txBox="1"/>
          <p:nvPr/>
        </p:nvSpPr>
        <p:spPr>
          <a:xfrm>
            <a:off x="1152144" y="464972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a person, for a reason - the projector has a name against it</a:t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6323076" y="218541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28232" y="2290572"/>
            <a:ext cx="173736" cy="173736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6835140" y="213055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Returned</a:t>
            </a:r>
            <a:endParaRPr lang="en-US" sz="1250" dirty="0"/>
          </a:p>
        </p:txBody>
      </p:sp>
      <p:sp>
        <p:nvSpPr>
          <p:cNvPr id="20" name="Text 14"/>
          <p:cNvSpPr txBox="1"/>
          <p:nvPr/>
        </p:nvSpPr>
        <p:spPr>
          <a:xfrm>
            <a:off x="6835140" y="236372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 on the shelf, and the person who had it is clear</a:t>
            </a:r>
            <a:endParaRPr lang="en-US" sz="1000" dirty="0"/>
          </a:p>
        </p:txBody>
      </p:sp>
      <p:sp>
        <p:nvSpPr>
          <p:cNvPr id="21" name="Shape 15"/>
          <p:cNvSpPr/>
          <p:nvPr/>
        </p:nvSpPr>
        <p:spPr>
          <a:xfrm>
            <a:off x="6323076" y="332841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28232" y="3433572"/>
            <a:ext cx="173736" cy="173736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6835140" y="327355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 stock</a:t>
            </a:r>
            <a:endParaRPr lang="en-US" sz="1250" dirty="0"/>
          </a:p>
        </p:txBody>
      </p:sp>
      <p:sp>
        <p:nvSpPr>
          <p:cNvPr id="24" name="Text 17"/>
          <p:cNvSpPr txBox="1"/>
          <p:nvPr/>
        </p:nvSpPr>
        <p:spPr>
          <a:xfrm>
            <a:off x="6835140" y="350672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has fallen to its reorder level, before somebody needs it</a:t>
            </a:r>
            <a:endParaRPr lang="en-US" sz="1000" dirty="0"/>
          </a:p>
        </p:txBody>
      </p:sp>
      <p:sp>
        <p:nvSpPr>
          <p:cNvPr id="25" name="Shape 18"/>
          <p:cNvSpPr/>
          <p:nvPr/>
        </p:nvSpPr>
        <p:spPr>
          <a:xfrm>
            <a:off x="6323076" y="447141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28232" y="4576572"/>
            <a:ext cx="173736" cy="173736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6835140" y="441655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Outstanding</a:t>
            </a:r>
            <a:endParaRPr lang="en-US" sz="1250" dirty="0"/>
          </a:p>
        </p:txBody>
      </p:sp>
      <p:sp>
        <p:nvSpPr>
          <p:cNvPr id="28" name="Text 20"/>
          <p:cNvSpPr txBox="1"/>
          <p:nvPr/>
        </p:nvSpPr>
        <p:spPr>
          <a:xfrm>
            <a:off x="6835140" y="464972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out of the room right now, and who is holding each of it</a:t>
            </a:r>
            <a:endParaRPr lang="en-US" sz="1000" dirty="0"/>
          </a:p>
        </p:txBody>
      </p:sp>
      <p:sp>
        <p:nvSpPr>
          <p:cNvPr id="29" name="Text 21"/>
          <p:cNvSpPr txBox="1"/>
          <p:nvPr/>
        </p:nvSpPr>
        <p:spPr>
          <a:xfrm>
            <a:off x="640080" y="5806440"/>
            <a:ext cx="10908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quantity is never typed in - it is the movements, added up.</a:t>
            </a:r>
            <a:endParaRPr lang="en-US" sz="15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NOBODY FINDS OUT TOO LATE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push, and a record of it that is still there tomorrow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push notification is gone the moment it is swiped away. Everything the school sends is also written to the person's own inbox.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04825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5236" y="2153412"/>
            <a:ext cx="173736" cy="17373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152144" y="199339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announcement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1152144" y="222656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Reaches every account it is addressed to - a role, or one class, and only those. Whose phone rings is decided on the server, not by a filter on a list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40080" y="332841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36" y="3433572"/>
            <a:ext cx="173736" cy="173736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152144" y="327355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guidance summons</a:t>
            </a:r>
            <a:endParaRPr lang="en-US" sz="1250" dirty="0"/>
          </a:p>
        </p:txBody>
      </p:sp>
      <p:sp>
        <p:nvSpPr>
          <p:cNvPr id="12" name="Text 8"/>
          <p:cNvSpPr txBox="1"/>
          <p:nvPr/>
        </p:nvSpPr>
        <p:spPr>
          <a:xfrm>
            <a:off x="1152144" y="350672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student and every linked parent are told, and told again if the office calls it off. A family should not rearrange a day around an appointment that is not happening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" y="460857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5236" y="4713732"/>
            <a:ext cx="173736" cy="173736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152144" y="455371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emergency</a:t>
            </a:r>
            <a:endParaRPr lang="en-US" sz="1250" dirty="0"/>
          </a:p>
        </p:txBody>
      </p:sp>
      <p:sp>
        <p:nvSpPr>
          <p:cNvPr id="16" name="Text 11"/>
          <p:cNvSpPr txBox="1"/>
          <p:nvPr/>
        </p:nvSpPr>
        <p:spPr>
          <a:xfrm>
            <a:off x="1152144" y="478688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class adviser, guidance, the office and the student's parents, at high priority, with the app closed</a:t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6323076" y="204825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28232" y="2153412"/>
            <a:ext cx="173736" cy="173736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6835140" y="199339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leave decision</a:t>
            </a:r>
            <a:endParaRPr lang="en-US" sz="1250" dirty="0"/>
          </a:p>
        </p:txBody>
      </p:sp>
      <p:sp>
        <p:nvSpPr>
          <p:cNvPr id="20" name="Text 14"/>
          <p:cNvSpPr txBox="1"/>
          <p:nvPr/>
        </p:nvSpPr>
        <p:spPr>
          <a:xfrm>
            <a:off x="6835140" y="222656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employee who filed it. Somebody who never hears back either comes in when they should not have, or stays away when they were expected</a:t>
            </a:r>
            <a:endParaRPr lang="en-US" sz="1000" dirty="0"/>
          </a:p>
        </p:txBody>
      </p:sp>
      <p:sp>
        <p:nvSpPr>
          <p:cNvPr id="21" name="Shape 15"/>
          <p:cNvSpPr/>
          <p:nvPr/>
        </p:nvSpPr>
        <p:spPr>
          <a:xfrm>
            <a:off x="6323076" y="332841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28232" y="3433572"/>
            <a:ext cx="173736" cy="173736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6835140" y="327355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message</a:t>
            </a:r>
            <a:endParaRPr lang="en-US" sz="1250" dirty="0"/>
          </a:p>
        </p:txBody>
      </p:sp>
      <p:sp>
        <p:nvSpPr>
          <p:cNvPr id="24" name="Text 17"/>
          <p:cNvSpPr txBox="1"/>
          <p:nvPr/>
        </p:nvSpPr>
        <p:spPr>
          <a:xfrm>
            <a:off x="6835140" y="350672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other person in the conversation, named by the child it is about</a:t>
            </a:r>
            <a:endParaRPr lang="en-US" sz="1000" dirty="0"/>
          </a:p>
        </p:txBody>
      </p:sp>
      <p:sp>
        <p:nvSpPr>
          <p:cNvPr id="25" name="Shape 18"/>
          <p:cNvSpPr/>
          <p:nvPr/>
        </p:nvSpPr>
        <p:spPr>
          <a:xfrm>
            <a:off x="6323076" y="460857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28232" y="4713732"/>
            <a:ext cx="173736" cy="173736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6835140" y="455371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all of it, in one inbox</a:t>
            </a:r>
            <a:endParaRPr lang="en-US" sz="1250" dirty="0"/>
          </a:p>
        </p:txBody>
      </p:sp>
      <p:sp>
        <p:nvSpPr>
          <p:cNvPr id="28" name="Text 20"/>
          <p:cNvSpPr txBox="1"/>
          <p:nvPr/>
        </p:nvSpPr>
        <p:spPr>
          <a:xfrm>
            <a:off x="6835140" y="478688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Reached from the bell in every portal. A phone that was off, or a browser that never granted permission, misses nothing</a:t>
            </a:r>
            <a:endParaRPr lang="en-US" sz="1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RECORDS AND FORMS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Transcript and Form 137, printed and logged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two documents a school is asked for most, generated from the records already in the system.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194560"/>
            <a:ext cx="2569464" cy="2971800"/>
          </a:xfrm>
          <a:prstGeom prst="roundRect">
            <a:avLst>
              <a:gd name="adj" fmla="val 3559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77824" y="2414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2124" y="2528316"/>
            <a:ext cx="228600" cy="2286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77824" y="298094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Print it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77824" y="3264408"/>
            <a:ext cx="2093976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Transcript of Records or Form 137, laid out on the school's own letterhead with its logo, address, school year and the principal and director signatures.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3419856" y="2194560"/>
            <a:ext cx="2569464" cy="2971800"/>
          </a:xfrm>
          <a:prstGeom prst="roundRect">
            <a:avLst>
              <a:gd name="adj" fmla="val 3559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57600" y="2414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71900" y="2528316"/>
            <a:ext cx="228600" cy="2286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3657600" y="298094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 why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3657600" y="3264408"/>
            <a:ext cx="2093976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Purpose, who it was released to, their relationship to the student, and any remarks - captured at the moment of release, not remembered later.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6199632" y="2194560"/>
            <a:ext cx="2569464" cy="2971800"/>
          </a:xfrm>
          <a:prstGeom prst="roundRect">
            <a:avLst>
              <a:gd name="adj" fmla="val 3559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6437376" y="2414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1676" y="2528316"/>
            <a:ext cx="228600" cy="22860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437376" y="298094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the history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6437376" y="3264408"/>
            <a:ext cx="2093976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release is listed with its date and copy count. When the receiving school writes back asking when Form 137 was sent, the answer is on the screen.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8979408" y="2194560"/>
            <a:ext cx="2569464" cy="2971800"/>
          </a:xfrm>
          <a:prstGeom prst="roundRect">
            <a:avLst>
              <a:gd name="adj" fmla="val 3559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9217152" y="2414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31452" y="2528316"/>
            <a:ext cx="228600" cy="22860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9217152" y="298094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Print again</a:t>
            </a:r>
            <a:endParaRPr lang="en-US" sz="1400" dirty="0"/>
          </a:p>
        </p:txBody>
      </p:sp>
      <p:sp>
        <p:nvSpPr>
          <p:cNvPr id="24" name="Text 18"/>
          <p:cNvSpPr txBox="1"/>
          <p:nvPr/>
        </p:nvSpPr>
        <p:spPr>
          <a:xfrm>
            <a:off x="9217152" y="3264408"/>
            <a:ext cx="2093976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reprint is recorded as a reprint. The count of copies in circulation stays honest.</a:t>
            </a:r>
            <a:endParaRPr lang="en-US" sz="1100" dirty="0"/>
          </a:p>
        </p:txBody>
      </p:sp>
      <p:sp>
        <p:nvSpPr>
          <p:cNvPr id="25" name="Text 19"/>
          <p:cNvSpPr txBox="1"/>
          <p:nvPr/>
        </p:nvSpPr>
        <p:spPr>
          <a:xfrm>
            <a:off x="640080" y="5440680"/>
            <a:ext cx="10908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Nothing is copied out by hand, so nothing is copied out wrong.</a:t>
            </a:r>
            <a:endParaRPr lang="en-US" sz="15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14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YEAR-END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Promoted, retained or graduated - decided once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week every April that a school currently does by hand, on a printed list, in a room.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569464" cy="2788920"/>
          </a:xfrm>
          <a:prstGeom prst="roundRect">
            <a:avLst>
              <a:gd name="adj" fmla="val 3559"/>
            </a:avLst>
          </a:prstGeom>
          <a:solidFill>
            <a:srgbClr val="1E2761"/>
          </a:solidFill>
          <a:ln w="9525">
            <a:solidFill>
              <a:srgbClr val="3A4783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77824" y="2551176"/>
            <a:ext cx="475488" cy="475488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2124" y="2665476"/>
            <a:ext cx="228600" cy="2286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77824" y="311810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decision per student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77824" y="3401568"/>
            <a:ext cx="209397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Promoted, retained, graduated or transferred out, taken against the final grades already held - with a reason recorded where the school needs one.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3419856" y="2331720"/>
            <a:ext cx="2569464" cy="2788920"/>
          </a:xfrm>
          <a:prstGeom prst="roundRect">
            <a:avLst>
              <a:gd name="adj" fmla="val 3559"/>
            </a:avLst>
          </a:prstGeom>
          <a:solidFill>
            <a:srgbClr val="1E2761"/>
          </a:solidFill>
          <a:ln w="9525">
            <a:solidFill>
              <a:srgbClr val="3A4783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57600" y="2551176"/>
            <a:ext cx="475488" cy="475488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71900" y="2665476"/>
            <a:ext cx="228600" cy="2286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3657600" y="311810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Nobody is decided by default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3657600" y="3401568"/>
            <a:ext cx="209397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student the school has not decided on is held, and held students are left out of the run entirely. Silence never quietly becomes a promotion.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6199632" y="2331720"/>
            <a:ext cx="2569464" cy="2788920"/>
          </a:xfrm>
          <a:prstGeom prst="roundRect">
            <a:avLst>
              <a:gd name="adj" fmla="val 3559"/>
            </a:avLst>
          </a:prstGeom>
          <a:solidFill>
            <a:srgbClr val="1E2761"/>
          </a:solidFill>
          <a:ln w="9525">
            <a:solidFill>
              <a:srgbClr val="3A4783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6437376" y="2551176"/>
            <a:ext cx="475488" cy="475488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1676" y="2665476"/>
            <a:ext cx="228600" cy="22860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437376" y="311810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next level is not guessed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6437376" y="3401568"/>
            <a:ext cx="209397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comes from the school's own roster of grade levels. Where there is no next level, the app says so instead of inventing one.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8979408" y="2331720"/>
            <a:ext cx="2569464" cy="2788920"/>
          </a:xfrm>
          <a:prstGeom prst="roundRect">
            <a:avLst>
              <a:gd name="adj" fmla="val 3559"/>
            </a:avLst>
          </a:prstGeom>
          <a:solidFill>
            <a:srgbClr val="1E2761"/>
          </a:solidFill>
          <a:ln w="9525">
            <a:solidFill>
              <a:srgbClr val="3A4783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9217152" y="2551176"/>
            <a:ext cx="475488" cy="475488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31452" y="2665476"/>
            <a:ext cx="228600" cy="22860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9217152" y="311810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it twice, safely</a:t>
            </a:r>
            <a:endParaRPr lang="en-US" sz="1400" dirty="0"/>
          </a:p>
        </p:txBody>
      </p:sp>
      <p:sp>
        <p:nvSpPr>
          <p:cNvPr id="24" name="Text 18"/>
          <p:cNvSpPr txBox="1"/>
          <p:nvPr/>
        </p:nvSpPr>
        <p:spPr>
          <a:xfrm>
            <a:off x="9217152" y="3401568"/>
            <a:ext cx="209397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student already rolled over is skipped rather than moved again, and the run reports how many were applied and how many were already done.</a:t>
            </a:r>
            <a:endParaRPr lang="en-US" sz="1100" dirty="0"/>
          </a:p>
        </p:txBody>
      </p:sp>
      <p:sp>
        <p:nvSpPr>
          <p:cNvPr id="25" name="Text 19"/>
          <p:cNvSpPr txBox="1"/>
          <p:nvPr/>
        </p:nvSpPr>
        <p:spPr>
          <a:xfrm>
            <a:off x="640080" y="5532120"/>
            <a:ext cx="10908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promotion record is written once and never edited - a correction is a new record.</a:t>
            </a:r>
            <a:endParaRPr lang="en-US" sz="15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CLASS SCHEDULE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room, one teacher, one section, one slot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the week block by block: subject, section, teacher, room, day, start and end - and, for a school that runs semesters, which one.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1965960"/>
            <a:ext cx="3496056" cy="2148840"/>
          </a:xfrm>
          <a:prstGeom prst="roundRect">
            <a:avLst>
              <a:gd name="adj" fmla="val 4255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77824" y="21854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2124" y="2299716"/>
            <a:ext cx="228600" cy="2286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77824" y="2752344"/>
            <a:ext cx="3020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Clashes are refused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77824" y="3035808"/>
            <a:ext cx="3020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classes in the same room, the same teacher in two places, or one section double-booked - the app names the conflict and will not save it. Checked again on the server before it is written.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346448" y="1965960"/>
            <a:ext cx="3496056" cy="2148840"/>
          </a:xfrm>
          <a:prstGeom prst="roundRect">
            <a:avLst>
              <a:gd name="adj" fmla="val 4255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584192" y="21854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98492" y="2299716"/>
            <a:ext cx="228600" cy="2286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4584192" y="2752344"/>
            <a:ext cx="3020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semesters, one year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4584192" y="3035808"/>
            <a:ext cx="3020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Senior High and college change timetable halfway through. The second semester reuses the same room, lecturer and slot - not a clash, because the two are never in the same week.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8052816" y="1965960"/>
            <a:ext cx="3496056" cy="2148840"/>
          </a:xfrm>
          <a:prstGeom prst="roundRect">
            <a:avLst>
              <a:gd name="adj" fmla="val 4255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290560" y="21854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04860" y="2299716"/>
            <a:ext cx="228600" cy="22860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8290560" y="2752344"/>
            <a:ext cx="3020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term at a time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8290560" y="3035808"/>
            <a:ext cx="3020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the term and read that week; classes that run all year show in every term, because that is where they actually are. A school with one timetable is never asked the question.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640080" y="4343400"/>
            <a:ext cx="3496056" cy="2148840"/>
          </a:xfrm>
          <a:prstGeom prst="roundRect">
            <a:avLst>
              <a:gd name="adj" fmla="val 4255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877824" y="456285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2124" y="4677156"/>
            <a:ext cx="228600" cy="22860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877824" y="5129784"/>
            <a:ext cx="3020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Times the way people type them</a:t>
            </a:r>
            <a:endParaRPr lang="en-US" sz="1400" dirty="0"/>
          </a:p>
        </p:txBody>
      </p:sp>
      <p:sp>
        <p:nvSpPr>
          <p:cNvPr id="24" name="Text 18"/>
          <p:cNvSpPr txBox="1"/>
          <p:nvPr/>
        </p:nvSpPr>
        <p:spPr>
          <a:xfrm>
            <a:off x="877824" y="5413248"/>
            <a:ext cx="3020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7:30 AM, 7:30am, 07:30, 0730 - all understood. Nobody should have to learn a time format to build a timetable.</a:t>
            </a:r>
            <a:endParaRPr lang="en-US" sz="1100" dirty="0"/>
          </a:p>
        </p:txBody>
      </p:sp>
      <p:sp>
        <p:nvSpPr>
          <p:cNvPr id="25" name="Shape 19"/>
          <p:cNvSpPr/>
          <p:nvPr/>
        </p:nvSpPr>
        <p:spPr>
          <a:xfrm>
            <a:off x="4346448" y="4343400"/>
            <a:ext cx="3496056" cy="2148840"/>
          </a:xfrm>
          <a:prstGeom prst="roundRect">
            <a:avLst>
              <a:gd name="adj" fmla="val 4255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26" name="Shape 20"/>
          <p:cNvSpPr/>
          <p:nvPr/>
        </p:nvSpPr>
        <p:spPr>
          <a:xfrm>
            <a:off x="4584192" y="456285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2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98492" y="4677156"/>
            <a:ext cx="228600" cy="228600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4584192" y="5129784"/>
            <a:ext cx="3020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Printed as a grid</a:t>
            </a:r>
            <a:endParaRPr lang="en-US" sz="1400" dirty="0"/>
          </a:p>
        </p:txBody>
      </p:sp>
      <p:sp>
        <p:nvSpPr>
          <p:cNvPr id="29" name="Text 22"/>
          <p:cNvSpPr txBox="1"/>
          <p:nvPr/>
        </p:nvSpPr>
        <p:spPr>
          <a:xfrm>
            <a:off x="4584192" y="5413248"/>
            <a:ext cx="3020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week as a wall chart, with the section or the teacher dropped from the cells when it is the same all the way down.</a:t>
            </a:r>
            <a:endParaRPr lang="en-US" sz="1100" dirty="0"/>
          </a:p>
        </p:txBody>
      </p:sp>
      <p:sp>
        <p:nvSpPr>
          <p:cNvPr id="30" name="Shape 23"/>
          <p:cNvSpPr/>
          <p:nvPr/>
        </p:nvSpPr>
        <p:spPr>
          <a:xfrm>
            <a:off x="8052816" y="4343400"/>
            <a:ext cx="3496056" cy="2148840"/>
          </a:xfrm>
          <a:prstGeom prst="roundRect">
            <a:avLst>
              <a:gd name="adj" fmla="val 4255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31" name="Shape 24"/>
          <p:cNvSpPr/>
          <p:nvPr/>
        </p:nvSpPr>
        <p:spPr>
          <a:xfrm>
            <a:off x="8290560" y="456285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32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04860" y="4677156"/>
            <a:ext cx="228600" cy="228600"/>
          </a:xfrm>
          <a:prstGeom prst="rect">
            <a:avLst/>
          </a:prstGeom>
        </p:spPr>
      </p:pic>
      <p:sp>
        <p:nvSpPr>
          <p:cNvPr id="33" name="Text 25"/>
          <p:cNvSpPr txBox="1"/>
          <p:nvPr/>
        </p:nvSpPr>
        <p:spPr>
          <a:xfrm>
            <a:off x="8290560" y="5129784"/>
            <a:ext cx="3020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Everyone sees their own</a:t>
            </a:r>
            <a:endParaRPr lang="en-US" sz="1400" dirty="0"/>
          </a:p>
        </p:txBody>
      </p:sp>
      <p:sp>
        <p:nvSpPr>
          <p:cNvPr id="34" name="Text 26"/>
          <p:cNvSpPr txBox="1"/>
          <p:nvPr/>
        </p:nvSpPr>
        <p:spPr>
          <a:xfrm>
            <a:off x="8290560" y="5413248"/>
            <a:ext cx="3020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teacher gets their week, the student gets theirs, the parent gets their child's - all from the same blocks.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four numbers a school is actually asked for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Choose a period - this school year, this month, the last 30 days - and read it on screen, export it to Excel, or print it.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240280"/>
            <a:ext cx="2569464" cy="2331720"/>
          </a:xfrm>
          <a:prstGeom prst="roundRect">
            <a:avLst>
              <a:gd name="adj" fmla="val 3922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77824" y="245973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2124" y="2574036"/>
            <a:ext cx="228600" cy="2286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77824" y="302666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Enrolment by division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77824" y="3310128"/>
            <a:ext cx="209397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 count by division and grade level, every status shown - not just the enrolled ones.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3419856" y="2240280"/>
            <a:ext cx="2569464" cy="2331720"/>
          </a:xfrm>
          <a:prstGeom prst="roundRect">
            <a:avLst>
              <a:gd name="adj" fmla="val 3922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57600" y="245973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71900" y="2574036"/>
            <a:ext cx="228600" cy="2286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3657600" y="302666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Collections and receivables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3657600" y="3310128"/>
            <a:ext cx="209397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was charged, what came in, and what is still owed.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6199632" y="2240280"/>
            <a:ext cx="2569464" cy="2331720"/>
          </a:xfrm>
          <a:prstGeom prst="roundRect">
            <a:avLst>
              <a:gd name="adj" fmla="val 3922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6437376" y="245973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1676" y="2574036"/>
            <a:ext cx="228600" cy="22860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437376" y="302666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Attendance rate by section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6437376" y="3310128"/>
            <a:ext cx="209397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Present, late and absent by section, with the rate. Excused days sit outside the rate.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8979408" y="2240280"/>
            <a:ext cx="2569464" cy="2331720"/>
          </a:xfrm>
          <a:prstGeom prst="roundRect">
            <a:avLst>
              <a:gd name="adj" fmla="val 3922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9217152" y="245973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31452" y="2574036"/>
            <a:ext cx="228600" cy="22860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9217152" y="302666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 distribution</a:t>
            </a:r>
            <a:endParaRPr lang="en-US" sz="1400" dirty="0"/>
          </a:p>
        </p:txBody>
      </p:sp>
      <p:sp>
        <p:nvSpPr>
          <p:cNvPr id="24" name="Text 18"/>
          <p:cNvSpPr txBox="1"/>
          <p:nvPr/>
        </p:nvSpPr>
        <p:spPr>
          <a:xfrm>
            <a:off x="9217152" y="3310128"/>
            <a:ext cx="209397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Marks banded against the DepEd descriptors, per subject.</a:t>
            </a:r>
            <a:endParaRPr lang="en-US" sz="1100" dirty="0"/>
          </a:p>
        </p:txBody>
      </p:sp>
      <p:sp>
        <p:nvSpPr>
          <p:cNvPr id="25" name="Shape 19"/>
          <p:cNvSpPr/>
          <p:nvPr/>
        </p:nvSpPr>
        <p:spPr>
          <a:xfrm>
            <a:off x="640080" y="506577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2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5236" y="5170932"/>
            <a:ext cx="173736" cy="173736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1152144" y="501091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 to Excel</a:t>
            </a:r>
            <a:endParaRPr lang="en-US" sz="1250" dirty="0"/>
          </a:p>
        </p:txBody>
      </p:sp>
      <p:sp>
        <p:nvSpPr>
          <p:cNvPr id="28" name="Text 21"/>
          <p:cNvSpPr txBox="1"/>
          <p:nvPr/>
        </p:nvSpPr>
        <p:spPr>
          <a:xfrm>
            <a:off x="1152144" y="524408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table, as a spreadsheet you can rework</a:t>
            </a:r>
            <a:endParaRPr lang="en-US" sz="1000" dirty="0"/>
          </a:p>
        </p:txBody>
      </p:sp>
      <p:sp>
        <p:nvSpPr>
          <p:cNvPr id="29" name="Shape 22"/>
          <p:cNvSpPr/>
          <p:nvPr/>
        </p:nvSpPr>
        <p:spPr>
          <a:xfrm>
            <a:off x="6323076" y="506577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3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28232" y="5170932"/>
            <a:ext cx="173736" cy="173736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6835140" y="501091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Print</a:t>
            </a:r>
            <a:endParaRPr lang="en-US" sz="1250" dirty="0"/>
          </a:p>
        </p:txBody>
      </p:sp>
      <p:sp>
        <p:nvSpPr>
          <p:cNvPr id="32" name="Text 24"/>
          <p:cNvSpPr txBox="1"/>
          <p:nvPr/>
        </p:nvSpPr>
        <p:spPr>
          <a:xfrm>
            <a:off x="6835140" y="524408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PDF with the school's heading and the totals row shaded</a:t>
            </a:r>
            <a:endParaRPr lang="en-US" sz="1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14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SOMETHING GOES WRONG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button, and the right people know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Raised from a student's phone, seen by the staff who can act, and told to the family the same minute.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194560"/>
            <a:ext cx="2569464" cy="2743200"/>
          </a:xfrm>
          <a:prstGeom prst="roundRect">
            <a:avLst>
              <a:gd name="adj" fmla="val 3559"/>
            </a:avLst>
          </a:prstGeom>
          <a:solidFill>
            <a:srgbClr val="1E2761"/>
          </a:solidFill>
          <a:ln w="9525">
            <a:solidFill>
              <a:srgbClr val="3A4783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77824" y="2414016"/>
            <a:ext cx="475488" cy="475488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2124" y="2528316"/>
            <a:ext cx="228600" cy="2286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77824" y="298094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Raise it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77824" y="3264408"/>
            <a:ext cx="209397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student presses one button and says what happened. Their adviser and their parents are notified.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3419856" y="2194560"/>
            <a:ext cx="2569464" cy="2743200"/>
          </a:xfrm>
          <a:prstGeom prst="roundRect">
            <a:avLst>
              <a:gd name="adj" fmla="val 3559"/>
            </a:avLst>
          </a:prstGeom>
          <a:solidFill>
            <a:srgbClr val="1E2761"/>
          </a:solidFill>
          <a:ln w="9525">
            <a:solidFill>
              <a:srgbClr val="3A4783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57600" y="2414016"/>
            <a:ext cx="475488" cy="475488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71900" y="2528316"/>
            <a:ext cx="228600" cy="2286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3657600" y="298094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 it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3657600" y="3264408"/>
            <a:ext cx="209397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Faculty, Guidance, Principal, Admin and the Director see live alerts, and any of them can resolve one.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6199632" y="2194560"/>
            <a:ext cx="2569464" cy="2743200"/>
          </a:xfrm>
          <a:prstGeom prst="roundRect">
            <a:avLst>
              <a:gd name="adj" fmla="val 3559"/>
            </a:avLst>
          </a:prstGeom>
          <a:solidFill>
            <a:srgbClr val="1E2761"/>
          </a:solidFill>
          <a:ln w="9525">
            <a:solidFill>
              <a:srgbClr val="3A4783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6437376" y="2414016"/>
            <a:ext cx="475488" cy="475488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1676" y="2528316"/>
            <a:ext cx="228600" cy="22860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437376" y="298094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Tell the family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6437376" y="3264408"/>
            <a:ext cx="209397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parent gets a push, and a banner on their dashboard in case the push never arrived.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8979408" y="2194560"/>
            <a:ext cx="2569464" cy="2743200"/>
          </a:xfrm>
          <a:prstGeom prst="roundRect">
            <a:avLst>
              <a:gd name="adj" fmla="val 3559"/>
            </a:avLst>
          </a:prstGeom>
          <a:solidFill>
            <a:srgbClr val="1E2761"/>
          </a:solidFill>
          <a:ln w="9525">
            <a:solidFill>
              <a:srgbClr val="3A4783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9217152" y="2414016"/>
            <a:ext cx="475488" cy="475488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31452" y="2528316"/>
            <a:ext cx="228600" cy="22860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9217152" y="298094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Dial out</a:t>
            </a:r>
            <a:endParaRPr lang="en-US" sz="1400" dirty="0"/>
          </a:p>
        </p:txBody>
      </p:sp>
      <p:sp>
        <p:nvSpPr>
          <p:cNvPr id="24" name="Text 18"/>
          <p:cNvSpPr txBox="1"/>
          <p:nvPr/>
        </p:nvSpPr>
        <p:spPr>
          <a:xfrm>
            <a:off x="9217152" y="3264408"/>
            <a:ext cx="209397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school's published numbers - clinic, guard, barangay, hospital - one tap from any portal.</a:t>
            </a:r>
            <a:endParaRPr lang="en-US" sz="1100" dirty="0"/>
          </a:p>
        </p:txBody>
      </p:sp>
      <p:sp>
        <p:nvSpPr>
          <p:cNvPr id="25" name="Text 19"/>
          <p:cNvSpPr txBox="1"/>
          <p:nvPr/>
        </p:nvSpPr>
        <p:spPr>
          <a:xfrm>
            <a:off x="640080" y="5349240"/>
            <a:ext cx="10908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alert is logged with who raised it, when, and who resolved it.</a:t>
            </a:r>
            <a:endParaRPr lang="en-US" sz="16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MOVING IN FROM WHAT YOU HAVE NOW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Excel in, Excel out - on five different lists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school changing systems has years of data in spreadsheets. It does not get retyped.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23113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5236" y="2336292"/>
            <a:ext cx="173736" cy="17373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152144" y="2176272"/>
            <a:ext cx="2910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Students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1152144" y="2409444"/>
            <a:ext cx="2910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whole roster, with divisions, sections and guardians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40080" y="346557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36" y="3570732"/>
            <a:ext cx="173736" cy="173736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152144" y="3410712"/>
            <a:ext cx="2910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Employees</a:t>
            </a:r>
            <a:endParaRPr lang="en-US" sz="1250" dirty="0"/>
          </a:p>
        </p:txBody>
      </p:sp>
      <p:sp>
        <p:nvSpPr>
          <p:cNvPr id="12" name="Text 8"/>
          <p:cNvSpPr txBox="1"/>
          <p:nvPr/>
        </p:nvSpPr>
        <p:spPr>
          <a:xfrm>
            <a:off x="1152144" y="3643884"/>
            <a:ext cx="2910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Staff with department, position and division scope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4383024" y="223113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88180" y="2336292"/>
            <a:ext cx="173736" cy="173736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4895088" y="2176272"/>
            <a:ext cx="2910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Grades</a:t>
            </a:r>
            <a:endParaRPr lang="en-US" sz="1250" dirty="0"/>
          </a:p>
        </p:txBody>
      </p:sp>
      <p:sp>
        <p:nvSpPr>
          <p:cNvPr id="16" name="Text 11"/>
          <p:cNvSpPr txBox="1"/>
          <p:nvPr/>
        </p:nvSpPr>
        <p:spPr>
          <a:xfrm>
            <a:off x="4895088" y="2409444"/>
            <a:ext cx="2910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term's marks, per subject and section</a:t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4383024" y="346557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88180" y="3570732"/>
            <a:ext cx="173736" cy="173736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4895088" y="3410712"/>
            <a:ext cx="2910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Expenses</a:t>
            </a:r>
            <a:endParaRPr lang="en-US" sz="1250" dirty="0"/>
          </a:p>
        </p:txBody>
      </p:sp>
      <p:sp>
        <p:nvSpPr>
          <p:cNvPr id="20" name="Text 14"/>
          <p:cNvSpPr txBox="1"/>
          <p:nvPr/>
        </p:nvSpPr>
        <p:spPr>
          <a:xfrm>
            <a:off x="4895088" y="3643884"/>
            <a:ext cx="2910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school's spending, by category and date</a:t>
            </a:r>
            <a:endParaRPr lang="en-US" sz="1000" dirty="0"/>
          </a:p>
        </p:txBody>
      </p:sp>
      <p:sp>
        <p:nvSpPr>
          <p:cNvPr id="21" name="Shape 15"/>
          <p:cNvSpPr/>
          <p:nvPr/>
        </p:nvSpPr>
        <p:spPr>
          <a:xfrm>
            <a:off x="8125968" y="223113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31124" y="2336292"/>
            <a:ext cx="173736" cy="173736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8638032" y="2176272"/>
            <a:ext cx="2910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Teacher assignments</a:t>
            </a:r>
            <a:endParaRPr lang="en-US" sz="1250" dirty="0"/>
          </a:p>
        </p:txBody>
      </p:sp>
      <p:sp>
        <p:nvSpPr>
          <p:cNvPr id="24" name="Text 17"/>
          <p:cNvSpPr txBox="1"/>
          <p:nvPr/>
        </p:nvSpPr>
        <p:spPr>
          <a:xfrm>
            <a:off x="8638032" y="2409444"/>
            <a:ext cx="2910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teaches what, to whom, this year</a:t>
            </a:r>
            <a:endParaRPr lang="en-US" sz="1000" dirty="0"/>
          </a:p>
        </p:txBody>
      </p:sp>
      <p:sp>
        <p:nvSpPr>
          <p:cNvPr id="25" name="Shape 18"/>
          <p:cNvSpPr/>
          <p:nvPr/>
        </p:nvSpPr>
        <p:spPr>
          <a:xfrm>
            <a:off x="8125968" y="346557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31124" y="3570732"/>
            <a:ext cx="173736" cy="173736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8638032" y="3410712"/>
            <a:ext cx="2910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Blank template</a:t>
            </a:r>
            <a:endParaRPr lang="en-US" sz="1250" dirty="0"/>
          </a:p>
        </p:txBody>
      </p:sp>
      <p:sp>
        <p:nvSpPr>
          <p:cNvPr id="28" name="Text 20"/>
          <p:cNvSpPr txBox="1"/>
          <p:nvPr/>
        </p:nvSpPr>
        <p:spPr>
          <a:xfrm>
            <a:off x="8638032" y="3643884"/>
            <a:ext cx="2910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Download the exact .xlsx shape the import expects</a:t>
            </a:r>
            <a:endParaRPr lang="en-US" sz="1000" dirty="0"/>
          </a:p>
        </p:txBody>
      </p:sp>
      <p:sp>
        <p:nvSpPr>
          <p:cNvPr id="29" name="Shape 21"/>
          <p:cNvSpPr/>
          <p:nvPr/>
        </p:nvSpPr>
        <p:spPr>
          <a:xfrm>
            <a:off x="640080" y="498348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0" name="Shape 22"/>
          <p:cNvSpPr/>
          <p:nvPr/>
        </p:nvSpPr>
        <p:spPr>
          <a:xfrm>
            <a:off x="932688" y="5189220"/>
            <a:ext cx="457200" cy="457200"/>
          </a:xfrm>
          <a:prstGeom prst="ellipse">
            <a:avLst/>
          </a:prstGeom>
          <a:solidFill>
            <a:srgbClr val="E8A33D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31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46988" y="5303520"/>
            <a:ext cx="228600" cy="228600"/>
          </a:xfrm>
          <a:prstGeom prst="rect">
            <a:avLst/>
          </a:prstGeom>
        </p:spPr>
      </p:pic>
      <p:sp>
        <p:nvSpPr>
          <p:cNvPr id="32" name="Text 23"/>
          <p:cNvSpPr txBox="1"/>
          <p:nvPr/>
        </p:nvSpPr>
        <p:spPr>
          <a:xfrm>
            <a:off x="1600200" y="4983480"/>
            <a:ext cx="958291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import shows you what it read before it writes anything, and every export comes back as .xlsx or .csv.</a:t>
            </a:r>
            <a:endParaRPr lang="en-US" sz="15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 hidden in the app - refused by the database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rule below is enforced where the data lives, so it holds even if somebody bypasses the app entirely.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14884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77824" y="236829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2124" y="2482596"/>
            <a:ext cx="228600" cy="2286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77824" y="2935224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school cannot see another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77824" y="3218688"/>
            <a:ext cx="4873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record lives under its own school, and an account carries the school it belongs to. There is no query that crosses the line.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6199632" y="214884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437376" y="236829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51676" y="2482596"/>
            <a:ext cx="228600" cy="2286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6437376" y="2935224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Divisions hold too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6437376" y="3218688"/>
            <a:ext cx="4873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Junior High teacher scoped to their division cannot open a Senior High record - the read is denied, not filtered.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640080" y="448056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77824" y="4700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2124" y="4814316"/>
            <a:ext cx="228600" cy="22860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877824" y="5266944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Sensitive fields are server-owned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877824" y="5550408"/>
            <a:ext cx="4873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balance moves only inside a recorded payment. A role, a status or a student number cannot be changed by an app at all.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6199632" y="448056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6437376" y="4700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51676" y="4814316"/>
            <a:ext cx="228600" cy="22860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6437376" y="5266944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is written down</a:t>
            </a:r>
            <a:endParaRPr lang="en-US" sz="1400" dirty="0"/>
          </a:p>
        </p:txBody>
      </p:sp>
      <p:sp>
        <p:nvSpPr>
          <p:cNvPr id="24" name="Text 18"/>
          <p:cNvSpPr txBox="1"/>
          <p:nvPr/>
        </p:nvSpPr>
        <p:spPr>
          <a:xfrm>
            <a:off x="6437376" y="5550408"/>
            <a:ext cx="4873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create, edit and delete lands in the audit trail with who did it and when, automatically. A decision on a request is signed with the account that made it, so an approval cannot be attributed to somebody else.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PRIVACY ACT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to hand your Data Protection Officer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Schools hold minors' records. The questions a DPO asks are answered inside the app, not in a promise.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23113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5236" y="2336292"/>
            <a:ext cx="173736" cy="17373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152144" y="2176272"/>
            <a:ext cx="2910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privacy notice in the app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1152144" y="2409444"/>
            <a:ext cx="2910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Eight categories of data, what is held, why, and who sees it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40080" y="346557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36" y="3570732"/>
            <a:ext cx="173736" cy="173736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152144" y="3410712"/>
            <a:ext cx="2910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recorded acknowledgement</a:t>
            </a:r>
            <a:endParaRPr lang="en-US" sz="1250" dirty="0"/>
          </a:p>
        </p:txBody>
      </p:sp>
      <p:sp>
        <p:nvSpPr>
          <p:cNvPr id="12" name="Text 8"/>
          <p:cNvSpPr txBox="1"/>
          <p:nvPr/>
        </p:nvSpPr>
        <p:spPr>
          <a:xfrm>
            <a:off x="1152144" y="3643884"/>
            <a:ext cx="2910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account reads it before their first use, and the version they read is stored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4383024" y="223113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88180" y="2336292"/>
            <a:ext cx="173736" cy="173736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4895088" y="2176272"/>
            <a:ext cx="2910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 requests</a:t>
            </a:r>
            <a:endParaRPr lang="en-US" sz="1250" dirty="0"/>
          </a:p>
        </p:txBody>
      </p:sp>
      <p:sp>
        <p:nvSpPr>
          <p:cNvPr id="16" name="Text 11"/>
          <p:cNvSpPr txBox="1"/>
          <p:nvPr/>
        </p:nvSpPr>
        <p:spPr>
          <a:xfrm>
            <a:off x="4895088" y="2409444"/>
            <a:ext cx="2910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family can ask what is held about their child, from their own profile</a:t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4383024" y="346557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88180" y="3570732"/>
            <a:ext cx="173736" cy="173736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4895088" y="3410712"/>
            <a:ext cx="2910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Correction and objection</a:t>
            </a:r>
            <a:endParaRPr lang="en-US" sz="1250" dirty="0"/>
          </a:p>
        </p:txBody>
      </p:sp>
      <p:sp>
        <p:nvSpPr>
          <p:cNvPr id="20" name="Text 14"/>
          <p:cNvSpPr txBox="1"/>
          <p:nvPr/>
        </p:nvSpPr>
        <p:spPr>
          <a:xfrm>
            <a:off x="4895088" y="3643884"/>
            <a:ext cx="2910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other rights the Act names, filed the same way</a:t>
            </a:r>
            <a:endParaRPr lang="en-US" sz="1000" dirty="0"/>
          </a:p>
        </p:txBody>
      </p:sp>
      <p:sp>
        <p:nvSpPr>
          <p:cNvPr id="21" name="Shape 15"/>
          <p:cNvSpPr/>
          <p:nvPr/>
        </p:nvSpPr>
        <p:spPr>
          <a:xfrm>
            <a:off x="8125968" y="223113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31124" y="2336292"/>
            <a:ext cx="173736" cy="173736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8638032" y="2176272"/>
            <a:ext cx="2910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retention schedule</a:t>
            </a:r>
            <a:endParaRPr lang="en-US" sz="1250" dirty="0"/>
          </a:p>
        </p:txBody>
      </p:sp>
      <p:sp>
        <p:nvSpPr>
          <p:cNvPr id="24" name="Text 17"/>
          <p:cNvSpPr txBox="1"/>
          <p:nvPr/>
        </p:nvSpPr>
        <p:spPr>
          <a:xfrm>
            <a:off x="8638032" y="2409444"/>
            <a:ext cx="2910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long each kind of record is kept, written down</a:t>
            </a:r>
            <a:endParaRPr lang="en-US" sz="1000" dirty="0"/>
          </a:p>
        </p:txBody>
      </p:sp>
      <p:sp>
        <p:nvSpPr>
          <p:cNvPr id="25" name="Shape 18"/>
          <p:cNvSpPr/>
          <p:nvPr/>
        </p:nvSpPr>
        <p:spPr>
          <a:xfrm>
            <a:off x="8125968" y="346557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31124" y="3570732"/>
            <a:ext cx="173736" cy="173736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8638032" y="3410712"/>
            <a:ext cx="2910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clock on every request</a:t>
            </a:r>
            <a:endParaRPr lang="en-US" sz="1250" dirty="0"/>
          </a:p>
        </p:txBody>
      </p:sp>
      <p:sp>
        <p:nvSpPr>
          <p:cNvPr id="28" name="Text 20"/>
          <p:cNvSpPr txBox="1"/>
          <p:nvPr/>
        </p:nvSpPr>
        <p:spPr>
          <a:xfrm>
            <a:off x="8638032" y="3643884"/>
            <a:ext cx="2910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one carries a target answer date and shows when it is overdue</a:t>
            </a:r>
            <a:endParaRPr lang="en-US" sz="1000" dirty="0"/>
          </a:p>
        </p:txBody>
      </p:sp>
      <p:sp>
        <p:nvSpPr>
          <p:cNvPr id="29" name="Shape 21"/>
          <p:cNvSpPr/>
          <p:nvPr/>
        </p:nvSpPr>
        <p:spPr>
          <a:xfrm>
            <a:off x="640080" y="498348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0" name="Shape 22"/>
          <p:cNvSpPr/>
          <p:nvPr/>
        </p:nvSpPr>
        <p:spPr>
          <a:xfrm>
            <a:off x="932688" y="5189220"/>
            <a:ext cx="457200" cy="457200"/>
          </a:xfrm>
          <a:prstGeom prst="ellipse">
            <a:avLst/>
          </a:prstGeom>
          <a:solidFill>
            <a:srgbClr val="E8A33D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31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46988" y="5303520"/>
            <a:ext cx="228600" cy="228600"/>
          </a:xfrm>
          <a:prstGeom prst="rect">
            <a:avLst/>
          </a:prstGeom>
        </p:spPr>
      </p:pic>
      <p:sp>
        <p:nvSpPr>
          <p:cNvPr id="32" name="Text 23"/>
          <p:cNvSpPr txBox="1"/>
          <p:nvPr/>
        </p:nvSpPr>
        <p:spPr>
          <a:xfrm>
            <a:off x="1600200" y="4983480"/>
            <a:ext cx="958291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Data Processing Agreement template ships with the system, ready for your DPO to review.</a:t>
            </a:r>
            <a:endParaRPr lang="en-US" sz="15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14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IT RUNS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same app, on whatever the school already has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codebase, three builds. No separate teacher app, no separate parent app.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286000"/>
            <a:ext cx="2569464" cy="2880360"/>
          </a:xfrm>
          <a:prstGeom prst="roundRect">
            <a:avLst>
              <a:gd name="adj" fmla="val 3559"/>
            </a:avLst>
          </a:prstGeom>
          <a:solidFill>
            <a:srgbClr val="1E2761"/>
          </a:solidFill>
          <a:ln w="9525">
            <a:solidFill>
              <a:srgbClr val="3A4783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77824" y="2505456"/>
            <a:ext cx="475488" cy="475488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2124" y="2619756"/>
            <a:ext cx="228600" cy="2286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77824" y="307238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Android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77824" y="3355848"/>
            <a:ext cx="2093976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Installed from an APK the school hands out itself. Camera scanning and push notifications, on the phones staff already carry.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3419856" y="2286000"/>
            <a:ext cx="2569464" cy="2880360"/>
          </a:xfrm>
          <a:prstGeom prst="roundRect">
            <a:avLst>
              <a:gd name="adj" fmla="val 3559"/>
            </a:avLst>
          </a:prstGeom>
          <a:solidFill>
            <a:srgbClr val="1E2761"/>
          </a:solidFill>
          <a:ln w="9525">
            <a:solidFill>
              <a:srgbClr val="3A4783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57600" y="2505456"/>
            <a:ext cx="475488" cy="475488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71900" y="2619756"/>
            <a:ext cx="228600" cy="2286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3657600" y="307238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Windows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3657600" y="3355848"/>
            <a:ext cx="2093976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desktop build for the registrar's and cashier's counter, where the printing and the typing happen.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6199632" y="2286000"/>
            <a:ext cx="2569464" cy="2880360"/>
          </a:xfrm>
          <a:prstGeom prst="roundRect">
            <a:avLst>
              <a:gd name="adj" fmla="val 3559"/>
            </a:avLst>
          </a:prstGeom>
          <a:solidFill>
            <a:srgbClr val="1E2761"/>
          </a:solidFill>
          <a:ln w="9525">
            <a:solidFill>
              <a:srgbClr val="3A4783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6437376" y="2505456"/>
            <a:ext cx="475488" cy="475488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1676" y="2619756"/>
            <a:ext cx="228600" cy="22860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437376" y="307238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6437376" y="3355848"/>
            <a:ext cx="2093976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browser, and installable to the home screen as a PWA - including iPhone, once added to the Home Screen.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8979408" y="2286000"/>
            <a:ext cx="2569464" cy="2880360"/>
          </a:xfrm>
          <a:prstGeom prst="roundRect">
            <a:avLst>
              <a:gd name="adj" fmla="val 3559"/>
            </a:avLst>
          </a:prstGeom>
          <a:solidFill>
            <a:srgbClr val="1E2761"/>
          </a:solidFill>
          <a:ln w="9525">
            <a:solidFill>
              <a:srgbClr val="3A4783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9217152" y="2505456"/>
            <a:ext cx="475488" cy="475488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31452" y="2619756"/>
            <a:ext cx="228600" cy="22860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9217152" y="307238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Notifications</a:t>
            </a:r>
            <a:endParaRPr lang="en-US" sz="1400" dirty="0"/>
          </a:p>
        </p:txBody>
      </p:sp>
      <p:sp>
        <p:nvSpPr>
          <p:cNvPr id="24" name="Text 18"/>
          <p:cNvSpPr txBox="1"/>
          <p:nvPr/>
        </p:nvSpPr>
        <p:spPr>
          <a:xfrm>
            <a:off x="9217152" y="3355848"/>
            <a:ext cx="2093976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announcement reaches the phones of the roles, or the class, it was addressed to, even with the app closed.</a:t>
            </a:r>
            <a:endParaRPr lang="en-US" sz="1100" dirty="0"/>
          </a:p>
        </p:txBody>
      </p:sp>
      <p:sp>
        <p:nvSpPr>
          <p:cNvPr id="25" name="Text 19"/>
          <p:cNvSpPr txBox="1"/>
          <p:nvPr/>
        </p:nvSpPr>
        <p:spPr>
          <a:xfrm>
            <a:off x="640080" y="5486400"/>
            <a:ext cx="10908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codebase means a fix reaches the registrar's desktop and the parent's phone together.</a:t>
            </a:r>
            <a:endParaRPr lang="en-US" sz="15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GOING LIVE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Seven checks that go green before the first school day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because the worst time to find a misconfiguration is on the morning a school starts using the system.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09397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5236" y="2199132"/>
            <a:ext cx="173736" cy="17373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152144" y="203911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 reachable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1152144" y="227228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real read from the school's own records returns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40080" y="2990088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36" y="3095244"/>
            <a:ext cx="173736" cy="173736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152144" y="2935224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rules deployed</a:t>
            </a:r>
            <a:endParaRPr lang="en-US" sz="1250" dirty="0"/>
          </a:p>
        </p:txBody>
      </p:sp>
      <p:sp>
        <p:nvSpPr>
          <p:cNvPr id="12" name="Text 8"/>
          <p:cNvSpPr txBox="1"/>
          <p:nvPr/>
        </p:nvSpPr>
        <p:spPr>
          <a:xfrm>
            <a:off x="1152144" y="3168396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write the rules must refuse IS refused - the check that matters most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" y="3886200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5236" y="3991356"/>
            <a:ext cx="173736" cy="173736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152144" y="3831336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 functions deployed</a:t>
            </a:r>
            <a:endParaRPr lang="en-US" sz="1250" dirty="0"/>
          </a:p>
        </p:txBody>
      </p:sp>
      <p:sp>
        <p:nvSpPr>
          <p:cNvPr id="16" name="Text 11"/>
          <p:cNvSpPr txBox="1"/>
          <p:nvPr/>
        </p:nvSpPr>
        <p:spPr>
          <a:xfrm>
            <a:off x="1152144" y="4064508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callable answers, in the right region</a:t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640080" y="4782312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5236" y="4887468"/>
            <a:ext cx="173736" cy="173736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1152144" y="4727448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 indexes created</a:t>
            </a:r>
            <a:endParaRPr lang="en-US" sz="1250" dirty="0"/>
          </a:p>
        </p:txBody>
      </p:sp>
      <p:sp>
        <p:nvSpPr>
          <p:cNvPr id="20" name="Text 14"/>
          <p:cNvSpPr txBox="1"/>
          <p:nvPr/>
        </p:nvSpPr>
        <p:spPr>
          <a:xfrm>
            <a:off x="1152144" y="4960620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queries the app depends on actually run</a:t>
            </a:r>
            <a:endParaRPr lang="en-US" sz="1000" dirty="0"/>
          </a:p>
        </p:txBody>
      </p:sp>
      <p:sp>
        <p:nvSpPr>
          <p:cNvPr id="21" name="Shape 15"/>
          <p:cNvSpPr/>
          <p:nvPr/>
        </p:nvSpPr>
        <p:spPr>
          <a:xfrm>
            <a:off x="6323076" y="209397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28232" y="2199132"/>
            <a:ext cx="173736" cy="173736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6835140" y="203911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 storage writable</a:t>
            </a:r>
            <a:endParaRPr lang="en-US" sz="1250" dirty="0"/>
          </a:p>
        </p:txBody>
      </p:sp>
      <p:sp>
        <p:nvSpPr>
          <p:cNvPr id="24" name="Text 17"/>
          <p:cNvSpPr txBox="1"/>
          <p:nvPr/>
        </p:nvSpPr>
        <p:spPr>
          <a:xfrm>
            <a:off x="6835140" y="227228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probe file is written and removed again</a:t>
            </a:r>
            <a:endParaRPr lang="en-US" sz="1000" dirty="0"/>
          </a:p>
        </p:txBody>
      </p:sp>
      <p:sp>
        <p:nvSpPr>
          <p:cNvPr id="25" name="Shape 18"/>
          <p:cNvSpPr/>
          <p:nvPr/>
        </p:nvSpPr>
        <p:spPr>
          <a:xfrm>
            <a:off x="6323076" y="2990088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28232" y="3095244"/>
            <a:ext cx="173736" cy="173736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6835140" y="2935224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 claims set</a:t>
            </a:r>
            <a:endParaRPr lang="en-US" sz="1250" dirty="0"/>
          </a:p>
        </p:txBody>
      </p:sp>
      <p:sp>
        <p:nvSpPr>
          <p:cNvPr id="28" name="Text 20"/>
          <p:cNvSpPr txBox="1"/>
          <p:nvPr/>
        </p:nvSpPr>
        <p:spPr>
          <a:xfrm>
            <a:off x="6835140" y="3168396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signed-in account carries its role and its school</a:t>
            </a:r>
            <a:endParaRPr lang="en-US" sz="1000" dirty="0"/>
          </a:p>
        </p:txBody>
      </p:sp>
      <p:sp>
        <p:nvSpPr>
          <p:cNvPr id="29" name="Shape 21"/>
          <p:cNvSpPr/>
          <p:nvPr/>
        </p:nvSpPr>
        <p:spPr>
          <a:xfrm>
            <a:off x="6323076" y="3886200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30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28232" y="3991356"/>
            <a:ext cx="173736" cy="173736"/>
          </a:xfrm>
          <a:prstGeom prst="rect">
            <a:avLst/>
          </a:prstGeom>
        </p:spPr>
      </p:pic>
      <p:sp>
        <p:nvSpPr>
          <p:cNvPr id="31" name="Text 22"/>
          <p:cNvSpPr txBox="1"/>
          <p:nvPr/>
        </p:nvSpPr>
        <p:spPr>
          <a:xfrm>
            <a:off x="6835140" y="3831336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School details filled in</a:t>
            </a:r>
            <a:endParaRPr lang="en-US" sz="1250" dirty="0"/>
          </a:p>
        </p:txBody>
      </p:sp>
      <p:sp>
        <p:nvSpPr>
          <p:cNvPr id="32" name="Text 23"/>
          <p:cNvSpPr txBox="1"/>
          <p:nvPr/>
        </p:nvSpPr>
        <p:spPr>
          <a:xfrm>
            <a:off x="6835140" y="4064508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Name, logo, year, principal and DPO - a warning, not a failure</a:t>
            </a:r>
            <a:endParaRPr lang="en-US" sz="1000" dirty="0"/>
          </a:p>
        </p:txBody>
      </p:sp>
      <p:sp>
        <p:nvSpPr>
          <p:cNvPr id="33" name="Shape 24"/>
          <p:cNvSpPr/>
          <p:nvPr/>
        </p:nvSpPr>
        <p:spPr>
          <a:xfrm>
            <a:off x="640080" y="5623560"/>
            <a:ext cx="10908792" cy="777240"/>
          </a:xfrm>
          <a:prstGeom prst="roundRect">
            <a:avLst>
              <a:gd name="adj" fmla="val 11765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4" name="Shape 25"/>
          <p:cNvSpPr/>
          <p:nvPr/>
        </p:nvSpPr>
        <p:spPr>
          <a:xfrm>
            <a:off x="932688" y="5783580"/>
            <a:ext cx="457200" cy="457200"/>
          </a:xfrm>
          <a:prstGeom prst="ellipse">
            <a:avLst/>
          </a:prstGeom>
          <a:solidFill>
            <a:srgbClr val="E8A33D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35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46988" y="5897880"/>
            <a:ext cx="228600" cy="228600"/>
          </a:xfrm>
          <a:prstGeom prst="rect">
            <a:avLst/>
          </a:prstGeom>
        </p:spPr>
      </p:pic>
      <p:sp>
        <p:nvSpPr>
          <p:cNvPr id="36" name="Text 26"/>
          <p:cNvSpPr txBox="1"/>
          <p:nvPr/>
        </p:nvSpPr>
        <p:spPr>
          <a:xfrm>
            <a:off x="1600200" y="5623560"/>
            <a:ext cx="958291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database left in test mode behaves perfectly - right up to the day one school reads another's records. This is the check that catches it.</a:t>
            </a:r>
            <a:endParaRPr lang="en-US" sz="15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14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011680" y="3108960"/>
            <a:ext cx="6035040" cy="603504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0" y="1965960"/>
            <a:ext cx="69494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See it with your own school's data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4572000" y="3429000"/>
            <a:ext cx="6766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300"/>
              </a:lnSpc>
              <a:buNone/>
            </a:pPr>
            <a:r>
              <a:rPr lang="en-US" sz="14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Bring one section's roster, one term of grades and last month's collections. We load them in front of you, and you click through the portals your own staff would use.</a:t>
            </a:r>
            <a:endParaRPr lang="en-US" sz="1450" dirty="0"/>
          </a:p>
        </p:txBody>
      </p:sp>
      <p:sp>
        <p:nvSpPr>
          <p:cNvPr id="5" name="Text 3"/>
          <p:cNvSpPr txBox="1"/>
          <p:nvPr/>
        </p:nvSpPr>
        <p:spPr>
          <a:xfrm>
            <a:off x="4572000" y="4617720"/>
            <a:ext cx="6766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 try it before you believe any of it: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4572000" y="4937760"/>
            <a:ext cx="6766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logicclass.vercel.app</a:t>
            </a:r>
            <a:endParaRPr lang="en-US" sz="2600" dirty="0"/>
          </a:p>
        </p:txBody>
      </p:sp>
      <p:sp>
        <p:nvSpPr>
          <p:cNvPr id="7" name="Text 5"/>
          <p:cNvSpPr txBox="1"/>
          <p:nvPr/>
        </p:nvSpPr>
        <p:spPr>
          <a:xfrm>
            <a:off x="4572000" y="5440680"/>
            <a:ext cx="6766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8895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Twelve accounts, one per role. Nothing to install, and nothing you type into it is kept.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38</Slides>
  <Notes>38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38</vt:i4>
      </vt:variant>
    </vt:vector>
  </HeadingPairs>
  <TitlesOfParts>
    <vt:vector size="4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LogicClass - School Management System</dc:title>
  <dc:subject>PptxGenJS Presentation</dc:subject>
  <dc:creator>LogicClass</dc:creator>
  <cp:lastModifiedBy>LogicClass</cp:lastModifiedBy>
  <cp:revision>1</cp:revision>
  <dcterms:created xsi:type="dcterms:W3CDTF">2026-09-08T16:21:16Z</dcterms:created>
  <dcterms:modified xsi:type="dcterms:W3CDTF">2026-09-08T16:21:16Z</dcterms:modified>
</cp:coreProperties>
</file>